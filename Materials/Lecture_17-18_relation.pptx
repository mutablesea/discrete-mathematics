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3" r:id="rId1"/>
  </p:sldMasterIdLst>
  <p:notesMasterIdLst>
    <p:notesMasterId r:id="rId58"/>
  </p:notesMasterIdLst>
  <p:sldIdLst>
    <p:sldId id="272" r:id="rId2"/>
    <p:sldId id="404" r:id="rId3"/>
    <p:sldId id="405" r:id="rId4"/>
    <p:sldId id="406" r:id="rId5"/>
    <p:sldId id="407" r:id="rId6"/>
    <p:sldId id="408" r:id="rId7"/>
    <p:sldId id="409" r:id="rId8"/>
    <p:sldId id="417" r:id="rId9"/>
    <p:sldId id="418" r:id="rId10"/>
    <p:sldId id="420" r:id="rId11"/>
    <p:sldId id="421" r:id="rId12"/>
    <p:sldId id="427" r:id="rId13"/>
    <p:sldId id="428" r:id="rId14"/>
    <p:sldId id="429" r:id="rId15"/>
    <p:sldId id="430" r:id="rId16"/>
    <p:sldId id="437" r:id="rId17"/>
    <p:sldId id="438" r:id="rId18"/>
    <p:sldId id="439" r:id="rId19"/>
    <p:sldId id="440" r:id="rId20"/>
    <p:sldId id="360" r:id="rId21"/>
    <p:sldId id="361" r:id="rId22"/>
    <p:sldId id="362" r:id="rId23"/>
    <p:sldId id="363" r:id="rId24"/>
    <p:sldId id="364" r:id="rId25"/>
    <p:sldId id="365" r:id="rId26"/>
    <p:sldId id="377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5" r:id="rId35"/>
    <p:sldId id="376" r:id="rId36"/>
    <p:sldId id="374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90" r:id="rId47"/>
    <p:sldId id="387" r:id="rId48"/>
    <p:sldId id="388" r:id="rId49"/>
    <p:sldId id="389" r:id="rId50"/>
    <p:sldId id="392" r:id="rId51"/>
    <p:sldId id="393" r:id="rId52"/>
    <p:sldId id="394" r:id="rId53"/>
    <p:sldId id="395" r:id="rId54"/>
    <p:sldId id="396" r:id="rId55"/>
    <p:sldId id="397" r:id="rId56"/>
    <p:sldId id="314" r:id="rId5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1EA89"/>
    <a:srgbClr val="018952"/>
    <a:srgbClr val="7B5EC2"/>
    <a:srgbClr val="2FA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11" autoAdjust="0"/>
  </p:normalViewPr>
  <p:slideViewPr>
    <p:cSldViewPr>
      <p:cViewPr>
        <p:scale>
          <a:sx n="60" d="100"/>
          <a:sy n="60" d="100"/>
        </p:scale>
        <p:origin x="-1656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95091BD-9A53-516B-ABCD-16A9AACDF6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A99A773-9D3B-8196-6165-5551B07B3C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564B2301-0A76-1FF8-3361-2BA5CE2E189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7EECA480-670B-E83E-6D91-2260A9FFAC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7A26A625-D511-BB06-806C-58349BAA24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B232988F-BF30-9B38-F3A9-B26B3A3BC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E8FF81E-96BE-4B66-8A47-B599AC001B8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0924818-6357-DF30-41C6-89ECFF6C47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36125F-18A0-4D84-BBB1-FD0329A58EC5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E816641-CB57-FE2D-C685-FE9CC8ABA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72AE438-A8EF-EAAF-45FB-F3B08F745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8E16EA52-2D8F-FEEB-B169-C9ACE61773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D74C72ED-02CE-79B8-434C-CA475D765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3EB8AFA5-D50C-0208-FCC6-F92433DA9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4D836C-B1DD-432A-A3D6-46CC390B4AA8}" type="slidenum">
              <a:rPr lang="en-US" altLang="en-US" sz="130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CB5056EA-8A0D-0695-B6D2-B54F04B876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80E84820-103A-7E8A-793F-114FD5855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5AC2E2CF-FF5B-EC6A-4A82-FD82A3298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34FF21-D563-4258-85C8-2FE3A0D82C25}" type="slidenum">
              <a:rPr lang="en-US" altLang="en-US" sz="130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713A7733-37D4-A781-25F4-96FB25F65C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5D2383C6-4E3A-491B-79B2-74E2ED8A2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B73CEEDC-D0F0-598C-04BE-AFD109DEF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CD399C-8C08-4DB4-BE22-F5AED43626D2}" type="slidenum">
              <a:rPr lang="en-US" altLang="en-US" sz="130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12C7FC46-6D43-CD96-16FF-AF53D7ECCC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20FE5FC2-D292-9FA9-1F46-F35542848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861D2C57-6A65-5C4F-9088-0E6FCE21B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7588837-B26B-4D8C-9E0E-E5156F3E3910}" type="slidenum">
              <a:rPr lang="en-US" altLang="en-US" sz="130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20D3769C-D987-58CE-DED8-F51D0E3531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CD2B569F-884D-B95A-3D3B-AE3024FDB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F4DE257E-B483-ED74-68F5-C95593DD1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23F73E-C818-4CF3-84FC-6CA1B914936A}" type="slidenum">
              <a:rPr lang="en-US" altLang="en-US" sz="130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9E31A56A-BB29-57AE-984F-78EE64CBD5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8984213-B851-0A9A-21A6-AE81388B7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CA4E1E53-0FF4-1E05-5E76-1D4AFB57E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CCD7E7-B314-47B3-9472-2CCF590C12D2}" type="slidenum">
              <a:rPr lang="en-US" altLang="en-US" sz="130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5D4FD2FB-8E0E-2740-9EDC-1D06D001FE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FDE15872-EDB2-8186-4CE3-EDE4E269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85CF0EA6-A08B-8F41-465F-2AE165B02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4AF9A81-33D2-4034-9AC0-E992AE0AFA2E}" type="slidenum">
              <a:rPr lang="en-US" altLang="en-US" sz="130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8B8CCDE6-65BB-DB3F-746F-5E9161C78F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98F3665A-37D4-E8C8-A77E-40984E5FF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F6CFB689-D91C-1B9B-CF7B-60045AA95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7C73AF-7A87-49F2-B905-0B2627E63371}" type="slidenum">
              <a:rPr lang="en-US" altLang="en-US" sz="130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7D2EAAC6-C303-6855-CA52-00729C78E3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23320692-6FC3-5256-B19D-1A43CAB6F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573D8E95-B4B6-8A1A-2D69-61AD4C82B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828BE41-B7DA-4ACC-8526-F70541F1B886}" type="slidenum">
              <a:rPr lang="en-US" altLang="en-US" sz="130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4C25F505-9ACC-7B2A-65D9-07CA16D373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70A6E53A-C477-73A7-7D9A-2C7032CF8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041377A1-6EBE-79E5-B40C-F1985763D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910C84-3510-4E81-8C90-EEC577870A00}" type="slidenum">
              <a:rPr lang="en-US" altLang="en-US" sz="130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48AE6563-456A-637D-2F56-BC7F7A160E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DA8AF35F-81B3-D11B-FE5D-19CD136FD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9C5F62D5-6CA4-6EA3-1824-2C57D8B67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FECE4E-1ED4-47E1-A4B6-167D146481BF}" type="slidenum">
              <a:rPr lang="en-US" altLang="en-US" sz="130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A86274AA-17CC-D825-FCCE-37FC43CFB3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CEC29649-27AA-A0C3-E70E-7C8F85C60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D3381F8A-1AB5-EEE9-C352-549BED9B5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282D4-7F65-497D-AE36-1D140D83D35E}" type="slidenum">
              <a:rPr lang="en-US" altLang="en-US" sz="130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D8D622DE-7D0C-2A52-9DD0-DF4893E7B3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00550100-876F-905B-76A8-43E5DBB63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F2CC64B0-5BFB-3CB3-ED54-880FA2B68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F23A0A-4D40-4743-9549-9ABE72A4B2D2}" type="slidenum">
              <a:rPr lang="en-US" altLang="en-US" sz="130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32BA5B1B-D49F-A10C-471F-57B72B7373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B22725BD-59AA-4CB5-E666-8E9382AEB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09B61E16-C3C9-63BB-EC11-533628C31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B34CD7-2099-47C6-9904-28B15A93DBED}" type="slidenum">
              <a:rPr lang="en-US" altLang="en-US" sz="130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914A7893-CDA9-9C9D-9601-58CDCA5AF0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67B11DFD-04AF-C6CB-15A2-3E7BE58CA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87736153-CDE8-F116-0ECE-D13DC3B78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BBFC6E-880C-481F-8640-C785BA6DC0AA}" type="slidenum">
              <a:rPr lang="en-US" altLang="en-US" sz="130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4893DD-4B53-89A4-5FD4-47436B9B9837}"/>
              </a:ext>
            </a:extLst>
          </p:cNvPr>
          <p:cNvSpPr/>
          <p:nvPr userDrawn="1"/>
        </p:nvSpPr>
        <p:spPr>
          <a:xfrm>
            <a:off x="0" y="1325563"/>
            <a:ext cx="9144000" cy="46037"/>
          </a:xfrm>
          <a:prstGeom prst="rect">
            <a:avLst/>
          </a:prstGeom>
          <a:solidFill>
            <a:srgbClr val="018952"/>
          </a:solidFill>
          <a:ln>
            <a:solidFill>
              <a:srgbClr val="0189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B4F67-FEA4-4A2A-C072-7B54727C8F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10600" y="6400800"/>
            <a:ext cx="533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E0F1C6-5287-4CE7-BD46-9181604290E5}" type="slidenum">
              <a:rPr lang="en-US" altLang="en-US" sz="1400">
                <a:solidFill>
                  <a:srgbClr val="FF0000"/>
                </a:solidFill>
              </a:rPr>
              <a:pPr/>
              <a:t>‹#›</a:t>
            </a:fld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F0000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FF0000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FF0000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FF0000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FF0000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739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C3B35F3-D201-5041-F89E-8D49CF0D4D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875B141-6241-52ED-DF20-AAC75BFEF5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26262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MS PGothic" pitchFamily="34" charset="-128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MS PGothic" pitchFamily="34" charset="-128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MS PGothic" pitchFamily="34" charset="-128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MS PGothic" pitchFamily="34" charset="-128"/>
          <a:cs typeface="Arial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593725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2pPr>
      <a:lvl3pPr marL="8683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MS PGothic" pitchFamily="34" charset="-128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1.bin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2.bin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3.bin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4.bin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wmf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wmf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wmf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wmf" /><Relationship Id="rId5" Type="http://schemas.openxmlformats.org/officeDocument/2006/relationships/oleObject" Target="../embeddings/oleObject9.bin" /><Relationship Id="rId4" Type="http://schemas.openxmlformats.org/officeDocument/2006/relationships/image" Target="../media/image5.wmf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wmf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wmf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wmf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wmf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wmf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wmf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oleObject" Target="../embeddings/oleObject16.bin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 /><Relationship Id="rId2" Type="http://schemas.openxmlformats.org/officeDocument/2006/relationships/oleObject" Target="../embeddings/oleObject17.bin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 /><Relationship Id="rId2" Type="http://schemas.openxmlformats.org/officeDocument/2006/relationships/oleObject" Target="../embeddings/oleObject18.bin" /><Relationship Id="rId1" Type="http://schemas.openxmlformats.org/officeDocument/2006/relationships/slideLayout" Target="../slideLayouts/slideLayout1.xml" /><Relationship Id="rId6" Type="http://schemas.openxmlformats.org/officeDocument/2006/relationships/oleObject" Target="../embeddings/oleObject20.bin" /><Relationship Id="rId5" Type="http://schemas.openxmlformats.org/officeDocument/2006/relationships/image" Target="../media/image11.wmf" /><Relationship Id="rId4" Type="http://schemas.openxmlformats.org/officeDocument/2006/relationships/oleObject" Target="../embeddings/oleObject19.bin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 /><Relationship Id="rId2" Type="http://schemas.openxmlformats.org/officeDocument/2006/relationships/oleObject" Target="../embeddings/oleObject21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wmf" /><Relationship Id="rId4" Type="http://schemas.openxmlformats.org/officeDocument/2006/relationships/oleObject" Target="../embeddings/oleObject22.bin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 /><Relationship Id="rId2" Type="http://schemas.openxmlformats.org/officeDocument/2006/relationships/oleObject" Target="../embeddings/oleObject23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wmf" /><Relationship Id="rId4" Type="http://schemas.openxmlformats.org/officeDocument/2006/relationships/oleObject" Target="../embeddings/oleObject24.bin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 /><Relationship Id="rId2" Type="http://schemas.openxmlformats.org/officeDocument/2006/relationships/oleObject" Target="../embeddings/oleObject25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wmf" /><Relationship Id="rId4" Type="http://schemas.openxmlformats.org/officeDocument/2006/relationships/oleObject" Target="../embeddings/oleObject26.bin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 /><Relationship Id="rId2" Type="http://schemas.openxmlformats.org/officeDocument/2006/relationships/oleObject" Target="../embeddings/oleObject27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wmf" /><Relationship Id="rId4" Type="http://schemas.openxmlformats.org/officeDocument/2006/relationships/oleObject" Target="../embeddings/oleObject28.bin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 /><Relationship Id="rId2" Type="http://schemas.openxmlformats.org/officeDocument/2006/relationships/oleObject" Target="../embeddings/oleObject29.bin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wmf" /><Relationship Id="rId4" Type="http://schemas.openxmlformats.org/officeDocument/2006/relationships/oleObject" Target="../embeddings/oleObject30.bin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1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1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2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3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4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5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 /><Relationship Id="rId2" Type="http://schemas.openxmlformats.org/officeDocument/2006/relationships/oleObject" Target="../embeddings/oleObject36.bin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BAEDE23-CFC9-D97D-E81D-52D4759E0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</a:t>
            </a:r>
            <a:endParaRPr lang="en-US" altLang="en-US" b="1"/>
          </a:p>
        </p:txBody>
      </p:sp>
      <p:sp>
        <p:nvSpPr>
          <p:cNvPr id="3075" name="Text Box 7">
            <a:extLst>
              <a:ext uri="{FF2B5EF4-FFF2-40B4-BE49-F238E27FC236}">
                <a16:creationId xmlns:a16="http://schemas.microsoft.com/office/drawing/2014/main" id="{AB1863E4-5E1C-0E29-D2D8-8E55B7B92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114800"/>
            <a:ext cx="5410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3200" i="1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ctr"/>
            <a:r>
              <a:rPr lang="en-US" altLang="en-US">
                <a:solidFill>
                  <a:srgbClr val="FF0000"/>
                </a:solidFill>
                <a:latin typeface="Helvetica" panose="020B0604020202020204" pitchFamily="34" charset="0"/>
              </a:rPr>
              <a:t>Lecture 17-18</a:t>
            </a:r>
            <a:endParaRPr lang="en-US" altLang="en-US" sz="1400" b="1">
              <a:solidFill>
                <a:srgbClr val="FF0000"/>
              </a:solidFill>
            </a:endParaRPr>
          </a:p>
          <a:p>
            <a:endParaRPr lang="en-US" altLang="en-US" sz="1800" b="1" i="1">
              <a:solidFill>
                <a:schemeClr val="tx2"/>
              </a:solidFill>
            </a:endParaRPr>
          </a:p>
          <a:p>
            <a:endParaRPr lang="en-US" altLang="en-US" sz="1400"/>
          </a:p>
          <a:p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61C7D8A-CCE3-7497-F90A-4C2BAB6E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Cartesian product (review)</a:t>
            </a:r>
            <a:endParaRPr lang="en-US" altLang="en-US"/>
          </a:p>
        </p:txBody>
      </p:sp>
      <p:sp>
        <p:nvSpPr>
          <p:cNvPr id="4099" name="TextBox 3">
            <a:extLst>
              <a:ext uri="{FF2B5EF4-FFF2-40B4-BE49-F238E27FC236}">
                <a16:creationId xmlns:a16="http://schemas.microsoft.com/office/drawing/2014/main" id="{29A38805-EBA8-E245-5E94-2C0220D19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83058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Let </a:t>
            </a:r>
          </a:p>
          <a:p>
            <a:r>
              <a:rPr lang="en-US" altLang="en-US"/>
              <a:t>A={a</a:t>
            </a:r>
            <a:r>
              <a:rPr lang="en-US" altLang="en-US" baseline="-25000"/>
              <a:t>1</a:t>
            </a:r>
            <a:r>
              <a:rPr lang="en-US" altLang="en-US"/>
              <a:t>, a</a:t>
            </a:r>
            <a:r>
              <a:rPr lang="en-US" altLang="en-US" baseline="-25000"/>
              <a:t>2</a:t>
            </a:r>
            <a:r>
              <a:rPr lang="en-US" altLang="en-US"/>
              <a:t>, ..a</a:t>
            </a:r>
            <a:r>
              <a:rPr lang="en-US" altLang="en-US" baseline="-25000"/>
              <a:t>k</a:t>
            </a:r>
            <a:r>
              <a:rPr lang="en-US" altLang="en-US"/>
              <a:t>} and </a:t>
            </a:r>
          </a:p>
          <a:p>
            <a:r>
              <a:rPr lang="en-US" altLang="en-US"/>
              <a:t>B={b</a:t>
            </a:r>
            <a:r>
              <a:rPr lang="en-US" altLang="en-US" baseline="-25000"/>
              <a:t>1</a:t>
            </a:r>
            <a:r>
              <a:rPr lang="en-US" altLang="en-US"/>
              <a:t>,b</a:t>
            </a:r>
            <a:r>
              <a:rPr lang="en-US" altLang="en-US" baseline="-25000"/>
              <a:t>2</a:t>
            </a:r>
            <a:r>
              <a:rPr lang="en-US" altLang="en-US"/>
              <a:t>,..b</a:t>
            </a:r>
            <a:r>
              <a:rPr lang="en-US" altLang="en-US" baseline="-25000"/>
              <a:t>m</a:t>
            </a:r>
            <a:r>
              <a:rPr lang="en-US" altLang="en-US"/>
              <a:t>}.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The Cartesian product </a:t>
            </a:r>
            <a:r>
              <a:rPr lang="en-US" altLang="en-US"/>
              <a:t>A x B is defined by a set of </a:t>
            </a:r>
            <a:r>
              <a:rPr lang="en-US" altLang="en-US">
                <a:solidFill>
                  <a:srgbClr val="FF0000"/>
                </a:solidFill>
              </a:rPr>
              <a:t>ordered</a:t>
            </a:r>
            <a:r>
              <a:rPr lang="en-US" altLang="en-US"/>
              <a:t> pairs</a:t>
            </a:r>
          </a:p>
          <a:p>
            <a:r>
              <a:rPr lang="pt-BR" altLang="en-US"/>
              <a:t>{(a</a:t>
            </a:r>
            <a:r>
              <a:rPr lang="pt-BR" altLang="en-US" baseline="-25000"/>
              <a:t>1</a:t>
            </a:r>
            <a:r>
              <a:rPr lang="pt-BR" altLang="en-US"/>
              <a:t> , b</a:t>
            </a:r>
            <a:r>
              <a:rPr lang="pt-BR" altLang="en-US" baseline="-25000"/>
              <a:t>1</a:t>
            </a:r>
            <a:r>
              <a:rPr lang="pt-BR" altLang="en-US"/>
              <a:t>), (a</a:t>
            </a:r>
            <a:r>
              <a:rPr lang="pt-BR" altLang="en-US" baseline="-25000"/>
              <a:t>1</a:t>
            </a:r>
            <a:r>
              <a:rPr lang="pt-BR" altLang="en-US"/>
              <a:t>, b</a:t>
            </a:r>
            <a:r>
              <a:rPr lang="pt-BR" altLang="en-US" baseline="-25000"/>
              <a:t>2</a:t>
            </a:r>
            <a:r>
              <a:rPr lang="pt-BR" altLang="en-US"/>
              <a:t>), … (a</a:t>
            </a:r>
            <a:r>
              <a:rPr lang="pt-BR" altLang="en-US" baseline="-25000"/>
              <a:t>1</a:t>
            </a:r>
            <a:r>
              <a:rPr lang="pt-BR" altLang="en-US"/>
              <a:t>, b</a:t>
            </a:r>
            <a:r>
              <a:rPr lang="pt-BR" altLang="en-US" baseline="-25000"/>
              <a:t>m</a:t>
            </a:r>
            <a:r>
              <a:rPr lang="pt-BR" altLang="en-US"/>
              <a:t>), …, (a</a:t>
            </a:r>
            <a:r>
              <a:rPr lang="pt-BR" altLang="en-US" baseline="-25000"/>
              <a:t>k</a:t>
            </a:r>
            <a:r>
              <a:rPr lang="pt-BR" altLang="en-US"/>
              <a:t>,b</a:t>
            </a:r>
            <a:r>
              <a:rPr lang="pt-BR" altLang="en-US" baseline="-25000"/>
              <a:t>m</a:t>
            </a:r>
            <a:r>
              <a:rPr lang="pt-BR" altLang="en-US"/>
              <a:t>)}.</a:t>
            </a:r>
          </a:p>
          <a:p>
            <a:endParaRPr lang="pt-BR" altLang="en-US"/>
          </a:p>
          <a:p>
            <a:r>
              <a:rPr lang="en-US" altLang="en-US">
                <a:solidFill>
                  <a:srgbClr val="FF0000"/>
                </a:solidFill>
              </a:rPr>
              <a:t>Cartesian product </a:t>
            </a:r>
            <a:r>
              <a:rPr lang="en-US" altLang="en-US"/>
              <a:t>defines a product set, or a set of all </a:t>
            </a:r>
            <a:r>
              <a:rPr lang="en-US" altLang="en-US">
                <a:solidFill>
                  <a:srgbClr val="FF0000"/>
                </a:solidFill>
              </a:rPr>
              <a:t>ordered arrangements </a:t>
            </a:r>
            <a:r>
              <a:rPr lang="en-US" altLang="en-US"/>
              <a:t>of elements in sets in the Cartesian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01E4791-3CA0-DCC2-402C-490AAAD6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Binary relation</a:t>
            </a:r>
          </a:p>
        </p:txBody>
      </p:sp>
      <p:sp>
        <p:nvSpPr>
          <p:cNvPr id="5123" name="TextBox 3">
            <a:extLst>
              <a:ext uri="{FF2B5EF4-FFF2-40B4-BE49-F238E27FC236}">
                <a16:creationId xmlns:a16="http://schemas.microsoft.com/office/drawing/2014/main" id="{22637555-189E-4A9B-CBF6-1966843F2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305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Definition: Let A and B be two sets. A </a:t>
            </a:r>
            <a:r>
              <a:rPr lang="en-US" altLang="en-US" b="1">
                <a:solidFill>
                  <a:srgbClr val="FF0000"/>
                </a:solidFill>
              </a:rPr>
              <a:t>binary relation </a:t>
            </a:r>
            <a:r>
              <a:rPr lang="en-US" altLang="en-US" b="1"/>
              <a:t>from A to B is </a:t>
            </a:r>
            <a:r>
              <a:rPr lang="en-US" altLang="en-US" b="1">
                <a:solidFill>
                  <a:srgbClr val="FF0000"/>
                </a:solidFill>
              </a:rPr>
              <a:t>a subset </a:t>
            </a:r>
            <a:r>
              <a:rPr lang="en-US" altLang="en-US" b="1"/>
              <a:t>of a Cartesian product </a:t>
            </a:r>
            <a:r>
              <a:rPr lang="en-US" altLang="en-US" b="1">
                <a:solidFill>
                  <a:srgbClr val="FF0000"/>
                </a:solidFill>
              </a:rPr>
              <a:t>A x B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/>
              <a:t>• Let                       means R is a set of ordered pairs of the form </a:t>
            </a:r>
            <a:r>
              <a:rPr lang="en-US" altLang="en-US">
                <a:solidFill>
                  <a:srgbClr val="FF0000"/>
                </a:solidFill>
              </a:rPr>
              <a:t>(a,b) where a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A and b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B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• We use the notation </a:t>
            </a:r>
            <a:r>
              <a:rPr lang="en-US" altLang="en-US" b="1"/>
              <a:t>a R b to denote (a,b) </a:t>
            </a:r>
            <a:r>
              <a:rPr lang="el-GR" altLang="en-US"/>
              <a:t>ϵ</a:t>
            </a:r>
            <a:r>
              <a:rPr lang="en-US" altLang="en-US" b="1"/>
              <a:t> R and a R b to denote (a,b) </a:t>
            </a:r>
            <a:r>
              <a:rPr lang="el-GR" altLang="en-US"/>
              <a:t>ϵ</a:t>
            </a:r>
            <a:r>
              <a:rPr lang="en-US" altLang="en-US" b="1"/>
              <a:t> R. If </a:t>
            </a:r>
            <a:r>
              <a:rPr lang="en-US" altLang="en-US" b="1">
                <a:solidFill>
                  <a:srgbClr val="FF0000"/>
                </a:solidFill>
              </a:rPr>
              <a:t>a R b</a:t>
            </a:r>
            <a:r>
              <a:rPr lang="en-US" altLang="en-US" b="1"/>
              <a:t>, we say a is related to b by R.</a:t>
            </a:r>
          </a:p>
          <a:p>
            <a:endParaRPr lang="en-US" altLang="en-US" b="1"/>
          </a:p>
          <a:p>
            <a:r>
              <a:rPr lang="en-US" altLang="en-US"/>
              <a:t>Example: Let A={a,b,c} and B={1,2,3}.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R={(a,1),(b,2),(c,2)} a relation from A to B? </a:t>
            </a:r>
          </a:p>
          <a:p>
            <a:endParaRPr lang="en-US" altLang="en-US"/>
          </a:p>
        </p:txBody>
      </p:sp>
      <p:graphicFrame>
        <p:nvGraphicFramePr>
          <p:cNvPr id="5124" name="Object 2">
            <a:extLst>
              <a:ext uri="{FF2B5EF4-FFF2-40B4-BE49-F238E27FC236}">
                <a16:creationId xmlns:a16="http://schemas.microsoft.com/office/drawing/2014/main" id="{D124534E-6383-1704-B48F-A2CAA5B646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514600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190500" progId="Equation.3">
                  <p:embed/>
                </p:oleObj>
              </mc:Choice>
              <mc:Fallback>
                <p:oleObj name="Equation" r:id="rId2" imgW="647700" imgH="190500" progId="Equation.3">
                  <p:embed/>
                  <p:pic>
                    <p:nvPicPr>
                      <p:cNvPr id="5124" name="Object 2">
                        <a:extLst>
                          <a:ext uri="{FF2B5EF4-FFF2-40B4-BE49-F238E27FC236}">
                            <a16:creationId xmlns:a16="http://schemas.microsoft.com/office/drawing/2014/main" id="{D124534E-6383-1704-B48F-A2CAA5B646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3FFAF61-55AE-1EFC-875B-6EEE47A1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Binary relation</a:t>
            </a:r>
            <a:endParaRPr lang="en-US" altLang="en-US"/>
          </a:p>
        </p:txBody>
      </p:sp>
      <p:sp>
        <p:nvSpPr>
          <p:cNvPr id="6147" name="TextBox 3">
            <a:extLst>
              <a:ext uri="{FF2B5EF4-FFF2-40B4-BE49-F238E27FC236}">
                <a16:creationId xmlns:a16="http://schemas.microsoft.com/office/drawing/2014/main" id="{A827351D-0EFC-02AD-0276-D71BA26DE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305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Definition: Let A and B be two sets. A </a:t>
            </a:r>
            <a:r>
              <a:rPr lang="en-US" altLang="en-US" b="1">
                <a:solidFill>
                  <a:srgbClr val="FF0000"/>
                </a:solidFill>
              </a:rPr>
              <a:t>binary relation </a:t>
            </a:r>
            <a:r>
              <a:rPr lang="en-US" altLang="en-US" b="1"/>
              <a:t>from A to B is </a:t>
            </a:r>
            <a:r>
              <a:rPr lang="en-US" altLang="en-US" b="1">
                <a:solidFill>
                  <a:srgbClr val="FF0000"/>
                </a:solidFill>
              </a:rPr>
              <a:t>a subset </a:t>
            </a:r>
            <a:r>
              <a:rPr lang="en-US" altLang="en-US" b="1"/>
              <a:t>of a Cartesian product </a:t>
            </a:r>
            <a:r>
              <a:rPr lang="en-US" altLang="en-US" b="1">
                <a:solidFill>
                  <a:srgbClr val="FF0000"/>
                </a:solidFill>
              </a:rPr>
              <a:t>A x B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/>
              <a:t>• Let                       means R is a set of ordered pairs of the form </a:t>
            </a:r>
            <a:r>
              <a:rPr lang="en-US" altLang="en-US">
                <a:solidFill>
                  <a:srgbClr val="FF0000"/>
                </a:solidFill>
              </a:rPr>
              <a:t>(a,b) where a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A and b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B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• We use the notation </a:t>
            </a:r>
            <a:r>
              <a:rPr lang="en-US" altLang="en-US" b="1"/>
              <a:t>a R b to denote (a,b) </a:t>
            </a:r>
            <a:r>
              <a:rPr lang="el-GR" altLang="en-US"/>
              <a:t>ϵ</a:t>
            </a:r>
            <a:r>
              <a:rPr lang="en-US" altLang="en-US" b="1"/>
              <a:t> R and a R b to denote (a,b) </a:t>
            </a:r>
            <a:r>
              <a:rPr lang="el-GR" altLang="en-US"/>
              <a:t>ϵ</a:t>
            </a:r>
            <a:r>
              <a:rPr lang="en-US" altLang="en-US" b="1"/>
              <a:t> R. If </a:t>
            </a:r>
            <a:r>
              <a:rPr lang="en-US" altLang="en-US" b="1">
                <a:solidFill>
                  <a:srgbClr val="FF0000"/>
                </a:solidFill>
              </a:rPr>
              <a:t>a R b</a:t>
            </a:r>
            <a:r>
              <a:rPr lang="en-US" altLang="en-US" b="1"/>
              <a:t>, we say a is related to b by R.</a:t>
            </a:r>
          </a:p>
          <a:p>
            <a:endParaRPr lang="en-US" altLang="en-US" b="1"/>
          </a:p>
          <a:p>
            <a:r>
              <a:rPr lang="en-US" altLang="en-US"/>
              <a:t>Example: Let A={a,b,c} and B={1,2,3}.</a:t>
            </a:r>
          </a:p>
          <a:p>
            <a:endParaRPr lang="en-US" altLang="en-US" b="1"/>
          </a:p>
          <a:p>
            <a:r>
              <a:rPr lang="en-US" altLang="en-US"/>
              <a:t>• Is R={(a,1),(b,2),(c,2)} a relation from A to B?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Q={(1,a),(2,b)} a relation from A to B? </a:t>
            </a:r>
            <a:endParaRPr lang="en-US" altLang="en-US" b="1">
              <a:solidFill>
                <a:srgbClr val="FF0000"/>
              </a:solidFill>
            </a:endParaRPr>
          </a:p>
        </p:txBody>
      </p:sp>
      <p:graphicFrame>
        <p:nvGraphicFramePr>
          <p:cNvPr id="6148" name="Object 2">
            <a:extLst>
              <a:ext uri="{FF2B5EF4-FFF2-40B4-BE49-F238E27FC236}">
                <a16:creationId xmlns:a16="http://schemas.microsoft.com/office/drawing/2014/main" id="{A7374814-D468-6544-5E56-D666667CE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514600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190500" progId="Equation.3">
                  <p:embed/>
                </p:oleObj>
              </mc:Choice>
              <mc:Fallback>
                <p:oleObj name="Equation" r:id="rId2" imgW="647700" imgH="190500" progId="Equation.3">
                  <p:embed/>
                  <p:pic>
                    <p:nvPicPr>
                      <p:cNvPr id="6148" name="Object 2">
                        <a:extLst>
                          <a:ext uri="{FF2B5EF4-FFF2-40B4-BE49-F238E27FC236}">
                            <a16:creationId xmlns:a16="http://schemas.microsoft.com/office/drawing/2014/main" id="{A7374814-D468-6544-5E56-D666667CE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E22FFA8-648F-4AF9-D863-C802CA69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Binary relation</a:t>
            </a:r>
            <a:endParaRPr lang="en-US" altLang="en-US"/>
          </a:p>
        </p:txBody>
      </p:sp>
      <p:sp>
        <p:nvSpPr>
          <p:cNvPr id="7171" name="TextBox 3">
            <a:extLst>
              <a:ext uri="{FF2B5EF4-FFF2-40B4-BE49-F238E27FC236}">
                <a16:creationId xmlns:a16="http://schemas.microsoft.com/office/drawing/2014/main" id="{5981F21A-38FF-DADD-32C8-517A1342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305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Definition: Let A and B be two sets. A </a:t>
            </a:r>
            <a:r>
              <a:rPr lang="en-US" altLang="en-US" b="1">
                <a:solidFill>
                  <a:srgbClr val="FF0000"/>
                </a:solidFill>
              </a:rPr>
              <a:t>binary relation </a:t>
            </a:r>
            <a:r>
              <a:rPr lang="en-US" altLang="en-US" b="1"/>
              <a:t>from A to B is </a:t>
            </a:r>
            <a:r>
              <a:rPr lang="en-US" altLang="en-US" b="1">
                <a:solidFill>
                  <a:srgbClr val="FF0000"/>
                </a:solidFill>
              </a:rPr>
              <a:t>a subset </a:t>
            </a:r>
            <a:r>
              <a:rPr lang="en-US" altLang="en-US" b="1"/>
              <a:t>of a Cartesian product </a:t>
            </a:r>
            <a:r>
              <a:rPr lang="en-US" altLang="en-US" b="1">
                <a:solidFill>
                  <a:srgbClr val="FF0000"/>
                </a:solidFill>
              </a:rPr>
              <a:t>A x B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/>
              <a:t>• Let                       means R is a set of ordered pairs of the form (a,b) where a </a:t>
            </a:r>
            <a:r>
              <a:rPr lang="el-GR" altLang="en-US"/>
              <a:t>ϵ</a:t>
            </a:r>
            <a:r>
              <a:rPr lang="en-US" altLang="en-US"/>
              <a:t> A and b </a:t>
            </a:r>
            <a:r>
              <a:rPr lang="el-GR" altLang="en-US"/>
              <a:t>ϵ</a:t>
            </a:r>
            <a:r>
              <a:rPr lang="en-US" altLang="en-US"/>
              <a:t> B.</a:t>
            </a:r>
          </a:p>
          <a:p>
            <a:endParaRPr lang="en-US" altLang="en-US"/>
          </a:p>
          <a:p>
            <a:r>
              <a:rPr lang="en-US" altLang="en-US"/>
              <a:t>• We use the notation </a:t>
            </a:r>
            <a:r>
              <a:rPr lang="en-US" altLang="en-US" b="1"/>
              <a:t>a R b to denote (a,b) </a:t>
            </a:r>
            <a:r>
              <a:rPr lang="el-GR" altLang="en-US"/>
              <a:t>ϵ</a:t>
            </a:r>
            <a:r>
              <a:rPr lang="en-US" altLang="en-US" b="1"/>
              <a:t> R and a R b to denote (a,b) </a:t>
            </a:r>
            <a:r>
              <a:rPr lang="el-GR" altLang="en-US"/>
              <a:t>ϵ</a:t>
            </a:r>
            <a:r>
              <a:rPr lang="en-US" altLang="en-US" b="1"/>
              <a:t> R. If a R b, we say a is related to b by R.</a:t>
            </a:r>
          </a:p>
          <a:p>
            <a:endParaRPr lang="en-US" altLang="en-US" b="1"/>
          </a:p>
          <a:p>
            <a:r>
              <a:rPr lang="en-US" altLang="en-US"/>
              <a:t>Example: Let A={a,b,c} and B={1,2,3}.</a:t>
            </a:r>
          </a:p>
          <a:p>
            <a:r>
              <a:rPr lang="en-US" altLang="en-US"/>
              <a:t>• Is R={(a,1),(b,2),(c,2)} a relation from A to B?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</a:p>
          <a:p>
            <a:r>
              <a:rPr lang="en-US" altLang="en-US"/>
              <a:t>• Is Q={(1,a),(2,b)} a relation from A to B? </a:t>
            </a:r>
            <a:r>
              <a:rPr lang="en-US" altLang="en-US" b="1">
                <a:solidFill>
                  <a:srgbClr val="FF0000"/>
                </a:solidFill>
              </a:rPr>
              <a:t>No.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P={(a,a),(b,c),(b,a)} a relation from A to A? </a:t>
            </a:r>
          </a:p>
        </p:txBody>
      </p:sp>
      <p:graphicFrame>
        <p:nvGraphicFramePr>
          <p:cNvPr id="7172" name="Object 2">
            <a:extLst>
              <a:ext uri="{FF2B5EF4-FFF2-40B4-BE49-F238E27FC236}">
                <a16:creationId xmlns:a16="http://schemas.microsoft.com/office/drawing/2014/main" id="{900ADA88-3E0B-B3CC-4060-33B1074604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438400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190500" progId="Equation.3">
                  <p:embed/>
                </p:oleObj>
              </mc:Choice>
              <mc:Fallback>
                <p:oleObj name="Equation" r:id="rId2" imgW="647700" imgH="190500" progId="Equation.3">
                  <p:embed/>
                  <p:pic>
                    <p:nvPicPr>
                      <p:cNvPr id="7172" name="Object 2">
                        <a:extLst>
                          <a:ext uri="{FF2B5EF4-FFF2-40B4-BE49-F238E27FC236}">
                            <a16:creationId xmlns:a16="http://schemas.microsoft.com/office/drawing/2014/main" id="{900ADA88-3E0B-B3CC-4060-33B1074604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438400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949AA25-FE2C-C5A6-BD4C-301DE7BE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Binary relation</a:t>
            </a:r>
            <a:endParaRPr lang="en-US" altLang="en-US"/>
          </a:p>
        </p:txBody>
      </p:sp>
      <p:sp>
        <p:nvSpPr>
          <p:cNvPr id="8195" name="TextBox 3">
            <a:extLst>
              <a:ext uri="{FF2B5EF4-FFF2-40B4-BE49-F238E27FC236}">
                <a16:creationId xmlns:a16="http://schemas.microsoft.com/office/drawing/2014/main" id="{93483E3E-5339-B4FD-CA8B-F3E97AE4F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305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Definition: Let A and B be two sets. A </a:t>
            </a:r>
            <a:r>
              <a:rPr lang="en-US" altLang="en-US" b="1">
                <a:solidFill>
                  <a:srgbClr val="FF0000"/>
                </a:solidFill>
              </a:rPr>
              <a:t>binary relation </a:t>
            </a:r>
            <a:r>
              <a:rPr lang="en-US" altLang="en-US" b="1"/>
              <a:t>from A to B is </a:t>
            </a:r>
            <a:r>
              <a:rPr lang="en-US" altLang="en-US" b="1">
                <a:solidFill>
                  <a:srgbClr val="FF0000"/>
                </a:solidFill>
              </a:rPr>
              <a:t>a subset </a:t>
            </a:r>
            <a:r>
              <a:rPr lang="en-US" altLang="en-US" b="1"/>
              <a:t>of a Cartesian product </a:t>
            </a:r>
            <a:r>
              <a:rPr lang="en-US" altLang="en-US" b="1">
                <a:solidFill>
                  <a:srgbClr val="FF0000"/>
                </a:solidFill>
              </a:rPr>
              <a:t>A x B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/>
              <a:t>• Let                       means R is a set of ordered pairs of the form (a,b) where a </a:t>
            </a:r>
            <a:r>
              <a:rPr lang="el-GR" altLang="en-US"/>
              <a:t>ϵ</a:t>
            </a:r>
            <a:r>
              <a:rPr lang="en-US" altLang="en-US"/>
              <a:t> A and b </a:t>
            </a:r>
            <a:r>
              <a:rPr lang="el-GR" altLang="en-US"/>
              <a:t>ϵ</a:t>
            </a:r>
            <a:r>
              <a:rPr lang="en-US" altLang="en-US"/>
              <a:t> B.</a:t>
            </a:r>
          </a:p>
          <a:p>
            <a:endParaRPr lang="en-US" altLang="en-US"/>
          </a:p>
          <a:p>
            <a:r>
              <a:rPr lang="en-US" altLang="en-US"/>
              <a:t>• We use the notation </a:t>
            </a:r>
            <a:r>
              <a:rPr lang="en-US" altLang="en-US" b="1"/>
              <a:t>a R b to denote (a,b) </a:t>
            </a:r>
            <a:r>
              <a:rPr lang="el-GR" altLang="en-US"/>
              <a:t>ϵ</a:t>
            </a:r>
            <a:r>
              <a:rPr lang="en-US" altLang="en-US" b="1"/>
              <a:t> R and a R b to denote (a,b) </a:t>
            </a:r>
            <a:r>
              <a:rPr lang="el-GR" altLang="en-US"/>
              <a:t>ϵ</a:t>
            </a:r>
            <a:r>
              <a:rPr lang="en-US" altLang="en-US" b="1"/>
              <a:t> R. If a R b, we say a is related to b by R.</a:t>
            </a:r>
          </a:p>
          <a:p>
            <a:endParaRPr lang="en-US" altLang="en-US" b="1"/>
          </a:p>
          <a:p>
            <a:r>
              <a:rPr lang="en-US" altLang="en-US"/>
              <a:t>Example: Let A={a,b,c} and B={1,2,3}.</a:t>
            </a:r>
          </a:p>
          <a:p>
            <a:r>
              <a:rPr lang="en-US" altLang="en-US"/>
              <a:t>• Is R={(a,1),(b,2),(c,2)} a relation from A to B?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</a:p>
          <a:p>
            <a:r>
              <a:rPr lang="en-US" altLang="en-US"/>
              <a:t>• Is Q={(1,a),(2,b)} a relation from A to B? </a:t>
            </a:r>
            <a:r>
              <a:rPr lang="en-US" altLang="en-US" b="1">
                <a:solidFill>
                  <a:srgbClr val="FF0000"/>
                </a:solidFill>
              </a:rPr>
              <a:t>No.</a:t>
            </a:r>
          </a:p>
          <a:p>
            <a:r>
              <a:rPr lang="en-US" altLang="en-US"/>
              <a:t>• Is P={(a,a),(b,c),(b,a)} a relation from A to A? </a:t>
            </a:r>
            <a:r>
              <a:rPr lang="en-US" altLang="en-US" b="1">
                <a:solidFill>
                  <a:srgbClr val="FF0000"/>
                </a:solidFill>
              </a:rPr>
              <a:t>Yes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8196" name="Object 2">
            <a:extLst>
              <a:ext uri="{FF2B5EF4-FFF2-40B4-BE49-F238E27FC236}">
                <a16:creationId xmlns:a16="http://schemas.microsoft.com/office/drawing/2014/main" id="{1EF3B8C1-0472-2EF7-400C-55604445D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514600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190500" progId="Equation.3">
                  <p:embed/>
                </p:oleObj>
              </mc:Choice>
              <mc:Fallback>
                <p:oleObj name="Equation" r:id="rId2" imgW="647700" imgH="190500" progId="Equation.3">
                  <p:embed/>
                  <p:pic>
                    <p:nvPicPr>
                      <p:cNvPr id="8196" name="Object 2">
                        <a:extLst>
                          <a:ext uri="{FF2B5EF4-FFF2-40B4-BE49-F238E27FC236}">
                            <a16:creationId xmlns:a16="http://schemas.microsoft.com/office/drawing/2014/main" id="{1EF3B8C1-0472-2EF7-400C-55604445D4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14600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E10B12B-CEE6-6E33-7121-31661DF2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Representing Binary relation</a:t>
            </a:r>
            <a:endParaRPr lang="en-US" altLang="en-US"/>
          </a:p>
        </p:txBody>
      </p:sp>
      <p:sp>
        <p:nvSpPr>
          <p:cNvPr id="9219" name="TextBox 3">
            <a:extLst>
              <a:ext uri="{FF2B5EF4-FFF2-40B4-BE49-F238E27FC236}">
                <a16:creationId xmlns:a16="http://schemas.microsoft.com/office/drawing/2014/main" id="{6298BAA5-E285-989F-D609-C5295D84B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3058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We can graphically represent a binary relation R as follows:</a:t>
            </a:r>
          </a:p>
          <a:p>
            <a:r>
              <a:rPr lang="en-US" altLang="en-US"/>
              <a:t>• if </a:t>
            </a:r>
            <a:r>
              <a:rPr lang="en-US" altLang="en-US" b="1"/>
              <a:t>a R b then draw an arrow from a to b.</a:t>
            </a:r>
          </a:p>
          <a:p>
            <a:endParaRPr lang="en-US" altLang="en-US" b="1"/>
          </a:p>
          <a:p>
            <a:r>
              <a:rPr lang="en-US" altLang="en-US" b="1"/>
              <a:t>                                        a </a:t>
            </a:r>
            <a:r>
              <a:rPr lang="en-US" altLang="en-US" b="1">
                <a:solidFill>
                  <a:srgbClr val="FF0000"/>
                </a:solidFill>
              </a:rPr>
              <a:t>→ </a:t>
            </a:r>
            <a:r>
              <a:rPr lang="en-US" altLang="en-US" b="1"/>
              <a:t>b</a:t>
            </a:r>
          </a:p>
          <a:p>
            <a:endParaRPr lang="en-US" altLang="en-US" b="1"/>
          </a:p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{0, 1, 2}, B = {u,v} and </a:t>
            </a:r>
          </a:p>
          <a:p>
            <a:endParaRPr lang="en-US" altLang="en-US"/>
          </a:p>
          <a:p>
            <a:r>
              <a:rPr lang="en-US" altLang="en-US"/>
              <a:t>   R = { (0,u), (0,v), (1,v), (2,u) }</a:t>
            </a:r>
          </a:p>
          <a:p>
            <a:r>
              <a:rPr lang="pt-BR" altLang="en-US"/>
              <a:t>• Note: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Graph:</a:t>
            </a:r>
          </a:p>
        </p:txBody>
      </p:sp>
      <p:graphicFrame>
        <p:nvGraphicFramePr>
          <p:cNvPr id="9220" name="Object 2">
            <a:extLst>
              <a:ext uri="{FF2B5EF4-FFF2-40B4-BE49-F238E27FC236}">
                <a16:creationId xmlns:a16="http://schemas.microsoft.com/office/drawing/2014/main" id="{E591572B-146B-E4DB-96B8-EDCB03F03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724400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190500" progId="Equation.3">
                  <p:embed/>
                </p:oleObj>
              </mc:Choice>
              <mc:Fallback>
                <p:oleObj name="Equation" r:id="rId3" imgW="647700" imgH="190500" progId="Equation.3">
                  <p:embed/>
                  <p:pic>
                    <p:nvPicPr>
                      <p:cNvPr id="9220" name="Object 2">
                        <a:extLst>
                          <a:ext uri="{FF2B5EF4-FFF2-40B4-BE49-F238E27FC236}">
                            <a16:creationId xmlns:a16="http://schemas.microsoft.com/office/drawing/2014/main" id="{E591572B-146B-E4DB-96B8-EDCB03F03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24400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34783B-D26C-C68E-37EF-6C9B258B08FB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50292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DD7700-8178-D4FA-528B-FC1868390502}"/>
              </a:ext>
            </a:extLst>
          </p:cNvPr>
          <p:cNvCxnSpPr/>
          <p:nvPr/>
        </p:nvCxnSpPr>
        <p:spPr>
          <a:xfrm>
            <a:off x="3733800" y="5257800"/>
            <a:ext cx="1600200" cy="609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9D65D-74BA-EA30-9E46-58CEB3AD235B}"/>
              </a:ext>
            </a:extLst>
          </p:cNvPr>
          <p:cNvCxnSpPr/>
          <p:nvPr/>
        </p:nvCxnSpPr>
        <p:spPr>
          <a:xfrm>
            <a:off x="3733800" y="5943600"/>
            <a:ext cx="1600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14CDF4-968D-0E23-0984-9884EF9E3C12}"/>
              </a:ext>
            </a:extLst>
          </p:cNvPr>
          <p:cNvCxnSpPr/>
          <p:nvPr/>
        </p:nvCxnSpPr>
        <p:spPr>
          <a:xfrm>
            <a:off x="3733800" y="6019800"/>
            <a:ext cx="1676400" cy="533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CAA846-DF39-FEBF-0830-FC2D9E99FFF6}"/>
              </a:ext>
            </a:extLst>
          </p:cNvPr>
          <p:cNvCxnSpPr/>
          <p:nvPr/>
        </p:nvCxnSpPr>
        <p:spPr>
          <a:xfrm>
            <a:off x="3733800" y="6704013"/>
            <a:ext cx="1676400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8640149-8B5D-47DF-682F-5A27849F7F17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4830763"/>
          <a:ext cx="1905000" cy="146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68" name="TextBox 12">
            <a:extLst>
              <a:ext uri="{FF2B5EF4-FFF2-40B4-BE49-F238E27FC236}">
                <a16:creationId xmlns:a16="http://schemas.microsoft.com/office/drawing/2014/main" id="{22038072-CD51-A4BC-C871-5DE12D4AD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953000"/>
            <a:ext cx="106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F94A0D3-768C-943C-0D94-544A2696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Reflexive Relation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0243" name="TextBox 3">
            <a:extLst>
              <a:ext uri="{FF2B5EF4-FFF2-40B4-BE49-F238E27FC236}">
                <a16:creationId xmlns:a16="http://schemas.microsoft.com/office/drawing/2014/main" id="{297511A1-B13A-11F5-58B4-F232D7334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7630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</a:t>
            </a:r>
            <a:r>
              <a:rPr lang="en-US" altLang="en-US" b="1">
                <a:solidFill>
                  <a:srgbClr val="FF0000"/>
                </a:solidFill>
              </a:rPr>
              <a:t>reflexive relation</a:t>
            </a:r>
            <a:r>
              <a:rPr lang="en-US" altLang="en-US" b="1"/>
              <a:t>) : A relation R on a set A is called reflexive if </a:t>
            </a:r>
            <a:r>
              <a:rPr lang="en-US" altLang="en-US" b="1">
                <a:solidFill>
                  <a:srgbClr val="FF0000"/>
                </a:solidFill>
              </a:rPr>
              <a:t>(a,a) </a:t>
            </a:r>
            <a:r>
              <a:rPr lang="el-GR" altLang="en-US" b="1">
                <a:solidFill>
                  <a:srgbClr val="FF0000"/>
                </a:solidFill>
              </a:rPr>
              <a:t>ϵ</a:t>
            </a:r>
            <a:r>
              <a:rPr lang="en-US" altLang="en-US" b="1">
                <a:solidFill>
                  <a:srgbClr val="FF0000"/>
                </a:solidFill>
              </a:rPr>
              <a:t> R </a:t>
            </a:r>
            <a:r>
              <a:rPr lang="en-US" altLang="en-US" b="1"/>
              <a:t>for every element a </a:t>
            </a:r>
            <a:r>
              <a:rPr lang="el-GR" altLang="en-US" b="1"/>
              <a:t>ϵ</a:t>
            </a:r>
            <a:r>
              <a:rPr lang="en-US" altLang="en-US" b="1"/>
              <a:t> A.</a:t>
            </a:r>
          </a:p>
          <a:p>
            <a:endParaRPr lang="en-US" altLang="en-US" b="1"/>
          </a:p>
          <a:p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Assume relation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reflexive?</a:t>
            </a:r>
          </a:p>
          <a:p>
            <a:endParaRPr lang="en-US" alt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8A8B2F3-B9CF-F1E2-9356-A54356C5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Reflexive Relation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1267" name="TextBox 3">
            <a:extLst>
              <a:ext uri="{FF2B5EF4-FFF2-40B4-BE49-F238E27FC236}">
                <a16:creationId xmlns:a16="http://schemas.microsoft.com/office/drawing/2014/main" id="{9756E6FC-7044-E9A3-B0F8-52836EC79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763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</a:t>
            </a:r>
            <a:r>
              <a:rPr lang="en-US" altLang="en-US" b="1">
                <a:solidFill>
                  <a:srgbClr val="FF0000"/>
                </a:solidFill>
              </a:rPr>
              <a:t>reflexive relation</a:t>
            </a:r>
            <a:r>
              <a:rPr lang="en-US" altLang="en-US" b="1"/>
              <a:t>) : A relation R on a set A is called reflexive if </a:t>
            </a:r>
            <a:r>
              <a:rPr lang="en-US" altLang="en-US" b="1">
                <a:solidFill>
                  <a:srgbClr val="FF0000"/>
                </a:solidFill>
              </a:rPr>
              <a:t>(a,a) </a:t>
            </a:r>
            <a:r>
              <a:rPr lang="el-GR" altLang="en-US" b="1">
                <a:solidFill>
                  <a:srgbClr val="FF0000"/>
                </a:solidFill>
              </a:rPr>
              <a:t>ϵ</a:t>
            </a:r>
            <a:r>
              <a:rPr lang="en-US" altLang="en-US" b="1">
                <a:solidFill>
                  <a:srgbClr val="FF0000"/>
                </a:solidFill>
              </a:rPr>
              <a:t> R </a:t>
            </a:r>
            <a:r>
              <a:rPr lang="en-US" altLang="en-US" b="1"/>
              <a:t>for every element a </a:t>
            </a:r>
            <a:r>
              <a:rPr lang="el-GR" altLang="en-US" b="1"/>
              <a:t>ϵ</a:t>
            </a:r>
            <a:r>
              <a:rPr lang="en-US" altLang="en-US" b="1"/>
              <a:t> A.</a:t>
            </a:r>
          </a:p>
          <a:p>
            <a:endParaRPr lang="en-US" altLang="en-US" b="1"/>
          </a:p>
          <a:p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Assume relation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reflexive?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Answer: </a:t>
            </a:r>
            <a:r>
              <a:rPr lang="en-US" altLang="en-US" b="1">
                <a:solidFill>
                  <a:srgbClr val="FF0000"/>
                </a:solidFill>
              </a:rPr>
              <a:t>Yes</a:t>
            </a:r>
            <a:r>
              <a:rPr lang="en-US" altLang="en-US" b="1"/>
              <a:t>. (1,1), (2,2), (3,3), and (4,4) </a:t>
            </a:r>
            <a:r>
              <a:rPr lang="el-GR" altLang="en-US" b="1"/>
              <a:t>ϵ</a:t>
            </a:r>
            <a:r>
              <a:rPr lang="en-US" altLang="en-US" b="1"/>
              <a:t>  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A7B337D-C76F-3275-9152-A7367084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Reflexive Relation</a:t>
            </a:r>
            <a:endParaRPr lang="en-US" altLang="en-US"/>
          </a:p>
        </p:txBody>
      </p:sp>
      <p:sp>
        <p:nvSpPr>
          <p:cNvPr id="12291" name="TextBox 3">
            <a:extLst>
              <a:ext uri="{FF2B5EF4-FFF2-40B4-BE49-F238E27FC236}">
                <a16:creationId xmlns:a16="http://schemas.microsoft.com/office/drawing/2014/main" id="{4EEC0068-BEE9-28D3-47FF-EC2A19A66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</a:t>
            </a:r>
            <a:r>
              <a:rPr lang="en-US" altLang="en-US" b="1">
                <a:solidFill>
                  <a:srgbClr val="FF0000"/>
                </a:solidFill>
              </a:rPr>
              <a:t>reflexive relation</a:t>
            </a:r>
            <a:r>
              <a:rPr lang="en-US" altLang="en-US" b="1"/>
              <a:t>) : A relation R on a set A is called reflexive if </a:t>
            </a:r>
            <a:r>
              <a:rPr lang="en-US" altLang="en-US" b="1">
                <a:solidFill>
                  <a:srgbClr val="FF0000"/>
                </a:solidFill>
              </a:rPr>
              <a:t>(a,a) </a:t>
            </a:r>
            <a:r>
              <a:rPr lang="el-GR" altLang="en-US" b="1">
                <a:solidFill>
                  <a:srgbClr val="FF0000"/>
                </a:solidFill>
              </a:rPr>
              <a:t>ϵ</a:t>
            </a:r>
            <a:r>
              <a:rPr lang="en-US" altLang="en-US" b="1">
                <a:solidFill>
                  <a:srgbClr val="FF0000"/>
                </a:solidFill>
              </a:rPr>
              <a:t> R for every element a </a:t>
            </a:r>
            <a:r>
              <a:rPr lang="el-GR" altLang="en-US" b="1">
                <a:solidFill>
                  <a:srgbClr val="FF0000"/>
                </a:solidFill>
              </a:rPr>
              <a:t>ϵ</a:t>
            </a:r>
            <a:r>
              <a:rPr lang="en-US" altLang="en-US" b="1">
                <a:solidFill>
                  <a:srgbClr val="FF0000"/>
                </a:solidFill>
              </a:rPr>
              <a:t> A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 b="1"/>
              <a:t>Example 2:</a:t>
            </a:r>
          </a:p>
          <a:p>
            <a:r>
              <a:rPr lang="en-US" altLang="en-US"/>
              <a:t>• Relation R</a:t>
            </a:r>
            <a:r>
              <a:rPr lang="en-US" altLang="en-US" baseline="-25000"/>
              <a:t>fun</a:t>
            </a:r>
            <a:r>
              <a:rPr lang="en-US" altLang="en-US"/>
              <a:t> on A = {1,2,3,4} defined as:</a:t>
            </a:r>
          </a:p>
          <a:p>
            <a:r>
              <a:rPr lang="en-US" altLang="en-US"/>
              <a:t>• R</a:t>
            </a:r>
            <a:r>
              <a:rPr lang="en-US" altLang="en-US" baseline="-25000"/>
              <a:t>fun</a:t>
            </a:r>
            <a:r>
              <a:rPr lang="en-US" altLang="en-US"/>
              <a:t> = {(1,2),(2,2),(3,3)}.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fun</a:t>
            </a:r>
            <a:r>
              <a:rPr lang="en-US" altLang="en-US" b="1">
                <a:solidFill>
                  <a:srgbClr val="FF0000"/>
                </a:solidFill>
              </a:rPr>
              <a:t> reflexive?</a:t>
            </a:r>
          </a:p>
          <a:p>
            <a:endParaRPr lang="en-US" altLang="en-US" b="1"/>
          </a:p>
          <a:p>
            <a:endParaRPr lang="en-US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AE6CCB6-106B-6E84-BAAB-FD4993F6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Reflexive Relation</a:t>
            </a:r>
            <a:endParaRPr lang="en-US" altLang="en-US"/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0EB5F1A8-6F49-1D3B-3A58-C8F6D728F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</a:t>
            </a:r>
            <a:r>
              <a:rPr lang="en-US" altLang="en-US" b="1">
                <a:solidFill>
                  <a:srgbClr val="FF0000"/>
                </a:solidFill>
              </a:rPr>
              <a:t>reflexive relation</a:t>
            </a:r>
            <a:r>
              <a:rPr lang="en-US" altLang="en-US" b="1"/>
              <a:t>) : A relation R on a set A is called reflexive if (a,a) </a:t>
            </a:r>
            <a:r>
              <a:rPr lang="el-GR" altLang="en-US" b="1"/>
              <a:t>ϵ</a:t>
            </a:r>
            <a:r>
              <a:rPr lang="en-US" altLang="en-US" b="1"/>
              <a:t> R for every element a </a:t>
            </a:r>
            <a:r>
              <a:rPr lang="el-GR" altLang="en-US" b="1"/>
              <a:t>ϵ</a:t>
            </a:r>
            <a:r>
              <a:rPr lang="en-US" altLang="en-US" b="1"/>
              <a:t> A.</a:t>
            </a:r>
          </a:p>
          <a:p>
            <a:endParaRPr lang="en-US" altLang="en-US" b="1"/>
          </a:p>
          <a:p>
            <a:r>
              <a:rPr lang="en-US" altLang="en-US" b="1"/>
              <a:t>Example 2:</a:t>
            </a:r>
          </a:p>
          <a:p>
            <a:r>
              <a:rPr lang="en-US" altLang="en-US"/>
              <a:t>• Relation R</a:t>
            </a:r>
            <a:r>
              <a:rPr lang="en-US" altLang="en-US" baseline="-25000"/>
              <a:t>fun</a:t>
            </a:r>
            <a:r>
              <a:rPr lang="en-US" altLang="en-US"/>
              <a:t> on A = {1,2,3,4} defined as:</a:t>
            </a:r>
          </a:p>
          <a:p>
            <a:r>
              <a:rPr lang="en-US" altLang="en-US"/>
              <a:t>• R</a:t>
            </a:r>
            <a:r>
              <a:rPr lang="en-US" altLang="en-US" baseline="-25000"/>
              <a:t>fun</a:t>
            </a:r>
            <a:r>
              <a:rPr lang="en-US" altLang="en-US"/>
              <a:t> = {(1,2),(2,2),(3,3)}.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fun</a:t>
            </a:r>
            <a:r>
              <a:rPr lang="en-US" altLang="en-US" b="1">
                <a:solidFill>
                  <a:srgbClr val="FF0000"/>
                </a:solidFill>
              </a:rPr>
              <a:t> reflexive?</a:t>
            </a:r>
          </a:p>
          <a:p>
            <a:endParaRPr lang="en-US" altLang="en-US" b="1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No.</a:t>
            </a:r>
            <a:r>
              <a:rPr lang="en-US" altLang="en-US" b="1"/>
              <a:t> It is not reflexive since (1,1) ,(4,4)     R</a:t>
            </a:r>
            <a:r>
              <a:rPr lang="en-US" altLang="en-US" b="1" baseline="-25000"/>
              <a:t>fun</a:t>
            </a:r>
            <a:r>
              <a:rPr lang="en-US" altLang="en-US" b="1"/>
              <a:t>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BF40C699-7145-4BBC-74F5-29323BAC0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0" y="4800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835" imgH="152202" progId="Equation.3">
                  <p:embed/>
                </p:oleObj>
              </mc:Choice>
              <mc:Fallback>
                <p:oleObj name="Equation" r:id="rId3" imgW="126835" imgH="152202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BF40C699-7145-4BBC-74F5-29323BAC08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4800600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7A2197C-FD16-D75B-7200-C417D8B5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Symmetric Relation</a:t>
            </a:r>
            <a:endParaRPr lang="en-US" altLang="en-US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085117A2-A128-8F21-F8A3-483786791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229600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 (symmetric relation): A relation R on a set A is called </a:t>
            </a:r>
            <a:r>
              <a:rPr lang="en-US" altLang="en-US">
                <a:solidFill>
                  <a:srgbClr val="FF0000"/>
                </a:solidFill>
              </a:rPr>
              <a:t>symmetric if</a:t>
            </a:r>
          </a:p>
          <a:p>
            <a:endParaRPr lang="en-US" altLang="en-US" b="1"/>
          </a:p>
          <a:p>
            <a:endParaRPr lang="pt-BR" altLang="en-US"/>
          </a:p>
          <a:p>
            <a:endParaRPr lang="pt-BR" altLang="en-US"/>
          </a:p>
          <a:p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r>
              <a:rPr lang="en-US" altLang="en-US"/>
              <a:t>• R</a:t>
            </a:r>
            <a:r>
              <a:rPr lang="en-US" altLang="en-US" baseline="-25000"/>
              <a:t>div </a:t>
            </a:r>
            <a:r>
              <a:rPr lang="en-US" altLang="en-US"/>
              <a:t>= {(1,1), (1,2), (1,3), (1,4), (2,2), (2,4), (3,3), (4,4)}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symmetric?</a:t>
            </a:r>
          </a:p>
          <a:p>
            <a:endParaRPr lang="en-US" altLang="en-US" b="1"/>
          </a:p>
          <a:p>
            <a:endParaRPr lang="en-US" altLang="en-US"/>
          </a:p>
          <a:p>
            <a:endParaRPr lang="en-US" altLang="en-US" baseline="-25000"/>
          </a:p>
        </p:txBody>
      </p:sp>
      <p:graphicFrame>
        <p:nvGraphicFramePr>
          <p:cNvPr id="14340" name="Object 2">
            <a:extLst>
              <a:ext uri="{FF2B5EF4-FFF2-40B4-BE49-F238E27FC236}">
                <a16:creationId xmlns:a16="http://schemas.microsoft.com/office/drawing/2014/main" id="{DE38E93D-B3F6-6D16-4295-9B35DAEFA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362200"/>
          <a:ext cx="4371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3100" imgH="203200" progId="Equation.3">
                  <p:embed/>
                </p:oleObj>
              </mc:Choice>
              <mc:Fallback>
                <p:oleObj name="Equation" r:id="rId3" imgW="1943100" imgH="203200" progId="Equation.3">
                  <p:embed/>
                  <p:pic>
                    <p:nvPicPr>
                      <p:cNvPr id="14340" name="Object 2">
                        <a:extLst>
                          <a:ext uri="{FF2B5EF4-FFF2-40B4-BE49-F238E27FC236}">
                            <a16:creationId xmlns:a16="http://schemas.microsoft.com/office/drawing/2014/main" id="{DE38E93D-B3F6-6D16-4295-9B35DAEFA4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62200"/>
                        <a:ext cx="4371975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7B20310-C87B-F106-B016-159FA806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Symmetric Relation</a:t>
            </a:r>
            <a:endParaRPr lang="en-US" altLang="en-US"/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C763F7A4-A013-47A8-1052-9778FACB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2296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 (symmetric relation): A relation R on a set A is called </a:t>
            </a:r>
            <a:r>
              <a:rPr lang="en-US" altLang="en-US">
                <a:solidFill>
                  <a:srgbClr val="FF0000"/>
                </a:solidFill>
              </a:rPr>
              <a:t>symmetric if</a:t>
            </a:r>
          </a:p>
          <a:p>
            <a:endParaRPr lang="en-US" altLang="en-US" b="1"/>
          </a:p>
          <a:p>
            <a:r>
              <a:rPr lang="pt-BR" altLang="en-US"/>
              <a:t>.</a:t>
            </a:r>
          </a:p>
          <a:p>
            <a:endParaRPr lang="pt-BR" altLang="en-US"/>
          </a:p>
          <a:p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r>
              <a:rPr lang="en-US" altLang="en-US"/>
              <a:t>• R</a:t>
            </a:r>
            <a:r>
              <a:rPr lang="en-US" altLang="en-US" baseline="-25000"/>
              <a:t>div </a:t>
            </a:r>
            <a:r>
              <a:rPr lang="en-US" altLang="en-US"/>
              <a:t>= {(1,1), (1,2), (1,3), (1,4), (2,2), (2,4), (3,3), (4,4)}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symmetric?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Answer: </a:t>
            </a:r>
            <a:r>
              <a:rPr lang="en-US" altLang="en-US" b="1">
                <a:solidFill>
                  <a:srgbClr val="FF0000"/>
                </a:solidFill>
              </a:rPr>
              <a:t>No</a:t>
            </a:r>
            <a:r>
              <a:rPr lang="en-US" altLang="en-US" b="1"/>
              <a:t>. It is not symmetric since (1,2) </a:t>
            </a:r>
            <a:r>
              <a:rPr lang="el-GR" altLang="en-US"/>
              <a:t>ϵ </a:t>
            </a:r>
            <a:r>
              <a:rPr lang="en-US" altLang="en-US" b="1"/>
              <a:t>R but (2,1) </a:t>
            </a:r>
            <a:r>
              <a:rPr lang="el-GR" altLang="en-US"/>
              <a:t> </a:t>
            </a:r>
            <a:r>
              <a:rPr lang="en-US" altLang="en-US" b="1"/>
              <a:t> R.</a:t>
            </a:r>
            <a:endParaRPr lang="en-US" altLang="en-US" baseline="-25000"/>
          </a:p>
        </p:txBody>
      </p:sp>
      <p:graphicFrame>
        <p:nvGraphicFramePr>
          <p:cNvPr id="15364" name="Object 2">
            <a:extLst>
              <a:ext uri="{FF2B5EF4-FFF2-40B4-BE49-F238E27FC236}">
                <a16:creationId xmlns:a16="http://schemas.microsoft.com/office/drawing/2014/main" id="{9513BCFB-17B3-F349-CF4F-E98C6B348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50" y="2438400"/>
          <a:ext cx="3114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203200" progId="Equation.3">
                  <p:embed/>
                </p:oleObj>
              </mc:Choice>
              <mc:Fallback>
                <p:oleObj name="Equation" r:id="rId3" imgW="1384300" imgH="203200" progId="Equation.3">
                  <p:embed/>
                  <p:pic>
                    <p:nvPicPr>
                      <p:cNvPr id="15364" name="Object 2">
                        <a:extLst>
                          <a:ext uri="{FF2B5EF4-FFF2-40B4-BE49-F238E27FC236}">
                            <a16:creationId xmlns:a16="http://schemas.microsoft.com/office/drawing/2014/main" id="{9513BCFB-17B3-F349-CF4F-E98C6B348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2438400"/>
                        <a:ext cx="3114675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6">
            <a:extLst>
              <a:ext uri="{FF2B5EF4-FFF2-40B4-BE49-F238E27FC236}">
                <a16:creationId xmlns:a16="http://schemas.microsoft.com/office/drawing/2014/main" id="{D71BC1E2-3263-70FA-C2C3-73CA50221C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0" y="62484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835" imgH="152202" progId="Equation.3">
                  <p:embed/>
                </p:oleObj>
              </mc:Choice>
              <mc:Fallback>
                <p:oleObj name="Equation" r:id="rId5" imgW="126835" imgH="152202" progId="Equation.3">
                  <p:embed/>
                  <p:pic>
                    <p:nvPicPr>
                      <p:cNvPr id="15365" name="Object 6">
                        <a:extLst>
                          <a:ext uri="{FF2B5EF4-FFF2-40B4-BE49-F238E27FC236}">
                            <a16:creationId xmlns:a16="http://schemas.microsoft.com/office/drawing/2014/main" id="{D71BC1E2-3263-70FA-C2C3-73CA50221C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6248400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A9C4CC4-555E-397A-E967-A1F8D779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Symmetric Relation</a:t>
            </a:r>
            <a:endParaRPr lang="en-US" altLang="en-US"/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09B1AD0E-6E73-FB48-41CA-381CE5809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 (symmetric relation): A relation R on a set A is called </a:t>
            </a:r>
            <a:r>
              <a:rPr lang="en-US" altLang="en-US">
                <a:solidFill>
                  <a:srgbClr val="FF0000"/>
                </a:solidFill>
              </a:rPr>
              <a:t>symmetric if</a:t>
            </a:r>
          </a:p>
          <a:p>
            <a:endParaRPr lang="en-US" altLang="en-US" b="1"/>
          </a:p>
          <a:p>
            <a:endParaRPr lang="pt-BR" altLang="en-US"/>
          </a:p>
          <a:p>
            <a:r>
              <a:rPr lang="en-US" altLang="en-US" b="1"/>
              <a:t>Example 2: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≠</a:t>
            </a:r>
            <a:r>
              <a:rPr lang="en-US" altLang="en-US"/>
              <a:t> on A={1,2,3,4}, such that a R</a:t>
            </a:r>
            <a:r>
              <a:rPr lang="en-US" altLang="en-US" baseline="-25000"/>
              <a:t>≠</a:t>
            </a:r>
            <a:r>
              <a:rPr lang="en-US" altLang="en-US"/>
              <a:t> b if and only if a ≠ b.</a:t>
            </a:r>
          </a:p>
          <a:p>
            <a:endParaRPr lang="en-US" altLang="en-US" b="1"/>
          </a:p>
          <a:p>
            <a:r>
              <a:rPr lang="pl-PL" altLang="en-US"/>
              <a:t>R</a:t>
            </a:r>
            <a:r>
              <a:rPr lang="pl-PL" altLang="en-US" baseline="-25000"/>
              <a:t>≠</a:t>
            </a:r>
            <a:r>
              <a:rPr lang="pl-PL" altLang="en-US"/>
              <a:t>={(1,2),(1,3),(1,4),(2,1),(2,3),(2,4),(3,1),(3,2),(3,4),(4,1),(4,2),(4,3)}</a:t>
            </a:r>
            <a:endParaRPr lang="en-US" altLang="en-US"/>
          </a:p>
          <a:p>
            <a:endParaRPr lang="en-US" altLang="en-US" b="1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R</a:t>
            </a:r>
            <a:r>
              <a:rPr lang="en-US" altLang="en-US" baseline="-25000">
                <a:solidFill>
                  <a:srgbClr val="FF0000"/>
                </a:solidFill>
              </a:rPr>
              <a:t>≠</a:t>
            </a:r>
            <a:r>
              <a:rPr lang="en-US" altLang="en-US">
                <a:solidFill>
                  <a:srgbClr val="FF0000"/>
                </a:solidFill>
              </a:rPr>
              <a:t> symmetric ?</a:t>
            </a:r>
          </a:p>
          <a:p>
            <a:endParaRPr lang="en-US" altLang="en-US"/>
          </a:p>
        </p:txBody>
      </p:sp>
      <p:graphicFrame>
        <p:nvGraphicFramePr>
          <p:cNvPr id="16388" name="Object 2">
            <a:extLst>
              <a:ext uri="{FF2B5EF4-FFF2-40B4-BE49-F238E27FC236}">
                <a16:creationId xmlns:a16="http://schemas.microsoft.com/office/drawing/2014/main" id="{3CE9A66D-429B-8AD0-30DF-4157D2E1D0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2850" y="2057400"/>
          <a:ext cx="3114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203200" progId="Equation.3">
                  <p:embed/>
                </p:oleObj>
              </mc:Choice>
              <mc:Fallback>
                <p:oleObj name="Equation" r:id="rId3" imgW="1384300" imgH="203200" progId="Equation.3">
                  <p:embed/>
                  <p:pic>
                    <p:nvPicPr>
                      <p:cNvPr id="16388" name="Object 2">
                        <a:extLst>
                          <a:ext uri="{FF2B5EF4-FFF2-40B4-BE49-F238E27FC236}">
                            <a16:creationId xmlns:a16="http://schemas.microsoft.com/office/drawing/2014/main" id="{3CE9A66D-429B-8AD0-30DF-4157D2E1D0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2057400"/>
                        <a:ext cx="3114675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C7C5665-A45E-682F-7406-253263BB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Symmetric Relation</a:t>
            </a:r>
            <a:endParaRPr lang="en-US" altLang="en-US"/>
          </a:p>
        </p:txBody>
      </p:sp>
      <p:sp>
        <p:nvSpPr>
          <p:cNvPr id="17411" name="TextBox 3">
            <a:extLst>
              <a:ext uri="{FF2B5EF4-FFF2-40B4-BE49-F238E27FC236}">
                <a16:creationId xmlns:a16="http://schemas.microsoft.com/office/drawing/2014/main" id="{F61D2BD1-03B2-8C19-95BF-79EA97D3A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 (symmetric relation): A relation R on a set A is called </a:t>
            </a:r>
            <a:r>
              <a:rPr lang="en-US" altLang="en-US">
                <a:solidFill>
                  <a:srgbClr val="FF0000"/>
                </a:solidFill>
              </a:rPr>
              <a:t>symmetric if</a:t>
            </a:r>
          </a:p>
          <a:p>
            <a:endParaRPr lang="en-US" altLang="en-US" b="1"/>
          </a:p>
          <a:p>
            <a:endParaRPr lang="pt-BR" altLang="en-US"/>
          </a:p>
          <a:p>
            <a:r>
              <a:rPr lang="en-US" altLang="en-US" b="1"/>
              <a:t>Example 2: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≠</a:t>
            </a:r>
            <a:r>
              <a:rPr lang="en-US" altLang="en-US"/>
              <a:t> on A={1,2,3,4}, such that a R</a:t>
            </a:r>
            <a:r>
              <a:rPr lang="en-US" altLang="en-US" baseline="-25000"/>
              <a:t>≠</a:t>
            </a:r>
            <a:r>
              <a:rPr lang="en-US" altLang="en-US"/>
              <a:t> b if and only if a ≠ b.</a:t>
            </a:r>
          </a:p>
          <a:p>
            <a:endParaRPr lang="en-US" altLang="en-US" b="1"/>
          </a:p>
          <a:p>
            <a:r>
              <a:rPr lang="pl-PL" altLang="en-US"/>
              <a:t>R</a:t>
            </a:r>
            <a:r>
              <a:rPr lang="pl-PL" altLang="en-US" baseline="-25000"/>
              <a:t>≠</a:t>
            </a:r>
            <a:r>
              <a:rPr lang="pl-PL" altLang="en-US"/>
              <a:t>={(1,2),(1,3),(1,4),(2,1),(2,3),(2,4),(3,1),(3,2),(3,4),(4,1),(4,2),(4,3)}</a:t>
            </a:r>
            <a:endParaRPr lang="en-US" altLang="en-US"/>
          </a:p>
          <a:p>
            <a:endParaRPr lang="en-US" altLang="en-US" b="1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R</a:t>
            </a:r>
            <a:r>
              <a:rPr lang="en-US" altLang="en-US" baseline="-25000">
                <a:solidFill>
                  <a:srgbClr val="FF0000"/>
                </a:solidFill>
              </a:rPr>
              <a:t>≠</a:t>
            </a:r>
            <a:r>
              <a:rPr lang="en-US" altLang="en-US">
                <a:solidFill>
                  <a:srgbClr val="FF0000"/>
                </a:solidFill>
              </a:rPr>
              <a:t> symmetric ?</a:t>
            </a:r>
          </a:p>
          <a:p>
            <a:endParaRPr lang="en-US" altLang="en-US" b="1"/>
          </a:p>
          <a:p>
            <a:r>
              <a:rPr lang="en-US" altLang="en-US" b="1"/>
              <a:t>Answer: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87DF0286-2A71-C83B-1CD3-87B4EED26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057400"/>
          <a:ext cx="4371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3100" imgH="203200" progId="Equation.3">
                  <p:embed/>
                </p:oleObj>
              </mc:Choice>
              <mc:Fallback>
                <p:oleObj name="Equation" r:id="rId3" imgW="1943100" imgH="203200" progId="Equation.3">
                  <p:embed/>
                  <p:pic>
                    <p:nvPicPr>
                      <p:cNvPr id="17412" name="Object 2">
                        <a:extLst>
                          <a:ext uri="{FF2B5EF4-FFF2-40B4-BE49-F238E27FC236}">
                            <a16:creationId xmlns:a16="http://schemas.microsoft.com/office/drawing/2014/main" id="{87DF0286-2A71-C83B-1CD3-87B4EED26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4371975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36858781-EF0F-99AD-E2D6-7B74ACE7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18435" name="TextBox 3">
            <a:extLst>
              <a:ext uri="{FF2B5EF4-FFF2-40B4-BE49-F238E27FC236}">
                <a16:creationId xmlns:a16="http://schemas.microsoft.com/office/drawing/2014/main" id="{642C35A8-4460-3E0A-CA3A-7849463B4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 transitive if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transitive?</a:t>
            </a:r>
          </a:p>
          <a:p>
            <a:endParaRPr lang="en-US" altLang="en-US" b="1"/>
          </a:p>
          <a:p>
            <a:endParaRPr lang="en-US" altLang="en-US" baseline="-25000"/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83255065-6EE9-CEEA-78E7-518F43BDEA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286000"/>
          <a:ext cx="685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" imgH="203200" progId="Equation.3">
                  <p:embed/>
                </p:oleObj>
              </mc:Choice>
              <mc:Fallback>
                <p:oleObj name="Equation" r:id="rId3" imgW="3048000" imgH="203200" progId="Equation.3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83255065-6EE9-CEEA-78E7-518F43BDEA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858000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9CC3BFB-34A1-980A-8743-D80F8173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19459" name="TextBox 3">
            <a:extLst>
              <a:ext uri="{FF2B5EF4-FFF2-40B4-BE49-F238E27FC236}">
                <a16:creationId xmlns:a16="http://schemas.microsoft.com/office/drawing/2014/main" id="{B7B12FF8-48A7-59AC-0C0B-6F11E5D0E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 transitive if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transitive?</a:t>
            </a:r>
          </a:p>
          <a:p>
            <a:endParaRPr lang="en-US" altLang="en-US" b="1"/>
          </a:p>
          <a:p>
            <a:r>
              <a:rPr lang="en-US" altLang="en-US"/>
              <a:t>• </a:t>
            </a:r>
            <a:r>
              <a:rPr lang="en-US" altLang="en-US" b="1"/>
              <a:t>Answer: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  <a:endParaRPr lang="en-US" altLang="en-US" b="1" baseline="-25000">
              <a:solidFill>
                <a:srgbClr val="FF0000"/>
              </a:solidFill>
            </a:endParaRPr>
          </a:p>
          <a:p>
            <a:endParaRPr lang="en-US" altLang="en-US" baseline="-25000"/>
          </a:p>
        </p:txBody>
      </p:sp>
      <p:graphicFrame>
        <p:nvGraphicFramePr>
          <p:cNvPr id="19460" name="Object 4">
            <a:extLst>
              <a:ext uri="{FF2B5EF4-FFF2-40B4-BE49-F238E27FC236}">
                <a16:creationId xmlns:a16="http://schemas.microsoft.com/office/drawing/2014/main" id="{12182E8B-AFB1-2D03-BBF0-2B7707AF4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286000"/>
          <a:ext cx="685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" imgH="203200" progId="Equation.3">
                  <p:embed/>
                </p:oleObj>
              </mc:Choice>
              <mc:Fallback>
                <p:oleObj name="Equation" r:id="rId3" imgW="3048000" imgH="203200" progId="Equation.3">
                  <p:embed/>
                  <p:pic>
                    <p:nvPicPr>
                      <p:cNvPr id="19460" name="Object 4">
                        <a:extLst>
                          <a:ext uri="{FF2B5EF4-FFF2-40B4-BE49-F238E27FC236}">
                            <a16:creationId xmlns:a16="http://schemas.microsoft.com/office/drawing/2014/main" id="{12182E8B-AFB1-2D03-BBF0-2B7707AF49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858000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ACEA0FE-6BFB-DCB8-0122-770288A3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20483" name="TextBox 3">
            <a:extLst>
              <a:ext uri="{FF2B5EF4-FFF2-40B4-BE49-F238E27FC236}">
                <a16:creationId xmlns:a16="http://schemas.microsoft.com/office/drawing/2014/main" id="{D4EDAB50-9489-ADAB-CC10-27FF9B64A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 transitive if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b="1"/>
              <a:t>• </a:t>
            </a:r>
            <a:r>
              <a:rPr lang="en-US" altLang="en-US"/>
              <a:t>Example 2: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≠</a:t>
            </a:r>
            <a:r>
              <a:rPr lang="en-US" altLang="en-US"/>
              <a:t> on A={1,2,3,4}, such that a R≠ b if and only if a ≠ b.</a:t>
            </a:r>
          </a:p>
          <a:p>
            <a:endParaRPr lang="en-US" altLang="en-US"/>
          </a:p>
          <a:p>
            <a:r>
              <a:rPr lang="pl-PL" altLang="en-US"/>
              <a:t>• R</a:t>
            </a:r>
            <a:r>
              <a:rPr lang="pl-PL" altLang="en-US" baseline="-25000"/>
              <a:t>≠</a:t>
            </a:r>
            <a:r>
              <a:rPr lang="pl-PL" altLang="en-US"/>
              <a:t>={(1,2),(1,3),(1,4),(2,1),(2,3),(2,4),(3,1),(3,2),(3,4),(4,1),(4,2),(4,3)}</a:t>
            </a:r>
            <a:endParaRPr lang="en-US" altLang="en-US"/>
          </a:p>
          <a:p>
            <a:endParaRPr lang="pl-PL" altLang="en-US"/>
          </a:p>
          <a:p>
            <a:r>
              <a:rPr lang="en-US" altLang="en-US">
                <a:solidFill>
                  <a:srgbClr val="FF0000"/>
                </a:solidFill>
              </a:rPr>
              <a:t>• Is R</a:t>
            </a:r>
            <a:r>
              <a:rPr lang="en-US" altLang="en-US" baseline="-25000">
                <a:solidFill>
                  <a:srgbClr val="FF0000"/>
                </a:solidFill>
              </a:rPr>
              <a:t>≠</a:t>
            </a:r>
            <a:r>
              <a:rPr lang="en-US" altLang="en-US">
                <a:solidFill>
                  <a:srgbClr val="FF0000"/>
                </a:solidFill>
              </a:rPr>
              <a:t> transitive ?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8F3ECB7B-A8E4-6319-CB9B-54AE4C8EA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286000"/>
          <a:ext cx="685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" imgH="203200" progId="Equation.3">
                  <p:embed/>
                </p:oleObj>
              </mc:Choice>
              <mc:Fallback>
                <p:oleObj name="Equation" r:id="rId3" imgW="3048000" imgH="203200" progId="Equation.3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8F3ECB7B-A8E4-6319-CB9B-54AE4C8EA6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858000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20459547-4C8B-3E3A-CDA0-970968CB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21507" name="TextBox 3">
            <a:extLst>
              <a:ext uri="{FF2B5EF4-FFF2-40B4-BE49-F238E27FC236}">
                <a16:creationId xmlns:a16="http://schemas.microsoft.com/office/drawing/2014/main" id="{5F95317C-9E48-E6BB-F73F-33F963327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382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calledtransitive if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b="1"/>
              <a:t>• </a:t>
            </a:r>
            <a:r>
              <a:rPr lang="en-US" altLang="en-US"/>
              <a:t>Example 2: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≠</a:t>
            </a:r>
            <a:r>
              <a:rPr lang="en-US" altLang="en-US"/>
              <a:t> on A={1,2,3,4}, such that a R≠ b if and only if a ≠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altLang="en-US"/>
              <a:t>R</a:t>
            </a:r>
            <a:r>
              <a:rPr lang="pl-PL" altLang="en-US" baseline="-25000"/>
              <a:t>≠</a:t>
            </a:r>
            <a:r>
              <a:rPr lang="pl-PL" altLang="en-US"/>
              <a:t>={(1,2),(1,3),(1,4),(2,1),(2,3),(2,4),(3,1),(3,2),(3,4),(4,1),(4,2),(4,3)}</a:t>
            </a:r>
            <a:endParaRPr lang="en-US" altLang="en-US"/>
          </a:p>
          <a:p>
            <a:endParaRPr lang="pl-PL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R</a:t>
            </a:r>
            <a:r>
              <a:rPr lang="en-US" altLang="en-US" baseline="-25000">
                <a:solidFill>
                  <a:srgbClr val="FF0000"/>
                </a:solidFill>
              </a:rPr>
              <a:t>≠</a:t>
            </a:r>
            <a:r>
              <a:rPr lang="en-US" altLang="en-US">
                <a:solidFill>
                  <a:srgbClr val="FF0000"/>
                </a:solidFill>
              </a:rPr>
              <a:t> transitive ? YES</a:t>
            </a:r>
          </a:p>
          <a:p>
            <a:endParaRPr lang="en-US" altLang="en-US"/>
          </a:p>
        </p:txBody>
      </p:sp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5AACCB0B-581E-F122-4CC3-3FAB6AD81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286000"/>
          <a:ext cx="685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" imgH="203200" progId="Equation.3">
                  <p:embed/>
                </p:oleObj>
              </mc:Choice>
              <mc:Fallback>
                <p:oleObj name="Equation" r:id="rId3" imgW="3048000" imgH="203200" progId="Equation.3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id="{5AACCB0B-581E-F122-4CC3-3FAB6AD81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858000" cy="4572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245C47D-358B-7568-4C43-AEC0BF23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2531" name="TextBox 4">
            <a:extLst>
              <a:ext uri="{FF2B5EF4-FFF2-40B4-BE49-F238E27FC236}">
                <a16:creationId xmlns:a16="http://schemas.microsoft.com/office/drawing/2014/main" id="{B4E7B786-1874-B4C6-283C-BDEB28F0E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Definition: Let A and B be sets. A binary relation from A to B is a subset of a Cartesian product A x B.</a:t>
            </a:r>
          </a:p>
          <a:p>
            <a:endParaRPr lang="en-US" altLang="en-US"/>
          </a:p>
          <a:p>
            <a:r>
              <a:rPr lang="en-US" altLang="en-US"/>
              <a:t>• Let                    means R is a set of ordered pairs of the form (a,b) where a </a:t>
            </a:r>
            <a:r>
              <a:rPr lang="el-GR" altLang="en-US"/>
              <a:t>ϵ</a:t>
            </a:r>
            <a:r>
              <a:rPr lang="en-US" altLang="en-US"/>
              <a:t> A and b </a:t>
            </a:r>
            <a:r>
              <a:rPr lang="el-GR" altLang="en-US"/>
              <a:t>ϵ</a:t>
            </a:r>
            <a:r>
              <a:rPr lang="en-US" altLang="en-US"/>
              <a:t> B.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Combining Relations</a:t>
            </a:r>
          </a:p>
          <a:p>
            <a:r>
              <a:rPr lang="en-US" altLang="en-US"/>
              <a:t>• Relations are </a:t>
            </a:r>
            <a:r>
              <a:rPr lang="en-US" altLang="en-US">
                <a:solidFill>
                  <a:srgbClr val="FF0000"/>
                </a:solidFill>
              </a:rPr>
              <a:t>sets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→</a:t>
            </a:r>
            <a:r>
              <a:rPr lang="en-US" altLang="en-US"/>
              <a:t>  combinations via </a:t>
            </a:r>
            <a:r>
              <a:rPr lang="en-US" altLang="en-US">
                <a:solidFill>
                  <a:srgbClr val="FF0000"/>
                </a:solidFill>
              </a:rPr>
              <a:t>set operations</a:t>
            </a:r>
          </a:p>
          <a:p>
            <a:r>
              <a:rPr lang="en-US" altLang="en-US"/>
              <a:t>• Set operations of: </a:t>
            </a:r>
            <a:r>
              <a:rPr lang="en-US" altLang="en-US">
                <a:solidFill>
                  <a:srgbClr val="FF0000"/>
                </a:solidFill>
              </a:rPr>
              <a:t>union, intersection, difference and</a:t>
            </a:r>
          </a:p>
          <a:p>
            <a:r>
              <a:rPr lang="en-US" altLang="en-US">
                <a:solidFill>
                  <a:srgbClr val="FF0000"/>
                </a:solidFill>
              </a:rPr>
              <a:t>symmetric difference</a:t>
            </a:r>
            <a:r>
              <a:rPr lang="en-US" altLang="en-US"/>
              <a:t>.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22532" name="Object 2">
            <a:extLst>
              <a:ext uri="{FF2B5EF4-FFF2-40B4-BE49-F238E27FC236}">
                <a16:creationId xmlns:a16="http://schemas.microsoft.com/office/drawing/2014/main" id="{E0027AFB-BE0A-6559-30E0-3F5AF044D1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663825"/>
          <a:ext cx="1524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190500" progId="Equation.3">
                  <p:embed/>
                </p:oleObj>
              </mc:Choice>
              <mc:Fallback>
                <p:oleObj name="Equation" r:id="rId2" imgW="647700" imgH="190500" progId="Equation.3">
                  <p:embed/>
                  <p:pic>
                    <p:nvPicPr>
                      <p:cNvPr id="22532" name="Object 2">
                        <a:extLst>
                          <a:ext uri="{FF2B5EF4-FFF2-40B4-BE49-F238E27FC236}">
                            <a16:creationId xmlns:a16="http://schemas.microsoft.com/office/drawing/2014/main" id="{E0027AFB-BE0A-6559-30E0-3F5AF044D1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63825"/>
                        <a:ext cx="15240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DC9D82F-45C7-850C-917A-E59E60DE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3555" name="TextBox 4">
            <a:extLst>
              <a:ext uri="{FF2B5EF4-FFF2-40B4-BE49-F238E27FC236}">
                <a16:creationId xmlns:a16="http://schemas.microsoft.com/office/drawing/2014/main" id="{88BDA044-0A70-7B1B-0301-133DAF3C5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{1,2,3} and B = {u,v} and</a:t>
            </a:r>
          </a:p>
          <a:p>
            <a:r>
              <a:rPr lang="pl-PL" altLang="en-US"/>
              <a:t>• R1 = {(1,u), (2,u), (2,v), (3,u)}</a:t>
            </a:r>
          </a:p>
          <a:p>
            <a:r>
              <a:rPr lang="en-US" altLang="en-US"/>
              <a:t>• R2 = {(1,v),(3,u),(3,v)}</a:t>
            </a:r>
          </a:p>
          <a:p>
            <a:endParaRPr lang="en-US" altLang="en-US"/>
          </a:p>
          <a:p>
            <a:r>
              <a:rPr lang="en-US" altLang="en-US" b="1"/>
              <a:t>What is:</a:t>
            </a:r>
          </a:p>
          <a:p>
            <a:r>
              <a:rPr lang="en-US" altLang="en-US">
                <a:solidFill>
                  <a:srgbClr val="FF0000"/>
                </a:solidFill>
              </a:rPr>
              <a:t>• R1 U R2 = 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DB829AB-3375-99BB-EB41-59BA13C6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4579" name="TextBox 4">
            <a:extLst>
              <a:ext uri="{FF2B5EF4-FFF2-40B4-BE49-F238E27FC236}">
                <a16:creationId xmlns:a16="http://schemas.microsoft.com/office/drawing/2014/main" id="{E8790D32-6D5E-2BD3-26B2-E200C8193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{1,2,3} and B = {u,v} and</a:t>
            </a:r>
          </a:p>
          <a:p>
            <a:r>
              <a:rPr lang="pl-PL" altLang="en-US"/>
              <a:t>• R1 = {(1,u), (2,u), (2,v), (3,u)}</a:t>
            </a:r>
          </a:p>
          <a:p>
            <a:r>
              <a:rPr lang="en-US" altLang="en-US"/>
              <a:t>• R2 = {(1,v),(3,u),(3,v)}</a:t>
            </a:r>
          </a:p>
          <a:p>
            <a:endParaRPr lang="en-US" altLang="en-US"/>
          </a:p>
          <a:p>
            <a:r>
              <a:rPr lang="en-US" altLang="en-US" b="1"/>
              <a:t>What is:</a:t>
            </a:r>
          </a:p>
          <a:p>
            <a:r>
              <a:rPr lang="pl-PL" altLang="en-US"/>
              <a:t>• R1 </a:t>
            </a:r>
            <a:r>
              <a:rPr lang="en-US" altLang="en-US">
                <a:solidFill>
                  <a:srgbClr val="FF0000"/>
                </a:solidFill>
              </a:rPr>
              <a:t>U</a:t>
            </a:r>
            <a:r>
              <a:rPr lang="pl-PL" altLang="en-US"/>
              <a:t> R2 = {(1,u),(1,v),(2,u),(2,v),(3,u),(3,v)}</a:t>
            </a:r>
          </a:p>
          <a:p>
            <a:r>
              <a:rPr lang="en-US" altLang="en-US">
                <a:solidFill>
                  <a:srgbClr val="FF0000"/>
                </a:solidFill>
              </a:rPr>
              <a:t>• R1 ∩ R2 = 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CB314EE-EF4E-AFB8-03AC-0018FEBE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5603" name="TextBox 4">
            <a:extLst>
              <a:ext uri="{FF2B5EF4-FFF2-40B4-BE49-F238E27FC236}">
                <a16:creationId xmlns:a16="http://schemas.microsoft.com/office/drawing/2014/main" id="{1E59539A-0948-7E59-8FB4-27840BA40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{1,2,3} and B = {u,v} and</a:t>
            </a:r>
          </a:p>
          <a:p>
            <a:r>
              <a:rPr lang="pl-PL" altLang="en-US"/>
              <a:t>• R1 = {(1,u), (2,u), (2,v), (3,u)}</a:t>
            </a:r>
          </a:p>
          <a:p>
            <a:r>
              <a:rPr lang="en-US" altLang="en-US"/>
              <a:t>• R2 = {(1,v),(3,u),(3,v)}</a:t>
            </a:r>
          </a:p>
          <a:p>
            <a:endParaRPr lang="en-US" altLang="en-US"/>
          </a:p>
          <a:p>
            <a:r>
              <a:rPr lang="en-US" altLang="en-US" b="1"/>
              <a:t>What is:</a:t>
            </a:r>
          </a:p>
          <a:p>
            <a:r>
              <a:rPr lang="pl-PL" altLang="en-US"/>
              <a:t>• R1 </a:t>
            </a:r>
            <a:r>
              <a:rPr lang="en-US" altLang="en-US">
                <a:solidFill>
                  <a:srgbClr val="FF0000"/>
                </a:solidFill>
              </a:rPr>
              <a:t>U</a:t>
            </a:r>
            <a:r>
              <a:rPr lang="pl-PL" altLang="en-US"/>
              <a:t> R2 = {(1,u),(1,v),(2,u),(2,v),(3,u),(3,v)}</a:t>
            </a:r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/>
              <a:t>R1 </a:t>
            </a:r>
            <a:r>
              <a:rPr lang="en-US" altLang="en-US">
                <a:solidFill>
                  <a:srgbClr val="FF0000"/>
                </a:solidFill>
              </a:rPr>
              <a:t>∩</a:t>
            </a:r>
            <a:r>
              <a:rPr lang="en-US" altLang="en-US"/>
              <a:t> R2 = {(3,u)}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R1 - R2 = 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C0803921-5D89-93C5-8E38-56AE2A46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6627" name="TextBox 4">
            <a:extLst>
              <a:ext uri="{FF2B5EF4-FFF2-40B4-BE49-F238E27FC236}">
                <a16:creationId xmlns:a16="http://schemas.microsoft.com/office/drawing/2014/main" id="{CFACCF58-514A-6F1C-A91B-2912851C7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{1,2,3} and B = {u,v} and</a:t>
            </a:r>
          </a:p>
          <a:p>
            <a:r>
              <a:rPr lang="pl-PL" altLang="en-US"/>
              <a:t>• R1 = {(1,u), (2,u), (2,v), (3,u)}</a:t>
            </a:r>
          </a:p>
          <a:p>
            <a:r>
              <a:rPr lang="en-US" altLang="en-US"/>
              <a:t>• R2 = {(1,v),(3,u),(3,v)}</a:t>
            </a:r>
          </a:p>
          <a:p>
            <a:endParaRPr lang="en-US" altLang="en-US"/>
          </a:p>
          <a:p>
            <a:r>
              <a:rPr lang="en-US" altLang="en-US" b="1"/>
              <a:t>What is:</a:t>
            </a:r>
          </a:p>
          <a:p>
            <a:r>
              <a:rPr lang="pl-PL" altLang="en-US"/>
              <a:t>• R1 </a:t>
            </a:r>
            <a:r>
              <a:rPr lang="en-US" altLang="en-US">
                <a:solidFill>
                  <a:srgbClr val="FF0000"/>
                </a:solidFill>
              </a:rPr>
              <a:t>U</a:t>
            </a:r>
            <a:r>
              <a:rPr lang="pl-PL" altLang="en-US"/>
              <a:t> R2 = {(1,u),(1,v),(2,u),(2,v),(3,u),(3,v)}</a:t>
            </a:r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/>
              <a:t>R1 </a:t>
            </a:r>
            <a:r>
              <a:rPr lang="en-US" altLang="en-US">
                <a:solidFill>
                  <a:srgbClr val="FF0000"/>
                </a:solidFill>
              </a:rPr>
              <a:t>∩</a:t>
            </a:r>
            <a:r>
              <a:rPr lang="en-US" altLang="en-US"/>
              <a:t> R2 = {(3,u)}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R1 </a:t>
            </a:r>
            <a:r>
              <a:rPr lang="en-US" altLang="en-US">
                <a:solidFill>
                  <a:srgbClr val="FF0000"/>
                </a:solidFill>
              </a:rPr>
              <a:t>-</a:t>
            </a:r>
            <a:r>
              <a:rPr lang="en-US" altLang="en-US"/>
              <a:t> R2 = (1,u),(2,u),(2,v)}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R2 - R1 = 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26D3A74F-9E3D-3EA6-BBAF-4220EB66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Combining Relation</a:t>
            </a:r>
            <a:endParaRPr lang="en-US" altLang="en-US"/>
          </a:p>
        </p:txBody>
      </p:sp>
      <p:sp>
        <p:nvSpPr>
          <p:cNvPr id="27651" name="TextBox 4">
            <a:extLst>
              <a:ext uri="{FF2B5EF4-FFF2-40B4-BE49-F238E27FC236}">
                <a16:creationId xmlns:a16="http://schemas.microsoft.com/office/drawing/2014/main" id="{85898E74-5302-592B-B011-1C1CE61C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Example:</a:t>
            </a:r>
          </a:p>
          <a:p>
            <a:r>
              <a:rPr lang="en-US" altLang="en-US"/>
              <a:t>• Let A = {1,2,3} and B = {u,v} and</a:t>
            </a:r>
          </a:p>
          <a:p>
            <a:r>
              <a:rPr lang="pl-PL" altLang="en-US"/>
              <a:t>• R1 = {(1,u), (2,u), (2,v), (3,u)}</a:t>
            </a:r>
          </a:p>
          <a:p>
            <a:r>
              <a:rPr lang="en-US" altLang="en-US"/>
              <a:t>• R2 = {(1,v),(3,u),(3,v)}</a:t>
            </a:r>
          </a:p>
          <a:p>
            <a:endParaRPr lang="en-US" altLang="en-US"/>
          </a:p>
          <a:p>
            <a:r>
              <a:rPr lang="en-US" altLang="en-US" b="1"/>
              <a:t>What is:</a:t>
            </a:r>
          </a:p>
          <a:p>
            <a:r>
              <a:rPr lang="pl-PL" altLang="en-US"/>
              <a:t>• R1 </a:t>
            </a:r>
            <a:r>
              <a:rPr lang="en-US" altLang="en-US">
                <a:solidFill>
                  <a:srgbClr val="FF0000"/>
                </a:solidFill>
              </a:rPr>
              <a:t>U</a:t>
            </a:r>
            <a:r>
              <a:rPr lang="pl-PL" altLang="en-US"/>
              <a:t> R2 = {(1,u),(1,v),(2,u),(2,v),(3,u),(3,v)}</a:t>
            </a:r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/>
              <a:t>R1 </a:t>
            </a:r>
            <a:r>
              <a:rPr lang="en-US" altLang="en-US">
                <a:solidFill>
                  <a:srgbClr val="FF0000"/>
                </a:solidFill>
              </a:rPr>
              <a:t>∩</a:t>
            </a:r>
            <a:r>
              <a:rPr lang="en-US" altLang="en-US"/>
              <a:t> R2 = {(3,u)}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R1 </a:t>
            </a:r>
            <a:r>
              <a:rPr lang="en-US" altLang="en-US">
                <a:solidFill>
                  <a:srgbClr val="FF0000"/>
                </a:solidFill>
              </a:rPr>
              <a:t>-</a:t>
            </a:r>
            <a:r>
              <a:rPr lang="en-US" altLang="en-US"/>
              <a:t> R2 = (1,u),(2,u),(2,v)}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R2 </a:t>
            </a:r>
            <a:r>
              <a:rPr lang="en-US" altLang="en-US">
                <a:solidFill>
                  <a:srgbClr val="FF0000"/>
                </a:solidFill>
              </a:rPr>
              <a:t>-</a:t>
            </a:r>
            <a:r>
              <a:rPr lang="en-US" altLang="en-US"/>
              <a:t> R1 = {(1,v),(3,v)}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F832E5D-8E52-4730-361D-9A6B6F2E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28675" name="TextBox 4">
            <a:extLst>
              <a:ext uri="{FF2B5EF4-FFF2-40B4-BE49-F238E27FC236}">
                <a16:creationId xmlns:a16="http://schemas.microsoft.com/office/drawing/2014/main" id="{175E107C-25B1-4F15-307D-E9CBBA00D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Definition: Let R be a relation from a set A to a set B and S a relation from B to a set C. The </a:t>
            </a:r>
            <a:r>
              <a:rPr lang="en-US" altLang="en-US">
                <a:solidFill>
                  <a:srgbClr val="FF0000"/>
                </a:solidFill>
              </a:rPr>
              <a:t>composite of R and S </a:t>
            </a:r>
            <a:r>
              <a:rPr lang="en-US" altLang="en-US"/>
              <a:t>is the relation consisting of the ordered pairs </a:t>
            </a:r>
            <a:r>
              <a:rPr lang="en-US" altLang="en-US">
                <a:solidFill>
                  <a:srgbClr val="FF0000"/>
                </a:solidFill>
              </a:rPr>
              <a:t>(a,c) </a:t>
            </a:r>
            <a:r>
              <a:rPr lang="en-US" altLang="en-US"/>
              <a:t>where </a:t>
            </a:r>
            <a:r>
              <a:rPr lang="en-US" altLang="en-US">
                <a:solidFill>
                  <a:srgbClr val="FF0000"/>
                </a:solidFill>
              </a:rPr>
              <a:t>a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A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0000"/>
                </a:solidFill>
              </a:rPr>
              <a:t>c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C</a:t>
            </a:r>
            <a:r>
              <a:rPr lang="en-US" altLang="en-US"/>
              <a:t>, and for which there is a b </a:t>
            </a:r>
            <a:r>
              <a:rPr lang="el-GR" altLang="en-US"/>
              <a:t>ϵ </a:t>
            </a:r>
            <a:r>
              <a:rPr lang="en-US" altLang="en-US"/>
              <a:t> B such that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>
                <a:solidFill>
                  <a:srgbClr val="FF0000"/>
                </a:solidFill>
              </a:rPr>
              <a:t> R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0000"/>
                </a:solidFill>
              </a:rPr>
              <a:t>(b,c)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S</a:t>
            </a:r>
            <a:r>
              <a:rPr lang="en-US" altLang="en-US"/>
              <a:t>. We denote the composite of R and S by </a:t>
            </a:r>
          </a:p>
          <a:p>
            <a:r>
              <a:rPr lang="en-US" altLang="en-US">
                <a:solidFill>
                  <a:srgbClr val="FF0000"/>
                </a:solidFill>
              </a:rPr>
              <a:t>R o S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Examples:</a:t>
            </a:r>
          </a:p>
          <a:p>
            <a:r>
              <a:rPr lang="en-US" altLang="en-US"/>
              <a:t>• Let A = {1,2,3}, B = {0,1,2} and C = {a,b}.</a:t>
            </a:r>
          </a:p>
          <a:p>
            <a:r>
              <a:rPr lang="pt-BR" altLang="en-US"/>
              <a:t>• R = {(1,0), (1,2), (3,1),(3,2)}</a:t>
            </a:r>
          </a:p>
          <a:p>
            <a:r>
              <a:rPr lang="en-US" altLang="en-US"/>
              <a:t>• S = {(0,b),(1,a),(2,b)}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RoS </a:t>
            </a:r>
            <a:r>
              <a:rPr lang="en-US" altLang="en-US"/>
              <a:t>= </a:t>
            </a:r>
            <a:r>
              <a:rPr lang="en-US" altLang="en-US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E8E9AC28-7686-49F5-4846-692883170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291138"/>
            <a:ext cx="33528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4838171-D691-657F-782C-CD2618E7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29699" name="TextBox 4">
            <a:extLst>
              <a:ext uri="{FF2B5EF4-FFF2-40B4-BE49-F238E27FC236}">
                <a16:creationId xmlns:a16="http://schemas.microsoft.com/office/drawing/2014/main" id="{631DA79E-CA78-968C-00E5-4F992310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Definition: Let R be a relation from a set A to a set B and S a relation from B to a set C. The </a:t>
            </a:r>
            <a:r>
              <a:rPr lang="en-US" altLang="en-US">
                <a:solidFill>
                  <a:srgbClr val="FF0000"/>
                </a:solidFill>
              </a:rPr>
              <a:t>composite of R and S </a:t>
            </a:r>
            <a:r>
              <a:rPr lang="en-US" altLang="en-US"/>
              <a:t>is the relation consisting of the ordered pairs </a:t>
            </a:r>
            <a:r>
              <a:rPr lang="en-US" altLang="en-US">
                <a:solidFill>
                  <a:srgbClr val="FF0000"/>
                </a:solidFill>
              </a:rPr>
              <a:t>(a,c) </a:t>
            </a:r>
            <a:r>
              <a:rPr lang="en-US" altLang="en-US"/>
              <a:t>where </a:t>
            </a:r>
            <a:r>
              <a:rPr lang="en-US" altLang="en-US">
                <a:solidFill>
                  <a:srgbClr val="FF0000"/>
                </a:solidFill>
              </a:rPr>
              <a:t>a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A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0000"/>
                </a:solidFill>
              </a:rPr>
              <a:t>c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C</a:t>
            </a:r>
            <a:r>
              <a:rPr lang="en-US" altLang="en-US"/>
              <a:t>, and for which there is a b </a:t>
            </a:r>
            <a:r>
              <a:rPr lang="el-GR" altLang="en-US"/>
              <a:t>ϵ </a:t>
            </a:r>
            <a:r>
              <a:rPr lang="en-US" altLang="en-US"/>
              <a:t> B such that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>
                <a:solidFill>
                  <a:srgbClr val="FF0000"/>
                </a:solidFill>
              </a:rPr>
              <a:t> R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0000"/>
                </a:solidFill>
              </a:rPr>
              <a:t>(b,c)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S</a:t>
            </a:r>
            <a:r>
              <a:rPr lang="en-US" altLang="en-US"/>
              <a:t>. We denote the composite of </a:t>
            </a:r>
            <a:r>
              <a:rPr lang="en-US" altLang="en-US">
                <a:solidFill>
                  <a:srgbClr val="FF0000"/>
                </a:solidFill>
              </a:rPr>
              <a:t>R and S</a:t>
            </a:r>
            <a:r>
              <a:rPr lang="en-US" altLang="en-US"/>
              <a:t> by </a:t>
            </a:r>
          </a:p>
          <a:p>
            <a:r>
              <a:rPr lang="en-US" altLang="en-US">
                <a:solidFill>
                  <a:srgbClr val="FF0000"/>
                </a:solidFill>
              </a:rPr>
              <a:t>R o S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Examples:</a:t>
            </a:r>
          </a:p>
          <a:p>
            <a:r>
              <a:rPr lang="en-US" altLang="en-US"/>
              <a:t>• Let A = {1,2,3}, B = {0,1,2} and C = {a,b}.</a:t>
            </a:r>
          </a:p>
          <a:p>
            <a:r>
              <a:rPr lang="pt-BR" altLang="en-US"/>
              <a:t>• R = {(1,0), (1,2), (3,1),(3,2)}</a:t>
            </a:r>
          </a:p>
          <a:p>
            <a:r>
              <a:rPr lang="en-US" altLang="en-US"/>
              <a:t>• S = {(0,b),(1,a),(2,b)}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RoS </a:t>
            </a:r>
            <a:r>
              <a:rPr lang="en-US" altLang="en-US"/>
              <a:t>= </a:t>
            </a:r>
            <a:r>
              <a:rPr lang="en-US" altLang="en-US">
                <a:solidFill>
                  <a:srgbClr val="FF0000"/>
                </a:solidFill>
              </a:rPr>
              <a:t>{(1,b),(3,a),(3,b)}</a:t>
            </a: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E49A412D-11EE-2C78-9839-ECCE44DEC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291138"/>
            <a:ext cx="33528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A684B7FB-DBA9-E1F8-1135-478EE6E9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0723" name="TextBox 4">
            <a:extLst>
              <a:ext uri="{FF2B5EF4-FFF2-40B4-BE49-F238E27FC236}">
                <a16:creationId xmlns:a16="http://schemas.microsoft.com/office/drawing/2014/main" id="{A3187526-96EA-D34A-1FB1-59D066E9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97343D6-D7A4-17EF-4D9B-C1716609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1747" name="TextBox 4">
            <a:extLst>
              <a:ext uri="{FF2B5EF4-FFF2-40B4-BE49-F238E27FC236}">
                <a16:creationId xmlns:a16="http://schemas.microsoft.com/office/drawing/2014/main" id="{F82BCC2A-29B6-68B5-B356-A86A82990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{(1,2),(2,3),(2,4), (3,3)}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= 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B6F2856-9D7B-7A38-1AC1-F3C52579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2771" name="TextBox 4">
            <a:extLst>
              <a:ext uri="{FF2B5EF4-FFF2-40B4-BE49-F238E27FC236}">
                <a16:creationId xmlns:a16="http://schemas.microsoft.com/office/drawing/2014/main" id="{7750CF3E-67E6-AEF6-EF40-145116FDF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{(1,2),(2,3),(2,4), (3,3)}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(1,4),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3  </a:t>
            </a:r>
            <a:r>
              <a:rPr lang="en-US" altLang="en-US">
                <a:solidFill>
                  <a:srgbClr val="FF0000"/>
                </a:solidFill>
              </a:rPr>
              <a:t> = 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DAA8C4C5-1880-EFCE-63EA-AF31454D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3795" name="TextBox 4">
            <a:extLst>
              <a:ext uri="{FF2B5EF4-FFF2-40B4-BE49-F238E27FC236}">
                <a16:creationId xmlns:a16="http://schemas.microsoft.com/office/drawing/2014/main" id="{3E8B5638-D686-73D2-A945-30C0BDFF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{(1,2),(2,3),(2,4), (3,3)}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(1,4),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3  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4  </a:t>
            </a:r>
            <a:r>
              <a:rPr lang="en-US" altLang="en-US">
                <a:solidFill>
                  <a:srgbClr val="FF0000"/>
                </a:solidFill>
              </a:rPr>
              <a:t> =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B62E9AF-1305-F4B8-080E-5D165335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4819" name="TextBox 4">
            <a:extLst>
              <a:ext uri="{FF2B5EF4-FFF2-40B4-BE49-F238E27FC236}">
                <a16:creationId xmlns:a16="http://schemas.microsoft.com/office/drawing/2014/main" id="{BBE27559-9088-1460-8409-D25E6431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{(1,2),(2,3),(2,4), (3,3)}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(1,4),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3  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4  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k  </a:t>
            </a:r>
            <a:r>
              <a:rPr lang="en-US" altLang="en-US">
                <a:solidFill>
                  <a:srgbClr val="FF0000"/>
                </a:solidFill>
              </a:rPr>
              <a:t> = ? when k&gt;3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365788AD-E837-E2A6-C839-F6F7E3FB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Composite Relation</a:t>
            </a:r>
            <a:endParaRPr lang="en-US" altLang="en-US"/>
          </a:p>
        </p:txBody>
      </p:sp>
      <p:sp>
        <p:nvSpPr>
          <p:cNvPr id="35843" name="TextBox 4">
            <a:extLst>
              <a:ext uri="{FF2B5EF4-FFF2-40B4-BE49-F238E27FC236}">
                <a16:creationId xmlns:a16="http://schemas.microsoft.com/office/drawing/2014/main" id="{1C16831A-60B4-0CF4-DEAC-9C0AB9B93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Let R be a relation on a set A. The </a:t>
            </a:r>
            <a:r>
              <a:rPr lang="en-US" altLang="en-US">
                <a:solidFill>
                  <a:srgbClr val="FF0000"/>
                </a:solidFill>
              </a:rPr>
              <a:t>powers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, n = 1,2,3,... is defined inductively by</a:t>
            </a:r>
          </a:p>
          <a:p>
            <a:endParaRPr lang="en-US" altLang="en-US"/>
          </a:p>
          <a:p>
            <a:r>
              <a:rPr lang="pt-BR" altLang="en-US"/>
              <a:t>• R</a:t>
            </a:r>
            <a:r>
              <a:rPr lang="pt-BR" altLang="en-US" baseline="30000"/>
              <a:t>1</a:t>
            </a:r>
            <a:r>
              <a:rPr lang="pt-BR" altLang="en-US"/>
              <a:t> = R </a:t>
            </a:r>
            <a:r>
              <a:rPr lang="pt-BR" altLang="en-US">
                <a:solidFill>
                  <a:srgbClr val="FF0000"/>
                </a:solidFill>
              </a:rPr>
              <a:t>and</a:t>
            </a:r>
            <a:r>
              <a:rPr lang="pt-BR" altLang="en-US"/>
              <a:t> R</a:t>
            </a:r>
            <a:r>
              <a:rPr lang="pt-BR" altLang="en-US" baseline="30000"/>
              <a:t>n+1</a:t>
            </a:r>
            <a:r>
              <a:rPr lang="pt-BR" altLang="en-US"/>
              <a:t> = R</a:t>
            </a:r>
            <a:r>
              <a:rPr lang="pt-BR" altLang="en-US" baseline="30000"/>
              <a:t>n</a:t>
            </a:r>
            <a:r>
              <a:rPr lang="pt-BR" altLang="en-US"/>
              <a:t> O R.</a:t>
            </a:r>
          </a:p>
          <a:p>
            <a:endParaRPr lang="pt-BR" altLang="en-US"/>
          </a:p>
          <a:p>
            <a:r>
              <a:rPr lang="en-US" altLang="en-US"/>
              <a:t>Examples</a:t>
            </a:r>
          </a:p>
          <a:p>
            <a:r>
              <a:rPr lang="en-US" altLang="en-US"/>
              <a:t>• R = {(1,2),(2,3),(2,4), (3,3)} is a relation on A = {1,2,3,4}.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{(1,2),(2,3),(2,4), (3,3)}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(1,4),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3  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4  </a:t>
            </a:r>
            <a:r>
              <a:rPr lang="en-US" altLang="en-US">
                <a:solidFill>
                  <a:srgbClr val="FF0000"/>
                </a:solidFill>
              </a:rPr>
              <a:t> = </a:t>
            </a:r>
            <a:r>
              <a:rPr lang="en-US" altLang="en-US"/>
              <a:t>{(1,3), (2,3), (3,3)}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k  </a:t>
            </a:r>
            <a:r>
              <a:rPr lang="en-US" altLang="en-US">
                <a:solidFill>
                  <a:srgbClr val="FF0000"/>
                </a:solidFill>
              </a:rPr>
              <a:t> = {(1,3), (2,3), (3,3)}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5E39053-F45F-86A5-6006-DD9ED275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36867" name="TextBox 3">
            <a:extLst>
              <a:ext uri="{FF2B5EF4-FFF2-40B4-BE49-F238E27FC236}">
                <a16:creationId xmlns:a16="http://schemas.microsoft.com/office/drawing/2014/main" id="{8F4FD033-035A-3BB7-23A4-CFA12169E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534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 transitive if</a:t>
            </a:r>
          </a:p>
          <a:p>
            <a:r>
              <a:rPr lang="en-US" altLang="en-US"/>
              <a:t>• [(a,b) </a:t>
            </a:r>
            <a:r>
              <a:rPr lang="el-GR" altLang="en-US"/>
              <a:t>ϵ </a:t>
            </a:r>
            <a:r>
              <a:rPr lang="en-US" altLang="en-US"/>
              <a:t>R and (b,c) </a:t>
            </a:r>
            <a:r>
              <a:rPr lang="el-GR" altLang="en-US"/>
              <a:t>ϵ </a:t>
            </a:r>
            <a:r>
              <a:rPr lang="en-US" altLang="en-US"/>
              <a:t> R]  </a:t>
            </a:r>
            <a:r>
              <a:rPr lang="en-US" altLang="en-US">
                <a:solidFill>
                  <a:srgbClr val="FF0000"/>
                </a:solidFill>
              </a:rPr>
              <a:t>→</a:t>
            </a:r>
            <a:r>
              <a:rPr lang="en-US" altLang="en-US"/>
              <a:t> (a,c) </a:t>
            </a:r>
            <a:r>
              <a:rPr lang="el-GR" altLang="en-US"/>
              <a:t>ϵ </a:t>
            </a:r>
            <a:r>
              <a:rPr lang="en-US" altLang="en-US"/>
              <a:t>R for all a, b, c </a:t>
            </a:r>
            <a:r>
              <a:rPr lang="el-GR" altLang="en-US"/>
              <a:t>ϵ </a:t>
            </a:r>
            <a:r>
              <a:rPr lang="en-US" altLang="en-US"/>
              <a:t>A.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 3),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transitive?</a:t>
            </a:r>
          </a:p>
          <a:p>
            <a:endParaRPr lang="en-US" altLang="en-US" b="1"/>
          </a:p>
          <a:p>
            <a:endParaRPr lang="en-US" altLang="en-US" b="1" baseline="-25000">
              <a:solidFill>
                <a:srgbClr val="FF0000"/>
              </a:solidFill>
            </a:endParaRPr>
          </a:p>
          <a:p>
            <a:endParaRPr lang="en-US" altLang="en-US" baseline="-25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C109FFD-3DFE-B2EC-C225-FFCFDD30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Transitive Relation</a:t>
            </a:r>
            <a:endParaRPr lang="en-US" altLang="en-US"/>
          </a:p>
        </p:txBody>
      </p:sp>
      <p:sp>
        <p:nvSpPr>
          <p:cNvPr id="37891" name="TextBox 3">
            <a:extLst>
              <a:ext uri="{FF2B5EF4-FFF2-40B4-BE49-F238E27FC236}">
                <a16:creationId xmlns:a16="http://schemas.microsoft.com/office/drawing/2014/main" id="{E78175A4-AEF5-EC00-BE5C-190F404A8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8899525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/>
              <a:t>Definition (transitive relation): A relation R on a set A is called transitive if</a:t>
            </a:r>
          </a:p>
          <a:p>
            <a:r>
              <a:rPr lang="en-US" altLang="en-US"/>
              <a:t>• [(a,b) </a:t>
            </a:r>
            <a:r>
              <a:rPr lang="el-GR" altLang="en-US"/>
              <a:t>ϵ </a:t>
            </a:r>
            <a:r>
              <a:rPr lang="en-US" altLang="en-US"/>
              <a:t>R and (b,c) </a:t>
            </a:r>
            <a:r>
              <a:rPr lang="el-GR" altLang="en-US"/>
              <a:t>ϵ </a:t>
            </a:r>
            <a:r>
              <a:rPr lang="en-US" altLang="en-US"/>
              <a:t> R]  </a:t>
            </a:r>
            <a:r>
              <a:rPr lang="en-US" altLang="en-US">
                <a:solidFill>
                  <a:srgbClr val="FF0000"/>
                </a:solidFill>
              </a:rPr>
              <a:t>→</a:t>
            </a:r>
            <a:r>
              <a:rPr lang="en-US" altLang="en-US"/>
              <a:t> (a,c) </a:t>
            </a:r>
            <a:r>
              <a:rPr lang="el-GR" altLang="en-US"/>
              <a:t>ϵ </a:t>
            </a:r>
            <a:r>
              <a:rPr lang="en-US" altLang="en-US"/>
              <a:t>R for all a, b, c </a:t>
            </a:r>
            <a:r>
              <a:rPr lang="el-GR" altLang="en-US"/>
              <a:t>ϵ </a:t>
            </a:r>
            <a:r>
              <a:rPr lang="en-US" altLang="en-US"/>
              <a:t>A.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 b="1"/>
              <a:t>Example 1:</a:t>
            </a:r>
          </a:p>
          <a:p>
            <a:endParaRPr lang="en-US" altLang="en-US" b="1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={(a b), if a |b} on A = {1,2,3,4}</a:t>
            </a:r>
          </a:p>
          <a:p>
            <a:endParaRPr lang="en-US" altLang="en-US"/>
          </a:p>
          <a:p>
            <a:r>
              <a:rPr lang="en-US" altLang="en-US"/>
              <a:t>• R</a:t>
            </a:r>
            <a:r>
              <a:rPr lang="en-US" altLang="en-US" baseline="-25000"/>
              <a:t>div</a:t>
            </a:r>
            <a:r>
              <a:rPr lang="en-US" altLang="en-US"/>
              <a:t> = {(1,1), (1,2), (1,3), (1,4), (2,2), (2, 3), (2,4), (3,3), (4,4)}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• </a:t>
            </a:r>
            <a:r>
              <a:rPr lang="en-US" altLang="en-US" b="1">
                <a:solidFill>
                  <a:srgbClr val="FF0000"/>
                </a:solidFill>
              </a:rPr>
              <a:t>Is R</a:t>
            </a:r>
            <a:r>
              <a:rPr lang="en-US" altLang="en-US" b="1" baseline="-25000">
                <a:solidFill>
                  <a:srgbClr val="FF0000"/>
                </a:solidFill>
              </a:rPr>
              <a:t>div</a:t>
            </a:r>
            <a:r>
              <a:rPr lang="en-US" altLang="en-US" b="1">
                <a:solidFill>
                  <a:srgbClr val="FF0000"/>
                </a:solidFill>
              </a:rPr>
              <a:t> transitive?</a:t>
            </a:r>
          </a:p>
          <a:p>
            <a:endParaRPr lang="en-US" altLang="en-US" b="1"/>
          </a:p>
          <a:p>
            <a:r>
              <a:rPr lang="en-US" altLang="en-US"/>
              <a:t>• </a:t>
            </a:r>
            <a:r>
              <a:rPr lang="en-US" altLang="en-US" b="1"/>
              <a:t>Answer: </a:t>
            </a:r>
            <a:r>
              <a:rPr lang="en-US" altLang="en-US" b="1">
                <a:solidFill>
                  <a:srgbClr val="FF0000"/>
                </a:solidFill>
              </a:rPr>
              <a:t>Yes.</a:t>
            </a:r>
            <a:endParaRPr lang="en-US" altLang="en-US" b="1" baseline="-25000">
              <a:solidFill>
                <a:srgbClr val="FF0000"/>
              </a:solidFill>
            </a:endParaRPr>
          </a:p>
          <a:p>
            <a:endParaRPr lang="en-US" altLang="en-US" baseline="-25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A794A927-5BF9-E7B4-9700-AFF6574B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38915" name="TextBox 4">
            <a:extLst>
              <a:ext uri="{FF2B5EF4-FFF2-40B4-BE49-F238E27FC236}">
                <a16:creationId xmlns:a16="http://schemas.microsoft.com/office/drawing/2014/main" id="{191F633B-5348-BB71-5F23-18FDB9D23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Let R={(1,1),(1,2),(2,1),(3,2)} on A ={1 2 3}.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this relation reflexive?</a:t>
            </a:r>
          </a:p>
          <a:p>
            <a:endParaRPr lang="en-US" altLang="en-US"/>
          </a:p>
          <a:p>
            <a:r>
              <a:rPr lang="en-US" altLang="en-US"/>
              <a:t>• Answer: </a:t>
            </a:r>
            <a:r>
              <a:rPr lang="en-US" altLang="en-US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C6239F2-3C8B-4CFC-28F4-89D573E65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39939" name="TextBox 4">
            <a:extLst>
              <a:ext uri="{FF2B5EF4-FFF2-40B4-BE49-F238E27FC236}">
                <a16:creationId xmlns:a16="http://schemas.microsoft.com/office/drawing/2014/main" id="{928FEF01-FD6C-183C-E5D8-6AC1EA207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Let R={(1,1),(1,2),(2,1),(3,2)} on A ={1 2 3}.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this relation reflexive?</a:t>
            </a:r>
          </a:p>
          <a:p>
            <a:endParaRPr lang="en-US" altLang="en-US"/>
          </a:p>
          <a:p>
            <a:r>
              <a:rPr lang="en-US" altLang="en-US"/>
              <a:t>• Answer: </a:t>
            </a:r>
            <a:r>
              <a:rPr lang="en-US" altLang="en-US">
                <a:solidFill>
                  <a:srgbClr val="FF0000"/>
                </a:solidFill>
              </a:rPr>
              <a:t>No </a:t>
            </a:r>
            <a:r>
              <a:rPr lang="en-US" altLang="en-US"/>
              <a:t>(2,2) and (3,3) is not in R.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/>
              <a:t>The question is </a:t>
            </a:r>
            <a:r>
              <a:rPr lang="en-US" altLang="en-US">
                <a:solidFill>
                  <a:srgbClr val="FF0000"/>
                </a:solidFill>
              </a:rPr>
              <a:t>what is the minimal relation</a:t>
            </a:r>
            <a:r>
              <a:rPr lang="en-US" altLang="en-US"/>
              <a:t>               that is</a:t>
            </a:r>
          </a:p>
          <a:p>
            <a:r>
              <a:rPr lang="en-US" altLang="en-US"/>
              <a:t>reflexive?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How to make R reflexive</a:t>
            </a:r>
            <a:r>
              <a:rPr lang="en-US" altLang="en-US"/>
              <a:t> with minimum number of additions?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Answer: ?</a:t>
            </a:r>
          </a:p>
        </p:txBody>
      </p:sp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182317B0-771F-1215-4A58-09DCD0151A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4114800"/>
          <a:ext cx="8953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190500" progId="Equation.3">
                  <p:embed/>
                </p:oleObj>
              </mc:Choice>
              <mc:Fallback>
                <p:oleObj name="Equation" r:id="rId2" imgW="419100" imgH="190500" progId="Equation.3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182317B0-771F-1215-4A58-09DCD0151A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114800"/>
                        <a:ext cx="8953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3DA1835-72D8-3968-A9E4-896C2975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0963" name="TextBox 4">
            <a:extLst>
              <a:ext uri="{FF2B5EF4-FFF2-40B4-BE49-F238E27FC236}">
                <a16:creationId xmlns:a16="http://schemas.microsoft.com/office/drawing/2014/main" id="{E15AF3B6-EA3D-970A-ADD5-7333D489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Let R={(1,1),(1,2),(2,1),(3,2)} on A ={1 2 3}.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this relation reflexive?</a:t>
            </a:r>
            <a:endParaRPr lang="en-US" altLang="en-US"/>
          </a:p>
          <a:p>
            <a:r>
              <a:rPr lang="en-US" altLang="en-US"/>
              <a:t>• Answer: </a:t>
            </a:r>
            <a:r>
              <a:rPr lang="en-US" altLang="en-US">
                <a:solidFill>
                  <a:srgbClr val="FF0000"/>
                </a:solidFill>
              </a:rPr>
              <a:t>No </a:t>
            </a:r>
            <a:r>
              <a:rPr lang="en-US" altLang="en-US"/>
              <a:t>(2,2) and (3,3) is not in R.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/>
              <a:t>The question is </a:t>
            </a:r>
            <a:r>
              <a:rPr lang="en-US" altLang="en-US">
                <a:solidFill>
                  <a:srgbClr val="FF0000"/>
                </a:solidFill>
              </a:rPr>
              <a:t>what is the minimal relation</a:t>
            </a:r>
            <a:r>
              <a:rPr lang="en-US" altLang="en-US"/>
              <a:t>               that is</a:t>
            </a:r>
          </a:p>
          <a:p>
            <a:r>
              <a:rPr lang="en-US" altLang="en-US"/>
              <a:t>reflexive?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How to make R reflexive</a:t>
            </a:r>
            <a:r>
              <a:rPr lang="en-US" altLang="en-US"/>
              <a:t> with minimum number of additions?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Answer: ?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Add (2,2) and (3,3)</a:t>
            </a:r>
          </a:p>
          <a:p>
            <a:r>
              <a:rPr lang="en-US" altLang="en-US"/>
              <a:t>• Then </a:t>
            </a:r>
            <a:r>
              <a:rPr lang="en-US" altLang="en-US">
                <a:solidFill>
                  <a:srgbClr val="FF0000"/>
                </a:solidFill>
              </a:rPr>
              <a:t>S</a:t>
            </a:r>
            <a:r>
              <a:rPr lang="en-US" altLang="en-US"/>
              <a:t>= {(1,1),(1,2),(2,1),(3,2),(2,2),(3,3)}</a:t>
            </a:r>
          </a:p>
          <a:p>
            <a:r>
              <a:rPr lang="en-US" altLang="en-US"/>
              <a:t>• </a:t>
            </a:r>
          </a:p>
          <a:p>
            <a:r>
              <a:rPr lang="en-US" altLang="en-US"/>
              <a:t>• The minimal set            is called </a:t>
            </a:r>
            <a:r>
              <a:rPr lang="en-US" altLang="en-US" b="1"/>
              <a:t>the </a:t>
            </a:r>
            <a:r>
              <a:rPr lang="en-US" altLang="en-US" b="1">
                <a:solidFill>
                  <a:srgbClr val="FF0000"/>
                </a:solidFill>
              </a:rPr>
              <a:t>reflexive closure </a:t>
            </a:r>
            <a:r>
              <a:rPr lang="en-US" altLang="en-US" b="1"/>
              <a:t>of R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40964" name="Object 2">
            <a:extLst>
              <a:ext uri="{FF2B5EF4-FFF2-40B4-BE49-F238E27FC236}">
                <a16:creationId xmlns:a16="http://schemas.microsoft.com/office/drawing/2014/main" id="{8CF4890D-7BBC-A1CA-8396-1915D7298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3429000"/>
          <a:ext cx="8953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190500" progId="Equation.3">
                  <p:embed/>
                </p:oleObj>
              </mc:Choice>
              <mc:Fallback>
                <p:oleObj name="Equation" r:id="rId2" imgW="419100" imgH="190500" progId="Equation.3">
                  <p:embed/>
                  <p:pic>
                    <p:nvPicPr>
                      <p:cNvPr id="40964" name="Object 2">
                        <a:extLst>
                          <a:ext uri="{FF2B5EF4-FFF2-40B4-BE49-F238E27FC236}">
                            <a16:creationId xmlns:a16="http://schemas.microsoft.com/office/drawing/2014/main" id="{8CF4890D-7BBC-A1CA-8396-1915D7298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429000"/>
                        <a:ext cx="8953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3">
            <a:extLst>
              <a:ext uri="{FF2B5EF4-FFF2-40B4-BE49-F238E27FC236}">
                <a16:creationId xmlns:a16="http://schemas.microsoft.com/office/drawing/2014/main" id="{C93A5705-CCF3-7BE4-A1C8-5700CB05B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562600"/>
          <a:ext cx="8953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190500" progId="Equation.3">
                  <p:embed/>
                </p:oleObj>
              </mc:Choice>
              <mc:Fallback>
                <p:oleObj name="Equation" r:id="rId4" imgW="419100" imgH="190500" progId="Equation.3">
                  <p:embed/>
                  <p:pic>
                    <p:nvPicPr>
                      <p:cNvPr id="40965" name="Object 3">
                        <a:extLst>
                          <a:ext uri="{FF2B5EF4-FFF2-40B4-BE49-F238E27FC236}">
                            <a16:creationId xmlns:a16="http://schemas.microsoft.com/office/drawing/2014/main" id="{C93A5705-CCF3-7BE4-A1C8-5700CB05B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62600"/>
                        <a:ext cx="8953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4">
            <a:extLst>
              <a:ext uri="{FF2B5EF4-FFF2-40B4-BE49-F238E27FC236}">
                <a16:creationId xmlns:a16="http://schemas.microsoft.com/office/drawing/2014/main" id="{90490634-7BC9-C8A9-E02F-453E90AA5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5943600"/>
          <a:ext cx="8953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190500" progId="Equation.3">
                  <p:embed/>
                </p:oleObj>
              </mc:Choice>
              <mc:Fallback>
                <p:oleObj name="Equation" r:id="rId6" imgW="419100" imgH="190500" progId="Equation.3">
                  <p:embed/>
                  <p:pic>
                    <p:nvPicPr>
                      <p:cNvPr id="40966" name="Object 4">
                        <a:extLst>
                          <a:ext uri="{FF2B5EF4-FFF2-40B4-BE49-F238E27FC236}">
                            <a16:creationId xmlns:a16="http://schemas.microsoft.com/office/drawing/2014/main" id="{90490634-7BC9-C8A9-E02F-453E90AA5E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943600"/>
                        <a:ext cx="8953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55DECD0C-A1B2-E690-1CD0-9C1C2C98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1987" name="TextBox 4">
            <a:extLst>
              <a:ext uri="{FF2B5EF4-FFF2-40B4-BE49-F238E27FC236}">
                <a16:creationId xmlns:a16="http://schemas.microsoft.com/office/drawing/2014/main" id="{A015E2F1-E65F-CC73-FFBE-B2F408A94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Relations can have different properties: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reflexive,</a:t>
            </a:r>
          </a:p>
          <a:p>
            <a:r>
              <a:rPr lang="en-US" altLang="en-US">
                <a:solidFill>
                  <a:srgbClr val="FF0000"/>
                </a:solidFill>
              </a:rPr>
              <a:t>• symmetric</a:t>
            </a:r>
          </a:p>
          <a:p>
            <a:r>
              <a:rPr lang="en-US" altLang="en-US">
                <a:solidFill>
                  <a:srgbClr val="FF0000"/>
                </a:solidFill>
              </a:rPr>
              <a:t>• transitive</a:t>
            </a:r>
          </a:p>
          <a:p>
            <a:endParaRPr lang="en-US" altLang="en-US"/>
          </a:p>
          <a:p>
            <a:r>
              <a:rPr lang="en-US" altLang="en-US"/>
              <a:t>• Because of that we define:</a:t>
            </a:r>
          </a:p>
          <a:p>
            <a:r>
              <a:rPr lang="en-US" altLang="en-US"/>
              <a:t>• reflexive,</a:t>
            </a:r>
          </a:p>
          <a:p>
            <a:r>
              <a:rPr lang="en-US" altLang="en-US"/>
              <a:t>• symmetric and</a:t>
            </a:r>
          </a:p>
          <a:p>
            <a:r>
              <a:rPr lang="en-US" altLang="en-US"/>
              <a:t>• transitive</a:t>
            </a:r>
          </a:p>
          <a:p>
            <a:r>
              <a:rPr lang="en-US" altLang="en-US">
                <a:solidFill>
                  <a:srgbClr val="FF0000"/>
                </a:solidFill>
              </a:rPr>
              <a:t>closures.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5C80322-45FE-59A5-CF53-B199DD81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3011" name="TextBox 4">
            <a:extLst>
              <a:ext uri="{FF2B5EF4-FFF2-40B4-BE49-F238E27FC236}">
                <a16:creationId xmlns:a16="http://schemas.microsoft.com/office/drawing/2014/main" id="{4B5AA154-4355-B713-5E3E-097D2CAF9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Let R be a relation on a set A.  A relation S on A with property P is called the </a:t>
            </a:r>
            <a:r>
              <a:rPr lang="en-US" altLang="en-US">
                <a:solidFill>
                  <a:srgbClr val="FF0000"/>
                </a:solidFill>
              </a:rPr>
              <a:t>closure of R with respect to P </a:t>
            </a:r>
            <a:r>
              <a:rPr lang="en-US" altLang="en-US"/>
              <a:t>if S is a subset of every relation Q (           ) with property P that contains R (            ).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43012" name="Object 2">
            <a:extLst>
              <a:ext uri="{FF2B5EF4-FFF2-40B4-BE49-F238E27FC236}">
                <a16:creationId xmlns:a16="http://schemas.microsoft.com/office/drawing/2014/main" id="{1ABFC064-3D13-8A5D-9276-404F6FAD1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03112" progId="Equation.3">
                  <p:embed/>
                </p:oleObj>
              </mc:Choice>
              <mc:Fallback>
                <p:oleObj name="Equation" r:id="rId2" imgW="431613" imgH="203112" progId="Equation.3">
                  <p:embed/>
                  <p:pic>
                    <p:nvPicPr>
                      <p:cNvPr id="43012" name="Object 2">
                        <a:extLst>
                          <a:ext uri="{FF2B5EF4-FFF2-40B4-BE49-F238E27FC236}">
                            <a16:creationId xmlns:a16="http://schemas.microsoft.com/office/drawing/2014/main" id="{1ABFC064-3D13-8A5D-9276-404F6FAD1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3">
            <a:extLst>
              <a:ext uri="{FF2B5EF4-FFF2-40B4-BE49-F238E27FC236}">
                <a16:creationId xmlns:a16="http://schemas.microsoft.com/office/drawing/2014/main" id="{8C25465F-949E-F55B-2D99-651092E47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667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03112" progId="Equation.3">
                  <p:embed/>
                </p:oleObj>
              </mc:Choice>
              <mc:Fallback>
                <p:oleObj name="Equation" r:id="rId4" imgW="431613" imgH="203112" progId="Equation.3">
                  <p:embed/>
                  <p:pic>
                    <p:nvPicPr>
                      <p:cNvPr id="43013" name="Object 3">
                        <a:extLst>
                          <a:ext uri="{FF2B5EF4-FFF2-40B4-BE49-F238E27FC236}">
                            <a16:creationId xmlns:a16="http://schemas.microsoft.com/office/drawing/2014/main" id="{8C25465F-949E-F55B-2D99-651092E47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AC835FEA-F374-3234-88F9-70595D0B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4035" name="TextBox 4">
            <a:extLst>
              <a:ext uri="{FF2B5EF4-FFF2-40B4-BE49-F238E27FC236}">
                <a16:creationId xmlns:a16="http://schemas.microsoft.com/office/drawing/2014/main" id="{3B229002-7716-63F9-3E59-75EB2D11C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Let R be a relation on a set A.  A relation S on A with property P is called the </a:t>
            </a:r>
            <a:r>
              <a:rPr lang="en-US" altLang="en-US">
                <a:solidFill>
                  <a:srgbClr val="FF0000"/>
                </a:solidFill>
              </a:rPr>
              <a:t>closure of R with respect to P </a:t>
            </a:r>
            <a:r>
              <a:rPr lang="en-US" altLang="en-US"/>
              <a:t>if S is a subset of every relation Q (           ) with property P that contains R (            ).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b="1"/>
              <a:t>Example (symmetric closure):</a:t>
            </a:r>
          </a:p>
          <a:p>
            <a:r>
              <a:rPr lang="pt-BR" altLang="en-US"/>
              <a:t>• Assume R={(1,2),(1,3), (2,2)} on A={1,2,3}.</a:t>
            </a:r>
          </a:p>
          <a:p>
            <a:endParaRPr lang="pt-BR" altLang="en-US"/>
          </a:p>
          <a:p>
            <a:r>
              <a:rPr lang="en-US" altLang="en-US"/>
              <a:t>• What is the </a:t>
            </a:r>
            <a:r>
              <a:rPr lang="en-US" altLang="en-US">
                <a:solidFill>
                  <a:srgbClr val="FF0000"/>
                </a:solidFill>
              </a:rPr>
              <a:t>symmetric closure </a:t>
            </a:r>
            <a:r>
              <a:rPr lang="en-US" altLang="en-US"/>
              <a:t>S of R?</a:t>
            </a:r>
          </a:p>
          <a:p>
            <a:endParaRPr lang="en-US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S=?</a:t>
            </a:r>
          </a:p>
        </p:txBody>
      </p:sp>
      <p:graphicFrame>
        <p:nvGraphicFramePr>
          <p:cNvPr id="44036" name="Object 2">
            <a:extLst>
              <a:ext uri="{FF2B5EF4-FFF2-40B4-BE49-F238E27FC236}">
                <a16:creationId xmlns:a16="http://schemas.microsoft.com/office/drawing/2014/main" id="{DB3F26D5-C3C9-18D5-0075-C658EC3D4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03112" progId="Equation.3">
                  <p:embed/>
                </p:oleObj>
              </mc:Choice>
              <mc:Fallback>
                <p:oleObj name="Equation" r:id="rId2" imgW="431613" imgH="203112" progId="Equation.3">
                  <p:embed/>
                  <p:pic>
                    <p:nvPicPr>
                      <p:cNvPr id="44036" name="Object 2">
                        <a:extLst>
                          <a:ext uri="{FF2B5EF4-FFF2-40B4-BE49-F238E27FC236}">
                            <a16:creationId xmlns:a16="http://schemas.microsoft.com/office/drawing/2014/main" id="{DB3F26D5-C3C9-18D5-0075-C658EC3D4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3">
            <a:extLst>
              <a:ext uri="{FF2B5EF4-FFF2-40B4-BE49-F238E27FC236}">
                <a16:creationId xmlns:a16="http://schemas.microsoft.com/office/drawing/2014/main" id="{D485D365-63E8-11D3-B392-42B7DE341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667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03112" progId="Equation.3">
                  <p:embed/>
                </p:oleObj>
              </mc:Choice>
              <mc:Fallback>
                <p:oleObj name="Equation" r:id="rId4" imgW="431613" imgH="203112" progId="Equation.3">
                  <p:embed/>
                  <p:pic>
                    <p:nvPicPr>
                      <p:cNvPr id="44037" name="Object 3">
                        <a:extLst>
                          <a:ext uri="{FF2B5EF4-FFF2-40B4-BE49-F238E27FC236}">
                            <a16:creationId xmlns:a16="http://schemas.microsoft.com/office/drawing/2014/main" id="{D485D365-63E8-11D3-B392-42B7DE3416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C8573F51-4F93-0E5B-C167-F2FBE73D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5059" name="TextBox 4">
            <a:extLst>
              <a:ext uri="{FF2B5EF4-FFF2-40B4-BE49-F238E27FC236}">
                <a16:creationId xmlns:a16="http://schemas.microsoft.com/office/drawing/2014/main" id="{6F8E1FFC-7837-4F88-A47B-AF74A8753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Let R be a relation on a set A.  A relation S on A with property P is called the </a:t>
            </a:r>
            <a:r>
              <a:rPr lang="en-US" altLang="en-US">
                <a:solidFill>
                  <a:srgbClr val="FF0000"/>
                </a:solidFill>
              </a:rPr>
              <a:t>closure of R with respect to P </a:t>
            </a:r>
            <a:r>
              <a:rPr lang="en-US" altLang="en-US"/>
              <a:t>if S is a subset of every relation Q (           ) with property P that contains R (            ).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b="1"/>
              <a:t>Example (symmetric closure):</a:t>
            </a:r>
          </a:p>
          <a:p>
            <a:r>
              <a:rPr lang="pt-BR" altLang="en-US"/>
              <a:t>• Assume R={(1,2),(1,3), (2,2)} on A={1,2,3}.</a:t>
            </a:r>
          </a:p>
          <a:p>
            <a:endParaRPr lang="pt-BR" altLang="en-US"/>
          </a:p>
          <a:p>
            <a:r>
              <a:rPr lang="en-US" altLang="en-US"/>
              <a:t>• What is the </a:t>
            </a:r>
            <a:r>
              <a:rPr lang="en-US" altLang="en-US">
                <a:solidFill>
                  <a:srgbClr val="FF0000"/>
                </a:solidFill>
              </a:rPr>
              <a:t>symmetric closure </a:t>
            </a:r>
            <a:r>
              <a:rPr lang="en-US" altLang="en-US"/>
              <a:t>S of R?</a:t>
            </a:r>
          </a:p>
          <a:p>
            <a:endParaRPr lang="en-US" altLang="en-US"/>
          </a:p>
          <a:p>
            <a:r>
              <a:rPr lang="en-US" altLang="en-US"/>
              <a:t>• S = {(1,2),(1,3), (2,2)} </a:t>
            </a:r>
            <a:r>
              <a:rPr lang="en-US" altLang="en-US">
                <a:solidFill>
                  <a:srgbClr val="FF0000"/>
                </a:solidFill>
              </a:rPr>
              <a:t>U</a:t>
            </a:r>
            <a:r>
              <a:rPr lang="en-US" altLang="en-US"/>
              <a:t> {(2,1), (3,1)}</a:t>
            </a:r>
          </a:p>
          <a:p>
            <a:r>
              <a:rPr lang="en-US" altLang="en-US"/>
              <a:t>     = {(1,2),(1,3), (2,2),(2,1), (3,1)}</a:t>
            </a:r>
          </a:p>
          <a:p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45060" name="Object 2">
            <a:extLst>
              <a:ext uri="{FF2B5EF4-FFF2-40B4-BE49-F238E27FC236}">
                <a16:creationId xmlns:a16="http://schemas.microsoft.com/office/drawing/2014/main" id="{C26B219E-193B-6226-25C8-0D8DCA188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03112" progId="Equation.3">
                  <p:embed/>
                </p:oleObj>
              </mc:Choice>
              <mc:Fallback>
                <p:oleObj name="Equation" r:id="rId2" imgW="431613" imgH="203112" progId="Equation.3">
                  <p:embed/>
                  <p:pic>
                    <p:nvPicPr>
                      <p:cNvPr id="45060" name="Object 2">
                        <a:extLst>
                          <a:ext uri="{FF2B5EF4-FFF2-40B4-BE49-F238E27FC236}">
                            <a16:creationId xmlns:a16="http://schemas.microsoft.com/office/drawing/2014/main" id="{C26B219E-193B-6226-25C8-0D8DCA188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3">
            <a:extLst>
              <a:ext uri="{FF2B5EF4-FFF2-40B4-BE49-F238E27FC236}">
                <a16:creationId xmlns:a16="http://schemas.microsoft.com/office/drawing/2014/main" id="{B74FC178-140F-B34B-B625-F7CB06FFD5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667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03112" progId="Equation.3">
                  <p:embed/>
                </p:oleObj>
              </mc:Choice>
              <mc:Fallback>
                <p:oleObj name="Equation" r:id="rId4" imgW="431613" imgH="203112" progId="Equation.3">
                  <p:embed/>
                  <p:pic>
                    <p:nvPicPr>
                      <p:cNvPr id="45061" name="Object 3">
                        <a:extLst>
                          <a:ext uri="{FF2B5EF4-FFF2-40B4-BE49-F238E27FC236}">
                            <a16:creationId xmlns:a16="http://schemas.microsoft.com/office/drawing/2014/main" id="{B74FC178-140F-B34B-B625-F7CB06FFD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BBC472F-5E0F-6FAB-73BB-055F3C4E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6083" name="TextBox 4">
            <a:extLst>
              <a:ext uri="{FF2B5EF4-FFF2-40B4-BE49-F238E27FC236}">
                <a16:creationId xmlns:a16="http://schemas.microsoft.com/office/drawing/2014/main" id="{15D918FB-E229-78A4-2C55-404A1E4B9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Let R be a relation on a set A.  A relation S on A with property P is called the </a:t>
            </a:r>
            <a:r>
              <a:rPr lang="en-US" altLang="en-US">
                <a:solidFill>
                  <a:srgbClr val="FF0000"/>
                </a:solidFill>
              </a:rPr>
              <a:t>closure of R with respect to P </a:t>
            </a:r>
            <a:r>
              <a:rPr lang="en-US" altLang="en-US"/>
              <a:t>if S is a subset of every relation Q (           ) with property P that contains R (            ).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b="1"/>
              <a:t>Example (transitive closure):</a:t>
            </a:r>
          </a:p>
          <a:p>
            <a:r>
              <a:rPr lang="pt-BR" altLang="en-US"/>
              <a:t>• Assume R={(1,2), (2,2), (2,3)} on A={1,2,3}.</a:t>
            </a:r>
          </a:p>
          <a:p>
            <a:endParaRPr lang="pt-BR" altLang="en-US"/>
          </a:p>
          <a:p>
            <a:r>
              <a:rPr lang="en-US" altLang="en-US"/>
              <a:t>• </a:t>
            </a:r>
            <a:r>
              <a:rPr lang="en-US" altLang="en-US" b="1">
                <a:solidFill>
                  <a:srgbClr val="FF0000"/>
                </a:solidFill>
              </a:rPr>
              <a:t>Is R transitive?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46084" name="Object 2">
            <a:extLst>
              <a:ext uri="{FF2B5EF4-FFF2-40B4-BE49-F238E27FC236}">
                <a16:creationId xmlns:a16="http://schemas.microsoft.com/office/drawing/2014/main" id="{4FA13313-55DA-1460-BC41-4F3317CBC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03112" progId="Equation.3">
                  <p:embed/>
                </p:oleObj>
              </mc:Choice>
              <mc:Fallback>
                <p:oleObj name="Equation" r:id="rId2" imgW="431613" imgH="203112" progId="Equation.3">
                  <p:embed/>
                  <p:pic>
                    <p:nvPicPr>
                      <p:cNvPr id="46084" name="Object 2">
                        <a:extLst>
                          <a:ext uri="{FF2B5EF4-FFF2-40B4-BE49-F238E27FC236}">
                            <a16:creationId xmlns:a16="http://schemas.microsoft.com/office/drawing/2014/main" id="{4FA13313-55DA-1460-BC41-4F3317CBC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3">
            <a:extLst>
              <a:ext uri="{FF2B5EF4-FFF2-40B4-BE49-F238E27FC236}">
                <a16:creationId xmlns:a16="http://schemas.microsoft.com/office/drawing/2014/main" id="{47B3E84D-7ABD-6031-C3E9-8E3364D18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667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03112" progId="Equation.3">
                  <p:embed/>
                </p:oleObj>
              </mc:Choice>
              <mc:Fallback>
                <p:oleObj name="Equation" r:id="rId4" imgW="431613" imgH="203112" progId="Equation.3">
                  <p:embed/>
                  <p:pic>
                    <p:nvPicPr>
                      <p:cNvPr id="46085" name="Object 3">
                        <a:extLst>
                          <a:ext uri="{FF2B5EF4-FFF2-40B4-BE49-F238E27FC236}">
                            <a16:creationId xmlns:a16="http://schemas.microsoft.com/office/drawing/2014/main" id="{47B3E84D-7ABD-6031-C3E9-8E3364D18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CCDBE82-2E9B-F9FA-699B-C5801530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Closure of a Relation</a:t>
            </a:r>
            <a:endParaRPr lang="en-US" altLang="en-US"/>
          </a:p>
        </p:txBody>
      </p:sp>
      <p:sp>
        <p:nvSpPr>
          <p:cNvPr id="47107" name="TextBox 4">
            <a:extLst>
              <a:ext uri="{FF2B5EF4-FFF2-40B4-BE49-F238E27FC236}">
                <a16:creationId xmlns:a16="http://schemas.microsoft.com/office/drawing/2014/main" id="{49C8A6D2-3D77-B36A-0C14-61990C417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Let R be a relation on a set A.  A relation S on A with property P is called the </a:t>
            </a:r>
            <a:r>
              <a:rPr lang="en-US" altLang="en-US">
                <a:solidFill>
                  <a:srgbClr val="FF0000"/>
                </a:solidFill>
              </a:rPr>
              <a:t>closure of R with respect to P </a:t>
            </a:r>
            <a:r>
              <a:rPr lang="en-US" altLang="en-US"/>
              <a:t>if S is a subset of every relation Q (           ) with property P that contains R (            ).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b="1"/>
              <a:t>Example (transitive closure):</a:t>
            </a:r>
          </a:p>
          <a:p>
            <a:r>
              <a:rPr lang="pt-BR" altLang="en-US"/>
              <a:t>• Assume R={(1,2), (2,2), (2,3)} on A={1,2,3}.</a:t>
            </a:r>
          </a:p>
          <a:p>
            <a:endParaRPr lang="pt-BR" altLang="en-US"/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Is R transitive? </a:t>
            </a:r>
            <a:r>
              <a:rPr lang="en-US" altLang="en-US"/>
              <a:t>No.</a:t>
            </a:r>
          </a:p>
          <a:p>
            <a:r>
              <a:rPr lang="en-US" altLang="en-US"/>
              <a:t>• How to make it transitive?</a:t>
            </a:r>
          </a:p>
          <a:p>
            <a:r>
              <a:rPr lang="en-US" altLang="en-US"/>
              <a:t>• S = {(1,2), (2,2), (2,3)} </a:t>
            </a:r>
            <a:r>
              <a:rPr lang="en-US" altLang="en-US">
                <a:solidFill>
                  <a:srgbClr val="FF0000"/>
                </a:solidFill>
              </a:rPr>
              <a:t>U </a:t>
            </a:r>
            <a:r>
              <a:rPr lang="en-US" altLang="en-US"/>
              <a:t>{(1,3)}</a:t>
            </a:r>
          </a:p>
          <a:p>
            <a:r>
              <a:rPr lang="en-US" altLang="en-US"/>
              <a:t>      = {(1,2), (2,2), (2,3),(1,3)}</a:t>
            </a:r>
          </a:p>
          <a:p>
            <a:r>
              <a:rPr lang="en-US" altLang="en-US"/>
              <a:t>• S is the transitive closure of R</a:t>
            </a: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47108" name="Object 2">
            <a:extLst>
              <a:ext uri="{FF2B5EF4-FFF2-40B4-BE49-F238E27FC236}">
                <a16:creationId xmlns:a16="http://schemas.microsoft.com/office/drawing/2014/main" id="{B7EE9C31-692E-2BBE-3740-BE48B5AEB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03112" progId="Equation.3">
                  <p:embed/>
                </p:oleObj>
              </mc:Choice>
              <mc:Fallback>
                <p:oleObj name="Equation" r:id="rId2" imgW="431613" imgH="203112" progId="Equation.3">
                  <p:embed/>
                  <p:pic>
                    <p:nvPicPr>
                      <p:cNvPr id="47108" name="Object 2">
                        <a:extLst>
                          <a:ext uri="{FF2B5EF4-FFF2-40B4-BE49-F238E27FC236}">
                            <a16:creationId xmlns:a16="http://schemas.microsoft.com/office/drawing/2014/main" id="{B7EE9C31-692E-2BBE-3740-BE48B5AEB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3">
            <a:extLst>
              <a:ext uri="{FF2B5EF4-FFF2-40B4-BE49-F238E27FC236}">
                <a16:creationId xmlns:a16="http://schemas.microsoft.com/office/drawing/2014/main" id="{831FA55B-7478-87BF-5498-3CDA85D360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667000"/>
          <a:ext cx="9223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03112" progId="Equation.3">
                  <p:embed/>
                </p:oleObj>
              </mc:Choice>
              <mc:Fallback>
                <p:oleObj name="Equation" r:id="rId4" imgW="431613" imgH="203112" progId="Equation.3">
                  <p:embed/>
                  <p:pic>
                    <p:nvPicPr>
                      <p:cNvPr id="47109" name="Object 3">
                        <a:extLst>
                          <a:ext uri="{FF2B5EF4-FFF2-40B4-BE49-F238E27FC236}">
                            <a16:creationId xmlns:a16="http://schemas.microsoft.com/office/drawing/2014/main" id="{831FA55B-7478-87BF-5498-3CDA85D36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9223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8C745EE-88EC-E975-C4C6-9FC217C0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Path length</a:t>
            </a:r>
            <a:endParaRPr lang="en-US" altLang="en-US"/>
          </a:p>
        </p:txBody>
      </p:sp>
      <p:sp>
        <p:nvSpPr>
          <p:cNvPr id="48131" name="TextBox 4">
            <a:extLst>
              <a:ext uri="{FF2B5EF4-FFF2-40B4-BE49-F238E27FC236}">
                <a16:creationId xmlns:a16="http://schemas.microsoft.com/office/drawing/2014/main" id="{2783C16F-FC25-6CBD-F62B-211ADE086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Theorem: Let R be a relation on a set A. There is a </a:t>
            </a:r>
            <a:r>
              <a:rPr lang="en-US" altLang="en-US">
                <a:solidFill>
                  <a:srgbClr val="FF0000"/>
                </a:solidFill>
              </a:rPr>
              <a:t>path of length n</a:t>
            </a:r>
            <a:r>
              <a:rPr lang="en-US" altLang="en-US"/>
              <a:t> from </a:t>
            </a:r>
            <a:r>
              <a:rPr lang="en-US" altLang="en-US">
                <a:solidFill>
                  <a:srgbClr val="FF0000"/>
                </a:solidFill>
              </a:rPr>
              <a:t>a to b </a:t>
            </a:r>
            <a:r>
              <a:rPr lang="en-US" altLang="en-US"/>
              <a:t>if and only if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Proof (math induction):</a:t>
            </a:r>
          </a:p>
          <a:p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B3686506-3238-3920-5325-81C71713F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429000"/>
            <a:ext cx="45529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8E794A97-32D5-BF42-2B3B-E316170E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Path length</a:t>
            </a:r>
            <a:endParaRPr lang="en-US" altLang="en-US"/>
          </a:p>
        </p:txBody>
      </p:sp>
      <p:sp>
        <p:nvSpPr>
          <p:cNvPr id="49155" name="TextBox 4">
            <a:extLst>
              <a:ext uri="{FF2B5EF4-FFF2-40B4-BE49-F238E27FC236}">
                <a16:creationId xmlns:a16="http://schemas.microsoft.com/office/drawing/2014/main" id="{35673BF6-3820-1404-E2FD-BA0CDB4F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Theorem: Let R be a relation on a set A. There is a </a:t>
            </a:r>
            <a:r>
              <a:rPr lang="en-US" altLang="en-US">
                <a:solidFill>
                  <a:srgbClr val="FF0000"/>
                </a:solidFill>
              </a:rPr>
              <a:t>path of length n</a:t>
            </a:r>
            <a:r>
              <a:rPr lang="en-US" altLang="en-US"/>
              <a:t> from </a:t>
            </a:r>
            <a:r>
              <a:rPr lang="en-US" altLang="en-US">
                <a:solidFill>
                  <a:srgbClr val="FF0000"/>
                </a:solidFill>
              </a:rPr>
              <a:t>a to b </a:t>
            </a:r>
            <a:r>
              <a:rPr lang="en-US" altLang="en-US"/>
              <a:t>if and only if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Proof (math induction):</a:t>
            </a:r>
          </a:p>
          <a:p>
            <a:r>
              <a:rPr lang="en-US" altLang="en-US"/>
              <a:t>• P(1): There is a path of length 1 from a to b if and only if (a,b) </a:t>
            </a:r>
            <a:r>
              <a:rPr lang="el-GR" altLang="en-US"/>
              <a:t>ϵ</a:t>
            </a:r>
            <a:r>
              <a:rPr lang="en-US" altLang="en-US"/>
              <a:t> R</a:t>
            </a:r>
            <a:r>
              <a:rPr lang="en-US" altLang="en-US" baseline="30000"/>
              <a:t>1</a:t>
            </a:r>
            <a:r>
              <a:rPr lang="en-US" altLang="en-US"/>
              <a:t>, by the definition of R.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9538ACC-7B54-162D-9A40-DDB6BC7C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Path length</a:t>
            </a:r>
            <a:endParaRPr lang="en-US" altLang="en-US"/>
          </a:p>
        </p:txBody>
      </p:sp>
      <p:sp>
        <p:nvSpPr>
          <p:cNvPr id="50179" name="TextBox 4">
            <a:extLst>
              <a:ext uri="{FF2B5EF4-FFF2-40B4-BE49-F238E27FC236}">
                <a16:creationId xmlns:a16="http://schemas.microsoft.com/office/drawing/2014/main" id="{BE3B0B49-22C6-7389-4CA9-32D7E43FA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Theorem: Let R be a relation on a set A. There is a </a:t>
            </a:r>
            <a:r>
              <a:rPr lang="en-US" altLang="en-US">
                <a:solidFill>
                  <a:srgbClr val="FF0000"/>
                </a:solidFill>
              </a:rPr>
              <a:t>path of length n</a:t>
            </a:r>
            <a:r>
              <a:rPr lang="en-US" altLang="en-US"/>
              <a:t> from </a:t>
            </a:r>
            <a:r>
              <a:rPr lang="en-US" altLang="en-US">
                <a:solidFill>
                  <a:srgbClr val="FF0000"/>
                </a:solidFill>
              </a:rPr>
              <a:t>a to b </a:t>
            </a:r>
            <a:r>
              <a:rPr lang="en-US" altLang="en-US"/>
              <a:t>if and only if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Proof (math induction):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P(1): </a:t>
            </a:r>
            <a:r>
              <a:rPr lang="en-US" altLang="en-US"/>
              <a:t>There is a path of length 1 from a to b if and only if (a,b) </a:t>
            </a:r>
            <a:r>
              <a:rPr lang="el-GR" altLang="en-US"/>
              <a:t>ϵ</a:t>
            </a:r>
            <a:r>
              <a:rPr lang="en-US" altLang="en-US"/>
              <a:t> R</a:t>
            </a:r>
            <a:r>
              <a:rPr lang="en-US" altLang="en-US" baseline="30000"/>
              <a:t>1</a:t>
            </a:r>
            <a:r>
              <a:rPr lang="en-US" altLang="en-US"/>
              <a:t>, by the definition of R.</a:t>
            </a:r>
          </a:p>
          <a:p>
            <a:r>
              <a:rPr lang="en-US" altLang="en-US">
                <a:solidFill>
                  <a:srgbClr val="FF0000"/>
                </a:solidFill>
              </a:rPr>
              <a:t>Show:</a:t>
            </a:r>
            <a:r>
              <a:rPr lang="en-US" altLang="en-US" b="1"/>
              <a:t> </a:t>
            </a:r>
            <a:r>
              <a:rPr lang="en-US" altLang="en-US">
                <a:solidFill>
                  <a:srgbClr val="FF0000"/>
                </a:solidFill>
              </a:rPr>
              <a:t>P(n) → P(n+1)</a:t>
            </a:r>
            <a:r>
              <a:rPr lang="en-US" altLang="en-US"/>
              <a:t>: Assume there is a path of length n from a to b if and only if 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R</a:t>
            </a:r>
            <a:r>
              <a:rPr lang="en-US" altLang="en-US" baseline="30000"/>
              <a:t>n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→ </a:t>
            </a:r>
            <a:r>
              <a:rPr lang="en-US" altLang="en-US"/>
              <a:t> there is a path of length n+1 from a to b if and only if 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R</a:t>
            </a:r>
            <a:r>
              <a:rPr lang="en-US" altLang="en-US" baseline="30000"/>
              <a:t>n+1</a:t>
            </a:r>
            <a:r>
              <a:rPr lang="en-US" altLang="en-US"/>
              <a:t>.</a:t>
            </a:r>
          </a:p>
          <a:p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56365483-4562-579C-58B1-0E46506F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Path length</a:t>
            </a:r>
            <a:endParaRPr lang="en-US" altLang="en-US"/>
          </a:p>
        </p:txBody>
      </p:sp>
      <p:sp>
        <p:nvSpPr>
          <p:cNvPr id="51203" name="TextBox 4">
            <a:extLst>
              <a:ext uri="{FF2B5EF4-FFF2-40B4-BE49-F238E27FC236}">
                <a16:creationId xmlns:a16="http://schemas.microsoft.com/office/drawing/2014/main" id="{F2F93DB7-F090-1649-097F-B720F3923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Theorem: Let R be a relation on a set A. There is a </a:t>
            </a:r>
            <a:r>
              <a:rPr lang="en-US" altLang="en-US">
                <a:solidFill>
                  <a:srgbClr val="FF0000"/>
                </a:solidFill>
              </a:rPr>
              <a:t>path of length n</a:t>
            </a:r>
            <a:r>
              <a:rPr lang="en-US" altLang="en-US"/>
              <a:t> from </a:t>
            </a:r>
            <a:r>
              <a:rPr lang="en-US" altLang="en-US">
                <a:solidFill>
                  <a:srgbClr val="FF0000"/>
                </a:solidFill>
              </a:rPr>
              <a:t>a to b </a:t>
            </a:r>
            <a:r>
              <a:rPr lang="en-US" altLang="en-US"/>
              <a:t>if and only if </a:t>
            </a:r>
            <a:r>
              <a:rPr lang="en-US" altLang="en-US">
                <a:solidFill>
                  <a:srgbClr val="FF0000"/>
                </a:solidFill>
              </a:rPr>
              <a:t>(a,b) </a:t>
            </a:r>
            <a:r>
              <a:rPr lang="el-GR" altLang="en-US">
                <a:solidFill>
                  <a:srgbClr val="FF0000"/>
                </a:solidFill>
              </a:rPr>
              <a:t>ϵ</a:t>
            </a:r>
            <a:r>
              <a:rPr lang="en-US" altLang="en-US">
                <a:solidFill>
                  <a:srgbClr val="FF0000"/>
                </a:solidFill>
              </a:rPr>
              <a:t> R</a:t>
            </a:r>
            <a:r>
              <a:rPr lang="en-US" altLang="en-US" baseline="30000">
                <a:solidFill>
                  <a:srgbClr val="FF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Proof (math induction):</a:t>
            </a:r>
          </a:p>
          <a:p>
            <a:r>
              <a:rPr lang="en-US" altLang="en-US"/>
              <a:t>• </a:t>
            </a:r>
            <a:r>
              <a:rPr lang="en-US" altLang="en-US">
                <a:solidFill>
                  <a:srgbClr val="FF0000"/>
                </a:solidFill>
              </a:rPr>
              <a:t>P(1): </a:t>
            </a:r>
            <a:r>
              <a:rPr lang="en-US" altLang="en-US"/>
              <a:t>There is a path of length 1 from a to b if and only if (a,b) </a:t>
            </a:r>
            <a:r>
              <a:rPr lang="el-GR" altLang="en-US"/>
              <a:t>ϵ</a:t>
            </a:r>
            <a:r>
              <a:rPr lang="en-US" altLang="en-US"/>
              <a:t> R</a:t>
            </a:r>
            <a:r>
              <a:rPr lang="en-US" altLang="en-US" baseline="30000"/>
              <a:t>1</a:t>
            </a:r>
            <a:r>
              <a:rPr lang="en-US" altLang="en-US"/>
              <a:t>, by the definition of R.</a:t>
            </a:r>
          </a:p>
          <a:p>
            <a:r>
              <a:rPr lang="en-US" altLang="en-US">
                <a:solidFill>
                  <a:srgbClr val="FF0000"/>
                </a:solidFill>
              </a:rPr>
              <a:t>Show:</a:t>
            </a:r>
            <a:r>
              <a:rPr lang="en-US" altLang="en-US" b="1"/>
              <a:t> </a:t>
            </a:r>
            <a:r>
              <a:rPr lang="en-US" altLang="en-US">
                <a:solidFill>
                  <a:srgbClr val="FF0000"/>
                </a:solidFill>
              </a:rPr>
              <a:t>P(n) → P(n+1)</a:t>
            </a:r>
            <a:r>
              <a:rPr lang="en-US" altLang="en-US"/>
              <a:t>: Assume there is a path of length n from a to b if and only if 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R</a:t>
            </a:r>
            <a:r>
              <a:rPr lang="en-US" altLang="en-US" baseline="30000"/>
              <a:t>n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→ </a:t>
            </a:r>
            <a:r>
              <a:rPr lang="en-US" altLang="en-US"/>
              <a:t> there is a path of length n+1 from a to b if and only if (a,b)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R</a:t>
            </a:r>
            <a:r>
              <a:rPr lang="en-US" altLang="en-US" baseline="30000"/>
              <a:t>n+1</a:t>
            </a:r>
            <a:r>
              <a:rPr lang="en-US" altLang="en-US"/>
              <a:t>.</a:t>
            </a:r>
          </a:p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/>
              <a:t>There is a path of length n+1 from a to b if and only if there</a:t>
            </a:r>
          </a:p>
          <a:p>
            <a:r>
              <a:rPr lang="en-US" altLang="en-US"/>
              <a:t>exists an x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A, such that (a,x)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 R (a path of length 1) and (x,b) </a:t>
            </a:r>
            <a:r>
              <a:rPr lang="el-GR" altLang="en-US">
                <a:solidFill>
                  <a:srgbClr val="FF0000"/>
                </a:solidFill>
              </a:rPr>
              <a:t>ϵ </a:t>
            </a:r>
            <a:r>
              <a:rPr lang="en-US" altLang="en-US"/>
              <a:t>R</a:t>
            </a:r>
            <a:r>
              <a:rPr lang="en-US" altLang="en-US" baseline="30000"/>
              <a:t>n</a:t>
            </a:r>
            <a:r>
              <a:rPr lang="en-US" altLang="en-US"/>
              <a:t> is a path of length n from x to b.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4C81E17-C827-D028-08C4-59884007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Path length</a:t>
            </a:r>
            <a:endParaRPr lang="en-US" altLang="en-US"/>
          </a:p>
        </p:txBody>
      </p:sp>
      <p:sp>
        <p:nvSpPr>
          <p:cNvPr id="52227" name="TextBox 4">
            <a:extLst>
              <a:ext uri="{FF2B5EF4-FFF2-40B4-BE49-F238E27FC236}">
                <a16:creationId xmlns:a16="http://schemas.microsoft.com/office/drawing/2014/main" id="{814DA424-B7E8-9B74-36A3-BB4A03466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/>
              <a:t>Theorem: Let R be a relation on a set A. There is a </a:t>
            </a:r>
            <a:r>
              <a:rPr lang="en-US" altLang="en-US" sz="2000">
                <a:solidFill>
                  <a:srgbClr val="FF0000"/>
                </a:solidFill>
              </a:rPr>
              <a:t>path of length n</a:t>
            </a:r>
            <a:r>
              <a:rPr lang="en-US" altLang="en-US" sz="2000"/>
              <a:t> from </a:t>
            </a:r>
            <a:r>
              <a:rPr lang="en-US" altLang="en-US" sz="2000">
                <a:solidFill>
                  <a:srgbClr val="FF0000"/>
                </a:solidFill>
              </a:rPr>
              <a:t>a to b </a:t>
            </a:r>
            <a:r>
              <a:rPr lang="en-US" altLang="en-US" sz="2000"/>
              <a:t>if and only if </a:t>
            </a:r>
            <a:r>
              <a:rPr lang="en-US" altLang="en-US" sz="2000">
                <a:solidFill>
                  <a:srgbClr val="FF0000"/>
                </a:solidFill>
              </a:rPr>
              <a:t>(a,b) </a:t>
            </a:r>
            <a:r>
              <a:rPr lang="el-GR" altLang="en-US" sz="2000">
                <a:solidFill>
                  <a:srgbClr val="FF0000"/>
                </a:solidFill>
              </a:rPr>
              <a:t>ϵ</a:t>
            </a:r>
            <a:r>
              <a:rPr lang="en-US" altLang="en-US" sz="2000">
                <a:solidFill>
                  <a:srgbClr val="FF0000"/>
                </a:solidFill>
              </a:rPr>
              <a:t> R</a:t>
            </a:r>
            <a:r>
              <a:rPr lang="en-US" altLang="en-US" sz="2000" baseline="30000">
                <a:solidFill>
                  <a:srgbClr val="FF0000"/>
                </a:solidFill>
              </a:rPr>
              <a:t>n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r>
              <a:rPr lang="en-US" altLang="en-US" sz="2000"/>
              <a:t>Proof (math induction):</a:t>
            </a:r>
          </a:p>
          <a:p>
            <a:r>
              <a:rPr lang="en-US" altLang="en-US" sz="2000"/>
              <a:t>• </a:t>
            </a:r>
            <a:r>
              <a:rPr lang="en-US" altLang="en-US" sz="2000">
                <a:solidFill>
                  <a:srgbClr val="FF0000"/>
                </a:solidFill>
              </a:rPr>
              <a:t>P(1): </a:t>
            </a:r>
            <a:r>
              <a:rPr lang="en-US" altLang="en-US" sz="2000"/>
              <a:t>There is a path of length 1 from a to b if and only if (a,b) </a:t>
            </a:r>
            <a:r>
              <a:rPr lang="el-GR" altLang="en-US" sz="2000"/>
              <a:t>ϵ</a:t>
            </a:r>
            <a:r>
              <a:rPr lang="en-US" altLang="en-US" sz="2000"/>
              <a:t> R</a:t>
            </a:r>
            <a:r>
              <a:rPr lang="en-US" altLang="en-US" sz="2000" baseline="30000"/>
              <a:t>1</a:t>
            </a:r>
            <a:r>
              <a:rPr lang="en-US" altLang="en-US" sz="2000"/>
              <a:t>, by the definition of R.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Show:</a:t>
            </a:r>
            <a:r>
              <a:rPr lang="en-US" altLang="en-US" sz="2000" b="1"/>
              <a:t> </a:t>
            </a:r>
            <a:r>
              <a:rPr lang="en-US" altLang="en-US" sz="2000">
                <a:solidFill>
                  <a:srgbClr val="FF0000"/>
                </a:solidFill>
              </a:rPr>
              <a:t>P(n) → P(n+1)</a:t>
            </a:r>
            <a:r>
              <a:rPr lang="en-US" altLang="en-US" sz="2000"/>
              <a:t>: Assume there is a path of length n from a to b if and only if (a,b)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R</a:t>
            </a:r>
            <a:r>
              <a:rPr lang="en-US" altLang="en-US" sz="2000" baseline="30000"/>
              <a:t>n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→ </a:t>
            </a:r>
            <a:r>
              <a:rPr lang="en-US" altLang="en-US" sz="2000"/>
              <a:t> there is a path of length n+1 from a to b if and only if (a,b)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R</a:t>
            </a:r>
            <a:r>
              <a:rPr lang="en-US" altLang="en-US" sz="2000" baseline="30000"/>
              <a:t>n+1</a:t>
            </a:r>
            <a:r>
              <a:rPr lang="en-US" altLang="en-US" sz="2000"/>
              <a:t>.</a:t>
            </a:r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/>
              <a:t>There is a path of length n+1 from a to b if and only if there</a:t>
            </a:r>
          </a:p>
          <a:p>
            <a:r>
              <a:rPr lang="en-US" altLang="en-US" sz="2000"/>
              <a:t>exists an x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A, such that (a,x)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R (a path of length 1) and (x,b)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R</a:t>
            </a:r>
            <a:r>
              <a:rPr lang="en-US" altLang="en-US" sz="2000" baseline="30000"/>
              <a:t>n</a:t>
            </a:r>
            <a:r>
              <a:rPr lang="en-US" altLang="en-US" sz="2000"/>
              <a:t> is a path of length n from x to b.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(x,b)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R</a:t>
            </a:r>
            <a:r>
              <a:rPr lang="en-US" altLang="en-US" sz="2000" baseline="30000"/>
              <a:t>n</a:t>
            </a:r>
            <a:r>
              <a:rPr lang="en-US" altLang="en-US" sz="2000"/>
              <a:t> holds due to P(n). Therefore, there is a path of length</a:t>
            </a:r>
          </a:p>
          <a:p>
            <a:r>
              <a:rPr lang="en-US" altLang="en-US" sz="2000"/>
              <a:t>n + 1 from a to b. This also implies that (a,b) </a:t>
            </a:r>
            <a:r>
              <a:rPr lang="el-GR" altLang="en-US" sz="2000">
                <a:solidFill>
                  <a:srgbClr val="FF0000"/>
                </a:solidFill>
              </a:rPr>
              <a:t>ϵ </a:t>
            </a:r>
            <a:r>
              <a:rPr lang="en-US" altLang="en-US" sz="2000"/>
              <a:t> R</a:t>
            </a:r>
            <a:r>
              <a:rPr lang="en-US" altLang="en-US" sz="2000" baseline="30000"/>
              <a:t>n+1</a:t>
            </a:r>
            <a:r>
              <a:rPr lang="en-US" altLang="en-US" sz="2000"/>
              <a:t>.</a:t>
            </a:r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A6A63BF8-3423-5BB4-6EB2-AD1550921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334000"/>
            <a:ext cx="4324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0675CA0E-187C-0482-40BB-4C697108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3251" name="TextBox 4">
            <a:extLst>
              <a:ext uri="{FF2B5EF4-FFF2-40B4-BE49-F238E27FC236}">
                <a16:creationId xmlns:a16="http://schemas.microsoft.com/office/drawing/2014/main" id="{45820F90-19B1-6B2E-79C3-094B52323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all pairs 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  <a:endParaRPr lang="en-US" altLang="en-US" sz="2000"/>
          </a:p>
        </p:txBody>
      </p:sp>
      <p:graphicFrame>
        <p:nvGraphicFramePr>
          <p:cNvPr id="53252" name="Object 2">
            <a:extLst>
              <a:ext uri="{FF2B5EF4-FFF2-40B4-BE49-F238E27FC236}">
                <a16:creationId xmlns:a16="http://schemas.microsoft.com/office/drawing/2014/main" id="{9AD7FF74-7A9B-AC4B-9E07-C30A050F4E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3252" name="Object 2">
                        <a:extLst>
                          <a:ext uri="{FF2B5EF4-FFF2-40B4-BE49-F238E27FC236}">
                            <a16:creationId xmlns:a16="http://schemas.microsoft.com/office/drawing/2014/main" id="{9AD7FF74-7A9B-AC4B-9E07-C30A050F4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53" name="Picture 3">
            <a:extLst>
              <a:ext uri="{FF2B5EF4-FFF2-40B4-BE49-F238E27FC236}">
                <a16:creationId xmlns:a16="http://schemas.microsoft.com/office/drawing/2014/main" id="{67DEAC0B-7FAC-8027-32B6-8DA4B67B2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5BB3F52E-B4E7-2A78-3C00-030CF4E0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4275" name="TextBox 4">
            <a:extLst>
              <a:ext uri="{FF2B5EF4-FFF2-40B4-BE49-F238E27FC236}">
                <a16:creationId xmlns:a16="http://schemas.microsoft.com/office/drawing/2014/main" id="{6311005B-4226-81D9-C149-721B60B7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all pairs 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</a:p>
          <a:p>
            <a:endParaRPr lang="pt-BR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 sz="2000"/>
              <a:t> </a:t>
            </a:r>
            <a:r>
              <a:rPr lang="pt-BR" altLang="en-US" sz="2000">
                <a:solidFill>
                  <a:srgbClr val="FF0000"/>
                </a:solidFill>
              </a:rPr>
              <a:t>R</a:t>
            </a:r>
            <a:r>
              <a:rPr lang="pt-BR" altLang="en-US" sz="2000" baseline="30000">
                <a:solidFill>
                  <a:srgbClr val="FF0000"/>
                </a:solidFill>
              </a:rPr>
              <a:t>2 </a:t>
            </a:r>
            <a:r>
              <a:rPr lang="pt-BR" altLang="en-US" sz="2000">
                <a:solidFill>
                  <a:srgbClr val="FF0000"/>
                </a:solidFill>
              </a:rPr>
              <a:t> =?</a:t>
            </a:r>
            <a:endParaRPr lang="en-US" altLang="en-US" sz="2000">
              <a:solidFill>
                <a:srgbClr val="FF0000"/>
              </a:solidFill>
            </a:endParaRPr>
          </a:p>
        </p:txBody>
      </p:sp>
      <p:graphicFrame>
        <p:nvGraphicFramePr>
          <p:cNvPr id="54276" name="Object 2">
            <a:extLst>
              <a:ext uri="{FF2B5EF4-FFF2-40B4-BE49-F238E27FC236}">
                <a16:creationId xmlns:a16="http://schemas.microsoft.com/office/drawing/2014/main" id="{3A3A4484-94B7-8756-3ABC-38F910CD2A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4276" name="Object 2">
                        <a:extLst>
                          <a:ext uri="{FF2B5EF4-FFF2-40B4-BE49-F238E27FC236}">
                            <a16:creationId xmlns:a16="http://schemas.microsoft.com/office/drawing/2014/main" id="{3A3A4484-94B7-8756-3ABC-38F910CD2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277" name="Picture 3">
            <a:extLst>
              <a:ext uri="{FF2B5EF4-FFF2-40B4-BE49-F238E27FC236}">
                <a16:creationId xmlns:a16="http://schemas.microsoft.com/office/drawing/2014/main" id="{F6D384FA-3834-AD92-6A50-6E04297CE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7D7A051-3791-8F83-9E54-1069DF5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5299" name="TextBox 4">
            <a:extLst>
              <a:ext uri="{FF2B5EF4-FFF2-40B4-BE49-F238E27FC236}">
                <a16:creationId xmlns:a16="http://schemas.microsoft.com/office/drawing/2014/main" id="{D948D455-89B0-B07A-FE51-D985C293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all pairs 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</a:p>
          <a:p>
            <a:endParaRPr lang="pt-BR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 sz="2000"/>
              <a:t> R</a:t>
            </a:r>
            <a:r>
              <a:rPr lang="pt-BR" altLang="en-US" sz="2000" baseline="30000"/>
              <a:t>2 </a:t>
            </a:r>
            <a:r>
              <a:rPr lang="pt-BR" altLang="en-US" sz="2000"/>
              <a:t> =</a:t>
            </a:r>
            <a:r>
              <a:rPr lang="en-US" altLang="en-US" sz="2000"/>
              <a:t> {(1,3),(2,4)}</a:t>
            </a:r>
          </a:p>
          <a:p>
            <a:r>
              <a:rPr lang="en-US" altLang="en-US" sz="2000"/>
              <a:t>•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= ?</a:t>
            </a:r>
          </a:p>
        </p:txBody>
      </p:sp>
      <p:graphicFrame>
        <p:nvGraphicFramePr>
          <p:cNvPr id="55300" name="Object 2">
            <a:extLst>
              <a:ext uri="{FF2B5EF4-FFF2-40B4-BE49-F238E27FC236}">
                <a16:creationId xmlns:a16="http://schemas.microsoft.com/office/drawing/2014/main" id="{7C72659A-4933-DE6A-4645-B4DE12E990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5300" name="Object 2">
                        <a:extLst>
                          <a:ext uri="{FF2B5EF4-FFF2-40B4-BE49-F238E27FC236}">
                            <a16:creationId xmlns:a16="http://schemas.microsoft.com/office/drawing/2014/main" id="{7C72659A-4933-DE6A-4645-B4DE12E99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01" name="Picture 3">
            <a:extLst>
              <a:ext uri="{FF2B5EF4-FFF2-40B4-BE49-F238E27FC236}">
                <a16:creationId xmlns:a16="http://schemas.microsoft.com/office/drawing/2014/main" id="{E4EC2FB0-7B65-1497-EAA4-BC058230B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F3DC5F9-2454-EFE1-0025-681C0A0C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6323" name="TextBox 4">
            <a:extLst>
              <a:ext uri="{FF2B5EF4-FFF2-40B4-BE49-F238E27FC236}">
                <a16:creationId xmlns:a16="http://schemas.microsoft.com/office/drawing/2014/main" id="{9DFAAA42-A6B8-8702-0D75-51D9B96B9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all pairs 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</a:p>
          <a:p>
            <a:endParaRPr lang="pt-BR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 sz="2000"/>
              <a:t> R</a:t>
            </a:r>
            <a:r>
              <a:rPr lang="pt-BR" altLang="en-US" sz="2000" baseline="30000"/>
              <a:t>2 </a:t>
            </a:r>
            <a:r>
              <a:rPr lang="pt-BR" altLang="en-US" sz="2000"/>
              <a:t> =</a:t>
            </a:r>
            <a:r>
              <a:rPr lang="en-US" altLang="en-US" sz="2000"/>
              <a:t> {(1,3),(2,4)}</a:t>
            </a:r>
          </a:p>
          <a:p>
            <a:r>
              <a:rPr lang="en-US" altLang="en-US" sz="2000"/>
              <a:t>•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= </a:t>
            </a:r>
            <a:r>
              <a:rPr lang="en-US" altLang="en-US" sz="2000"/>
              <a:t>{(1,4)}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4</a:t>
            </a:r>
            <a:r>
              <a:rPr lang="en-US" altLang="en-US" sz="2000">
                <a:solidFill>
                  <a:srgbClr val="FF0000"/>
                </a:solidFill>
              </a:rPr>
              <a:t> = ?</a:t>
            </a:r>
          </a:p>
        </p:txBody>
      </p:sp>
      <p:graphicFrame>
        <p:nvGraphicFramePr>
          <p:cNvPr id="56324" name="Object 2">
            <a:extLst>
              <a:ext uri="{FF2B5EF4-FFF2-40B4-BE49-F238E27FC236}">
                <a16:creationId xmlns:a16="http://schemas.microsoft.com/office/drawing/2014/main" id="{E73DD4B2-D3F4-612F-970E-9B477B5B5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6324" name="Object 2">
                        <a:extLst>
                          <a:ext uri="{FF2B5EF4-FFF2-40B4-BE49-F238E27FC236}">
                            <a16:creationId xmlns:a16="http://schemas.microsoft.com/office/drawing/2014/main" id="{E73DD4B2-D3F4-612F-970E-9B477B5B5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325" name="Picture 3">
            <a:extLst>
              <a:ext uri="{FF2B5EF4-FFF2-40B4-BE49-F238E27FC236}">
                <a16:creationId xmlns:a16="http://schemas.microsoft.com/office/drawing/2014/main" id="{1C1EACB0-7145-8BA4-8A08-AA5CD769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2C39D03B-CDF6-C25F-4551-83975E06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7347" name="TextBox 4">
            <a:extLst>
              <a:ext uri="{FF2B5EF4-FFF2-40B4-BE49-F238E27FC236}">
                <a16:creationId xmlns:a16="http://schemas.microsoft.com/office/drawing/2014/main" id="{56A647AD-637B-F988-BE66-F17154BB1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all pairs 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</a:p>
          <a:p>
            <a:endParaRPr lang="pt-BR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 sz="2000"/>
              <a:t> R</a:t>
            </a:r>
            <a:r>
              <a:rPr lang="pt-BR" altLang="en-US" sz="2000" baseline="30000"/>
              <a:t>2 </a:t>
            </a:r>
            <a:r>
              <a:rPr lang="pt-BR" altLang="en-US" sz="2000"/>
              <a:t> =</a:t>
            </a:r>
            <a:r>
              <a:rPr lang="en-US" altLang="en-US" sz="2000"/>
              <a:t> {(1,3),(2,4)}</a:t>
            </a:r>
          </a:p>
          <a:p>
            <a:r>
              <a:rPr lang="en-US" altLang="en-US" sz="2000"/>
              <a:t>•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 = </a:t>
            </a:r>
            <a:r>
              <a:rPr lang="en-US" altLang="en-US" sz="2000"/>
              <a:t>{(1,4)}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4</a:t>
            </a:r>
            <a:r>
              <a:rPr lang="en-US" altLang="en-US" sz="2000">
                <a:solidFill>
                  <a:srgbClr val="FF0000"/>
                </a:solidFill>
              </a:rPr>
              <a:t>   = </a:t>
            </a:r>
            <a:r>
              <a:rPr lang="en-US" altLang="en-US" sz="2000"/>
              <a:t>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*   </a:t>
            </a:r>
            <a:r>
              <a:rPr lang="en-US" altLang="en-US" sz="2000">
                <a:solidFill>
                  <a:srgbClr val="FF0000"/>
                </a:solidFill>
              </a:rPr>
              <a:t> = ?</a:t>
            </a:r>
          </a:p>
        </p:txBody>
      </p:sp>
      <p:graphicFrame>
        <p:nvGraphicFramePr>
          <p:cNvPr id="57348" name="Object 2">
            <a:extLst>
              <a:ext uri="{FF2B5EF4-FFF2-40B4-BE49-F238E27FC236}">
                <a16:creationId xmlns:a16="http://schemas.microsoft.com/office/drawing/2014/main" id="{670D7A16-8019-D784-A463-288EA638C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7348" name="Object 2">
                        <a:extLst>
                          <a:ext uri="{FF2B5EF4-FFF2-40B4-BE49-F238E27FC236}">
                            <a16:creationId xmlns:a16="http://schemas.microsoft.com/office/drawing/2014/main" id="{670D7A16-8019-D784-A463-288EA638C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49" name="Picture 3">
            <a:extLst>
              <a:ext uri="{FF2B5EF4-FFF2-40B4-BE49-F238E27FC236}">
                <a16:creationId xmlns:a16="http://schemas.microsoft.com/office/drawing/2014/main" id="{377AEF7F-8724-2DFD-A806-1E95C6646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D7125FCB-27C5-E2D3-1115-042B3ADB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Connectivity Relation</a:t>
            </a:r>
            <a:endParaRPr lang="en-US" altLang="en-US"/>
          </a:p>
        </p:txBody>
      </p:sp>
      <p:sp>
        <p:nvSpPr>
          <p:cNvPr id="58371" name="TextBox 4">
            <a:extLst>
              <a:ext uri="{FF2B5EF4-FFF2-40B4-BE49-F238E27FC236}">
                <a16:creationId xmlns:a16="http://schemas.microsoft.com/office/drawing/2014/main" id="{8CD42E06-DEAB-7ADA-C9B2-26BA67D8E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686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</a:t>
            </a:r>
            <a:r>
              <a:rPr lang="en-US" altLang="en-US" sz="2000"/>
              <a:t>: Let R be a relation on a set A. The connectivity</a:t>
            </a:r>
          </a:p>
          <a:p>
            <a:r>
              <a:rPr lang="en-US" altLang="en-US" sz="2000"/>
              <a:t>relation </a:t>
            </a:r>
            <a:r>
              <a:rPr lang="en-US" altLang="en-US" sz="2000">
                <a:solidFill>
                  <a:srgbClr val="FF0000"/>
                </a:solidFill>
              </a:rPr>
              <a:t>R* consists of </a:t>
            </a:r>
            <a:r>
              <a:rPr lang="en-US" altLang="en-US" sz="2000">
                <a:solidFill>
                  <a:srgbClr val="00B050"/>
                </a:solidFill>
              </a:rPr>
              <a:t>all pairs </a:t>
            </a:r>
            <a:r>
              <a:rPr lang="en-US" altLang="en-US" sz="2000">
                <a:solidFill>
                  <a:srgbClr val="FF0000"/>
                </a:solidFill>
              </a:rPr>
              <a:t>(a,b) </a:t>
            </a:r>
            <a:r>
              <a:rPr lang="en-US" altLang="en-US" sz="2000"/>
              <a:t>such that </a:t>
            </a:r>
            <a:r>
              <a:rPr lang="en-US" altLang="en-US" sz="2000">
                <a:solidFill>
                  <a:srgbClr val="FF0000"/>
                </a:solidFill>
              </a:rPr>
              <a:t>there is a path </a:t>
            </a:r>
            <a:r>
              <a:rPr lang="en-US" altLang="en-US" sz="2000"/>
              <a:t>(of</a:t>
            </a:r>
          </a:p>
          <a:p>
            <a:r>
              <a:rPr lang="en-US" altLang="en-US" sz="2000"/>
              <a:t>any length, ie. 1 or 2 or 3 or ...) between a and b in R.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A = {1,2,3,4}</a:t>
            </a:r>
          </a:p>
          <a:p>
            <a:r>
              <a:rPr lang="pt-BR" altLang="en-US" sz="2000"/>
              <a:t>• R = {(1,2),(1,4),(2,3),(3,4)}</a:t>
            </a:r>
          </a:p>
          <a:p>
            <a:endParaRPr lang="pt-BR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 sz="2000"/>
              <a:t> R</a:t>
            </a:r>
            <a:r>
              <a:rPr lang="pt-BR" altLang="en-US" sz="2000" baseline="30000"/>
              <a:t>2 </a:t>
            </a:r>
            <a:r>
              <a:rPr lang="pt-BR" altLang="en-US" sz="2000"/>
              <a:t> =</a:t>
            </a:r>
            <a:r>
              <a:rPr lang="en-US" altLang="en-US" sz="2000"/>
              <a:t> {(1,3),(2,4)}</a:t>
            </a:r>
          </a:p>
          <a:p>
            <a:r>
              <a:rPr lang="en-US" altLang="en-US" sz="2000"/>
              <a:t>•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  = </a:t>
            </a:r>
            <a:r>
              <a:rPr lang="en-US" altLang="en-US" sz="2000"/>
              <a:t>{(1,4)}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4</a:t>
            </a:r>
            <a:r>
              <a:rPr lang="en-US" altLang="en-US" sz="2000">
                <a:solidFill>
                  <a:srgbClr val="FF0000"/>
                </a:solidFill>
              </a:rPr>
              <a:t>   = </a:t>
            </a:r>
            <a:r>
              <a:rPr lang="en-US" altLang="en-US" sz="2000"/>
              <a:t>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/>
              <a:t> </a:t>
            </a:r>
            <a:r>
              <a:rPr lang="en-US" altLang="en-US" sz="2000">
                <a:solidFill>
                  <a:srgbClr val="FF0000"/>
                </a:solidFill>
              </a:rPr>
              <a:t>R</a:t>
            </a:r>
            <a:r>
              <a:rPr lang="en-US" altLang="en-US" sz="2000" baseline="30000">
                <a:solidFill>
                  <a:srgbClr val="FF0000"/>
                </a:solidFill>
              </a:rPr>
              <a:t>*   </a:t>
            </a:r>
            <a:r>
              <a:rPr lang="en-US" altLang="en-US" sz="2000">
                <a:solidFill>
                  <a:srgbClr val="FF0000"/>
                </a:solidFill>
              </a:rPr>
              <a:t> = </a:t>
            </a:r>
            <a:r>
              <a:rPr lang="en-US" altLang="en-US" sz="2000"/>
              <a:t>{(1,2),(1,3),(1,4),(2,3),(2,4),(3,4)}</a:t>
            </a:r>
            <a:endParaRPr lang="en-US" altLang="en-US" sz="2000">
              <a:solidFill>
                <a:srgbClr val="FF0000"/>
              </a:solidFill>
            </a:endParaRPr>
          </a:p>
        </p:txBody>
      </p:sp>
      <p:graphicFrame>
        <p:nvGraphicFramePr>
          <p:cNvPr id="58372" name="Object 2">
            <a:extLst>
              <a:ext uri="{FF2B5EF4-FFF2-40B4-BE49-F238E27FC236}">
                <a16:creationId xmlns:a16="http://schemas.microsoft.com/office/drawing/2014/main" id="{37B2E6F9-438A-228E-6A29-187D6927B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895600"/>
          <a:ext cx="13271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380835" progId="Equation.3">
                  <p:embed/>
                </p:oleObj>
              </mc:Choice>
              <mc:Fallback>
                <p:oleObj name="Equation" r:id="rId2" imgW="672808" imgH="380835" progId="Equation.3">
                  <p:embed/>
                  <p:pic>
                    <p:nvPicPr>
                      <p:cNvPr id="58372" name="Object 2">
                        <a:extLst>
                          <a:ext uri="{FF2B5EF4-FFF2-40B4-BE49-F238E27FC236}">
                            <a16:creationId xmlns:a16="http://schemas.microsoft.com/office/drawing/2014/main" id="{37B2E6F9-438A-228E-6A29-187D6927B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3271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8373" name="Picture 3">
            <a:extLst>
              <a:ext uri="{FF2B5EF4-FFF2-40B4-BE49-F238E27FC236}">
                <a16:creationId xmlns:a16="http://schemas.microsoft.com/office/drawing/2014/main" id="{B1BF11FC-455C-7BDD-4855-8311F2BB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905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E663BE6-7A14-1B94-5A36-A0E265BD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2200"/>
            <a:ext cx="9144000" cy="9906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25639</TotalTime>
  <Words>5116</Words>
  <Application>Microsoft Office PowerPoint</Application>
  <PresentationFormat>On-screen Show (4:3)</PresentationFormat>
  <Paragraphs>614</Paragraphs>
  <Slides>56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NewsPrint</vt:lpstr>
      <vt:lpstr>Relation</vt:lpstr>
      <vt:lpstr>Cartesian product (review)</vt:lpstr>
      <vt:lpstr>Binary relation</vt:lpstr>
      <vt:lpstr>Binary relation</vt:lpstr>
      <vt:lpstr>Binary relation</vt:lpstr>
      <vt:lpstr>Binary relation</vt:lpstr>
      <vt:lpstr>Representing Binary relation</vt:lpstr>
      <vt:lpstr>Reflexive Relation</vt:lpstr>
      <vt:lpstr>Reflexive Relation</vt:lpstr>
      <vt:lpstr>Reflexive Relation</vt:lpstr>
      <vt:lpstr>Reflexive Relation</vt:lpstr>
      <vt:lpstr>Symmetric Relation</vt:lpstr>
      <vt:lpstr>Symmetric Relation</vt:lpstr>
      <vt:lpstr>Symmetric Relation</vt:lpstr>
      <vt:lpstr>Symmetric Relation</vt:lpstr>
      <vt:lpstr>Transitive Relation</vt:lpstr>
      <vt:lpstr>Transitive Relation</vt:lpstr>
      <vt:lpstr>Transitive Relation</vt:lpstr>
      <vt:lpstr>Transitive Relation</vt:lpstr>
      <vt:lpstr>Combining Relation</vt:lpstr>
      <vt:lpstr>Combining Relation</vt:lpstr>
      <vt:lpstr>Combining Relation</vt:lpstr>
      <vt:lpstr>Combining Relation</vt:lpstr>
      <vt:lpstr>Combining Relation</vt:lpstr>
      <vt:lpstr>Combining Relation</vt:lpstr>
      <vt:lpstr>Composite Relation</vt:lpstr>
      <vt:lpstr>Composite Relation</vt:lpstr>
      <vt:lpstr>Composite Relation</vt:lpstr>
      <vt:lpstr>Composite Relation</vt:lpstr>
      <vt:lpstr>Composite Relation</vt:lpstr>
      <vt:lpstr>Composite Relation</vt:lpstr>
      <vt:lpstr>Composite Relation</vt:lpstr>
      <vt:lpstr>Composite Relation</vt:lpstr>
      <vt:lpstr>Transitive Relation</vt:lpstr>
      <vt:lpstr>Transitive Relation</vt:lpstr>
      <vt:lpstr>Closure of a Relation</vt:lpstr>
      <vt:lpstr>Closure of a Relation</vt:lpstr>
      <vt:lpstr>Closure of a Relation</vt:lpstr>
      <vt:lpstr>Closure of a Relation</vt:lpstr>
      <vt:lpstr>Closure of a Relation</vt:lpstr>
      <vt:lpstr>Closure of a Relation</vt:lpstr>
      <vt:lpstr>Closure of a Relation</vt:lpstr>
      <vt:lpstr>Closure of a Relation</vt:lpstr>
      <vt:lpstr>Closure of a Relation</vt:lpstr>
      <vt:lpstr>Path length</vt:lpstr>
      <vt:lpstr>Path length</vt:lpstr>
      <vt:lpstr>Path length</vt:lpstr>
      <vt:lpstr>Path length</vt:lpstr>
      <vt:lpstr>Path length</vt:lpstr>
      <vt:lpstr>Connectivity Relation</vt:lpstr>
      <vt:lpstr>Connectivity Relation</vt:lpstr>
      <vt:lpstr>Connectivity Relation</vt:lpstr>
      <vt:lpstr>Connectivity Relation</vt:lpstr>
      <vt:lpstr>Connectivity Relation</vt:lpstr>
      <vt:lpstr>Connectivity Relation</vt:lpstr>
      <vt:lpstr>Thank You</vt:lpstr>
    </vt:vector>
  </TitlesOfParts>
  <Company>RS Pressman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Sagor Ahmed Saron</cp:lastModifiedBy>
  <cp:revision>629</cp:revision>
  <dcterms:created xsi:type="dcterms:W3CDTF">2011-04-14T19:19:04Z</dcterms:created>
  <dcterms:modified xsi:type="dcterms:W3CDTF">2023-11-19T17:31:31Z</dcterms:modified>
</cp:coreProperties>
</file>