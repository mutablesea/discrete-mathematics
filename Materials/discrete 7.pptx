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75" r:id="rId3"/>
    <p:sldId id="256" r:id="rId4"/>
    <p:sldId id="257" r:id="rId5"/>
    <p:sldId id="259" r:id="rId6"/>
    <p:sldId id="260" r:id="rId7"/>
    <p:sldId id="265" r:id="rId8"/>
    <p:sldId id="261" r:id="rId9"/>
    <p:sldId id="262" r:id="rId10"/>
    <p:sldId id="263" r:id="rId11"/>
    <p:sldId id="264" r:id="rId12"/>
    <p:sldId id="270" r:id="rId13"/>
    <p:sldId id="277" r:id="rId14"/>
    <p:sldId id="266" r:id="rId15"/>
    <p:sldId id="27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726E29-8CF3-CFEF-27E6-E9C5B9BA610C}"/>
              </a:ext>
            </a:extLst>
          </p:cNvPr>
          <p:cNvSpPr txBox="1"/>
          <p:nvPr/>
        </p:nvSpPr>
        <p:spPr>
          <a:xfrm>
            <a:off x="122694" y="2402237"/>
            <a:ext cx="1195306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atin typeface="Georgia Pro"/>
                <a:ea typeface="+mn-lt"/>
                <a:cs typeface="+mn-lt"/>
              </a:rPr>
              <a:t>∀x P(x), where x domain or universe of discourse is {2,4,6,8} then ∀x P(x) will be true if: </a:t>
            </a:r>
          </a:p>
          <a:p>
            <a:pPr algn="ctr"/>
            <a:r>
              <a:rPr lang="en-US" sz="3600" dirty="0">
                <a:latin typeface="Georgia Pro"/>
                <a:ea typeface="+mn-lt"/>
                <a:cs typeface="+mn-lt"/>
              </a:rPr>
              <a:t>P(2) and P(4) and P(6) and P(8) is true</a:t>
            </a:r>
            <a:endParaRPr lang="en-US" sz="3600">
              <a:latin typeface="Georgia Pro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EF143-6B8B-0391-E61E-2370DC383A77}"/>
              </a:ext>
            </a:extLst>
          </p:cNvPr>
          <p:cNvSpPr txBox="1"/>
          <p:nvPr/>
        </p:nvSpPr>
        <p:spPr>
          <a:xfrm>
            <a:off x="3200400" y="862739"/>
            <a:ext cx="5791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Georgia Pro"/>
              </a:rPr>
              <a:t>Universal Quantifiers</a:t>
            </a:r>
            <a:endParaRPr lang="en-US" sz="3600" b="1" dirty="0">
              <a:latin typeface="Georgi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2799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EFCF2AE7-37E8-45D9-9B33-4DCD09E71162}"/>
              </a:ext>
            </a:extLst>
          </p:cNvPr>
          <p:cNvSpPr/>
          <p:nvPr/>
        </p:nvSpPr>
        <p:spPr>
          <a:xfrm>
            <a:off x="193729" y="975101"/>
            <a:ext cx="11662474" cy="2738033"/>
          </a:xfrm>
          <a:prstGeom prst="round2Diag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696B83B4-B4FC-014C-1380-FBADE9C7C656}"/>
              </a:ext>
            </a:extLst>
          </p:cNvPr>
          <p:cNvSpPr/>
          <p:nvPr/>
        </p:nvSpPr>
        <p:spPr>
          <a:xfrm flipV="1">
            <a:off x="193728" y="3764794"/>
            <a:ext cx="11662474" cy="2893017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572132-0804-4A7B-3F70-F552EEEF32FC}"/>
              </a:ext>
            </a:extLst>
          </p:cNvPr>
          <p:cNvSpPr txBox="1"/>
          <p:nvPr/>
        </p:nvSpPr>
        <p:spPr>
          <a:xfrm>
            <a:off x="406830" y="1091338"/>
            <a:ext cx="11391255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Georgia Pro"/>
                <a:ea typeface="Calibri"/>
                <a:cs typeface="Calibri"/>
              </a:rPr>
              <a:t>Example 1:</a:t>
            </a:r>
            <a:r>
              <a:rPr lang="en-US" sz="2400" dirty="0">
                <a:latin typeface="Georgia Pro"/>
                <a:ea typeface="Calibri"/>
                <a:cs typeface="Calibri"/>
              </a:rPr>
              <a:t> </a:t>
            </a:r>
            <a:endParaRPr lang="en-US" sz="4000" b="1" dirty="0">
              <a:latin typeface="Georgia Pro"/>
              <a:ea typeface="Calibri"/>
              <a:cs typeface="Calibri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 dirty="0">
                <a:latin typeface="Georgia Pro"/>
                <a:ea typeface="Calibri"/>
                <a:cs typeface="Calibri"/>
              </a:rPr>
              <a:t>Let P(x) be the statement "x&lt;10" . What is the truth value of the quantification </a:t>
            </a:r>
            <a:r>
              <a:rPr lang="en-US" sz="2400" dirty="0">
                <a:latin typeface="Georgia Pro"/>
                <a:ea typeface="+mn-lt"/>
                <a:cs typeface="+mn-lt"/>
              </a:rPr>
              <a:t>∀x P(x) where the domain consists of all positive integers.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2400" b="1" dirty="0">
                <a:latin typeface="Georgia Pro"/>
                <a:ea typeface="Calibri"/>
                <a:cs typeface="Calibri"/>
              </a:rPr>
              <a:t>Solution:</a:t>
            </a:r>
            <a:r>
              <a:rPr lang="en-US" sz="2400" dirty="0">
                <a:latin typeface="Georgia Pro"/>
                <a:ea typeface="Calibri"/>
                <a:cs typeface="Calibri"/>
              </a:rPr>
              <a:t> </a:t>
            </a:r>
          </a:p>
          <a:p>
            <a:pPr marL="342900" indent="-342900">
              <a:buFont typeface="Wingdings"/>
              <a:buChar char="ü"/>
            </a:pPr>
            <a:r>
              <a:rPr lang="en-US" sz="2400" dirty="0">
                <a:latin typeface="Georgia Pro"/>
                <a:ea typeface="Calibri"/>
                <a:cs typeface="Calibri"/>
              </a:rPr>
              <a:t>Find just one counter example which is enough to make </a:t>
            </a:r>
            <a:r>
              <a:rPr lang="en-US" sz="2400" dirty="0">
                <a:latin typeface="Georgia Pro"/>
                <a:ea typeface="+mn-lt"/>
                <a:cs typeface="+mn-lt"/>
              </a:rPr>
              <a:t>∀x P(x) false. If possible, then truth value is false; otherwise, truth value is true.</a:t>
            </a:r>
          </a:p>
          <a:p>
            <a:pPr marL="342900" indent="-342900">
              <a:buFont typeface="Wingdings"/>
              <a:buChar char="ü"/>
            </a:pPr>
            <a:r>
              <a:rPr lang="en-US" sz="2400" dirty="0">
                <a:latin typeface="Georgia Pro"/>
                <a:ea typeface="Calibri"/>
                <a:cs typeface="Calibri"/>
              </a:rPr>
              <a:t>For P(11): 11 &lt; 10 ; So truth value of </a:t>
            </a:r>
            <a:r>
              <a:rPr lang="en-US" sz="2400" dirty="0">
                <a:latin typeface="Georgia Pro"/>
                <a:ea typeface="+mn-lt"/>
                <a:cs typeface="+mn-lt"/>
              </a:rPr>
              <a:t>∀x P(x) is false</a:t>
            </a:r>
          </a:p>
          <a:p>
            <a:endParaRPr lang="en-US" sz="2400" dirty="0">
              <a:latin typeface="Georgia Pro"/>
              <a:ea typeface="+mn-lt"/>
              <a:cs typeface="+mn-lt"/>
            </a:endParaRPr>
          </a:p>
          <a:p>
            <a:r>
              <a:rPr lang="en-US" sz="2400" b="1" dirty="0">
                <a:latin typeface="Georgia Pro"/>
                <a:ea typeface="+mn-lt"/>
                <a:cs typeface="+mn-lt"/>
              </a:rPr>
              <a:t>Example 2:</a:t>
            </a:r>
            <a:r>
              <a:rPr lang="en-US" sz="2400" dirty="0">
                <a:latin typeface="Georgia Pro"/>
                <a:ea typeface="+mn-lt"/>
                <a:cs typeface="+mn-lt"/>
              </a:rPr>
              <a:t> </a:t>
            </a:r>
          </a:p>
          <a:p>
            <a:pPr marL="342900" indent="-342900">
              <a:buFont typeface="Wingdings"/>
              <a:buChar char="v"/>
            </a:pPr>
            <a:r>
              <a:rPr lang="en-US" sz="2400" dirty="0">
                <a:latin typeface="Georgia Pro"/>
                <a:ea typeface="+mn-lt"/>
                <a:cs typeface="+mn-lt"/>
              </a:rPr>
              <a:t>Let P(x) be the statement "x+1 &lt; 2x" . What is the truth value of the quantification ∀x P(x) where the domain consists of all positive integers.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sz="2400" b="1" dirty="0">
                <a:latin typeface="Georgia Pro"/>
                <a:ea typeface="+mn-lt"/>
                <a:cs typeface="+mn-lt"/>
              </a:rPr>
              <a:t>Solution: </a:t>
            </a:r>
          </a:p>
          <a:p>
            <a:pPr marL="342900" indent="-342900">
              <a:buFont typeface="Wingdings"/>
              <a:buChar char="ü"/>
            </a:pPr>
            <a:r>
              <a:rPr lang="en-US" sz="2400" dirty="0">
                <a:latin typeface="Georgia Pro"/>
                <a:ea typeface="+mn-lt"/>
                <a:cs typeface="+mn-lt"/>
              </a:rPr>
              <a:t>There is no such positive integers for which x+1 &lt; 2x is false. So truth value of ∀x P(x) is true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B7B0C8-32C0-97F0-337D-1AA31B24A145}"/>
              </a:ext>
            </a:extLst>
          </p:cNvPr>
          <p:cNvSpPr txBox="1"/>
          <p:nvPr/>
        </p:nvSpPr>
        <p:spPr>
          <a:xfrm>
            <a:off x="1650569" y="-2583"/>
            <a:ext cx="925248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Georgia Pro"/>
              </a:rPr>
              <a:t>Universal Quantifiers  Example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27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FED798-D84D-6416-232F-91E9F7FE612C}"/>
              </a:ext>
            </a:extLst>
          </p:cNvPr>
          <p:cNvSpPr txBox="1"/>
          <p:nvPr/>
        </p:nvSpPr>
        <p:spPr>
          <a:xfrm>
            <a:off x="3386721" y="1945817"/>
            <a:ext cx="5564647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latin typeface="Georgia Pro"/>
                <a:ea typeface="+mn-lt"/>
                <a:cs typeface="+mn-lt"/>
              </a:rPr>
              <a:t>∀x P(x) can be read as: </a:t>
            </a:r>
          </a:p>
          <a:p>
            <a:pPr marL="342900" indent="-342900">
              <a:buFont typeface="Wingdings"/>
              <a:buChar char="Ø"/>
            </a:pPr>
            <a:r>
              <a:rPr lang="en-US" sz="3200" dirty="0">
                <a:latin typeface="Georgia Pro"/>
                <a:ea typeface="Calibri"/>
                <a:cs typeface="Calibri"/>
              </a:rPr>
              <a:t>For all x, P(x)</a:t>
            </a:r>
          </a:p>
          <a:p>
            <a:pPr marL="342900" indent="-342900">
              <a:buFont typeface="Wingdings"/>
              <a:buChar char="Ø"/>
            </a:pPr>
            <a:r>
              <a:rPr lang="en-US" sz="3200" dirty="0">
                <a:latin typeface="Georgia Pro"/>
                <a:ea typeface="Calibri"/>
                <a:cs typeface="Calibri"/>
              </a:rPr>
              <a:t>For Every x, P(x)</a:t>
            </a:r>
          </a:p>
          <a:p>
            <a:pPr marL="342900" indent="-342900">
              <a:buFont typeface="Wingdings"/>
              <a:buChar char="Ø"/>
            </a:pPr>
            <a:r>
              <a:rPr lang="en-US" sz="3200" dirty="0">
                <a:latin typeface="Georgia Pro"/>
                <a:ea typeface="Calibri"/>
                <a:cs typeface="Calibri"/>
              </a:rPr>
              <a:t>For each x, P(x)</a:t>
            </a:r>
          </a:p>
          <a:p>
            <a:pPr marL="342900" indent="-342900">
              <a:buFont typeface="Wingdings"/>
              <a:buChar char="Ø"/>
            </a:pPr>
            <a:r>
              <a:rPr lang="en-US" sz="3200" dirty="0">
                <a:latin typeface="Georgia Pro"/>
                <a:ea typeface="Calibri"/>
                <a:cs typeface="Calibri"/>
              </a:rPr>
              <a:t>For any x, P(x)</a:t>
            </a:r>
          </a:p>
          <a:p>
            <a:pPr marL="342900" indent="-342900">
              <a:buFont typeface="Wingdings"/>
              <a:buChar char="Ø"/>
            </a:pPr>
            <a:r>
              <a:rPr lang="en-US" sz="3200" dirty="0">
                <a:latin typeface="Georgia Pro"/>
                <a:ea typeface="Calibri"/>
                <a:cs typeface="Calibri"/>
              </a:rPr>
              <a:t>All of x, P(x)</a:t>
            </a:r>
          </a:p>
          <a:p>
            <a:pPr marL="342900" indent="-342900">
              <a:buFont typeface="Wingdings"/>
              <a:buChar char="Ø"/>
            </a:pPr>
            <a:r>
              <a:rPr lang="en-US" sz="3200" dirty="0">
                <a:latin typeface="Georgia Pro"/>
                <a:ea typeface="Calibri"/>
                <a:cs typeface="Calibri"/>
              </a:rPr>
              <a:t>Every x, P(x)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ECBE6D-4D9C-343D-A25C-F1C58978D1E6}"/>
              </a:ext>
            </a:extLst>
          </p:cNvPr>
          <p:cNvSpPr txBox="1"/>
          <p:nvPr/>
        </p:nvSpPr>
        <p:spPr>
          <a:xfrm>
            <a:off x="-1" y="594102"/>
            <a:ext cx="12133880" cy="63709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  <a:latin typeface="Georgia Pro"/>
                <a:ea typeface="Calibri"/>
                <a:cs typeface="Calibri"/>
              </a:rPr>
              <a:t>Example: </a:t>
            </a:r>
            <a:endParaRPr lang="en-US" sz="2400" b="1">
              <a:solidFill>
                <a:srgbClr val="FF0000"/>
              </a:solidFill>
              <a:latin typeface="Georgia Pro"/>
              <a:ea typeface="Calibri"/>
              <a:cs typeface="Calibri"/>
            </a:endParaRP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Let P(x) be the statement "x has passed with 80% marks in all courses of fall 2023" where the domain for x consists of all students of batch 232.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Georgia Pro"/>
                <a:ea typeface="Calibri"/>
                <a:cs typeface="Calibri"/>
              </a:rPr>
              <a:t>Express 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Georgia Pro"/>
                <a:ea typeface="+mn-lt"/>
                <a:cs typeface="+mn-lt"/>
              </a:rPr>
              <a:t>∀x P(x) in English</a:t>
            </a:r>
          </a:p>
          <a:p>
            <a:endParaRPr lang="en-US" sz="2400" dirty="0">
              <a:latin typeface="Georgia Pro"/>
              <a:ea typeface="+mn-lt"/>
              <a:cs typeface="+mn-lt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Georgia Pro"/>
                <a:ea typeface="+mn-lt"/>
                <a:cs typeface="+mn-lt"/>
              </a:rPr>
              <a:t>Solution:</a:t>
            </a:r>
          </a:p>
          <a:p>
            <a:r>
              <a:rPr lang="en-US" sz="2400" b="1" dirty="0">
                <a:latin typeface="Georgia Pro"/>
                <a:ea typeface="+mn-lt"/>
                <a:cs typeface="+mn-lt"/>
              </a:rPr>
              <a:t>Step 1: </a:t>
            </a:r>
            <a:r>
              <a:rPr lang="en-US" sz="2400" dirty="0">
                <a:latin typeface="Georgia Pro"/>
                <a:ea typeface="+mn-lt"/>
                <a:cs typeface="+mn-lt"/>
              </a:rPr>
              <a:t>Re-write the statement according to ∀x:</a:t>
            </a:r>
          </a:p>
          <a:p>
            <a:pPr algn="ctr"/>
            <a:r>
              <a:rPr lang="en-US" sz="2400" dirty="0">
                <a:latin typeface="Georgia Pro"/>
                <a:ea typeface="+mn-lt"/>
                <a:cs typeface="+mn-lt"/>
              </a:rPr>
              <a:t>For every x, x has passed with 80% marks in all courses of fall 2023.</a:t>
            </a:r>
          </a:p>
          <a:p>
            <a:pPr algn="ctr"/>
            <a:r>
              <a:rPr lang="en-US" sz="2400" dirty="0">
                <a:latin typeface="Georgia Pro"/>
                <a:ea typeface="+mn-lt"/>
                <a:cs typeface="+mn-lt"/>
              </a:rPr>
              <a:t>Or</a:t>
            </a:r>
          </a:p>
          <a:p>
            <a:pPr algn="ctr"/>
            <a:r>
              <a:rPr lang="en-US" sz="2400" dirty="0">
                <a:latin typeface="Georgia Pro"/>
                <a:ea typeface="+mn-lt"/>
                <a:cs typeface="+mn-lt"/>
              </a:rPr>
              <a:t>Every x has passed with 80% marks in all courses of fall 2023.</a:t>
            </a:r>
          </a:p>
          <a:p>
            <a:pPr algn="ctr"/>
            <a:endParaRPr lang="en-US" sz="2400" dirty="0">
              <a:latin typeface="Georgia Pro"/>
              <a:ea typeface="+mn-lt"/>
              <a:cs typeface="+mn-lt"/>
            </a:endParaRPr>
          </a:p>
          <a:p>
            <a:r>
              <a:rPr lang="en-US" sz="2400" b="1" dirty="0">
                <a:latin typeface="Georgia Pro"/>
                <a:ea typeface="+mn-lt"/>
                <a:cs typeface="+mn-lt"/>
              </a:rPr>
              <a:t>Step 2:</a:t>
            </a:r>
            <a:r>
              <a:rPr lang="en-US" sz="2400" dirty="0">
                <a:latin typeface="Georgia Pro"/>
                <a:ea typeface="+mn-lt"/>
                <a:cs typeface="+mn-lt"/>
              </a:rPr>
              <a:t> Replace x</a:t>
            </a:r>
          </a:p>
          <a:p>
            <a:pPr algn="ctr"/>
            <a:r>
              <a:rPr lang="en-US" sz="2400" dirty="0">
                <a:latin typeface="Georgia Pro"/>
                <a:ea typeface="+mn-lt"/>
                <a:cs typeface="+mn-lt"/>
              </a:rPr>
              <a:t>For every students of batch 232, x has passed with 80% marks in all courses of fall 2023.</a:t>
            </a:r>
            <a:endParaRPr lang="en-US" sz="2400">
              <a:latin typeface="Georgia Pro"/>
            </a:endParaRPr>
          </a:p>
          <a:p>
            <a:pPr algn="ctr"/>
            <a:r>
              <a:rPr lang="en-US" sz="2400" dirty="0">
                <a:latin typeface="Georgia Pro"/>
                <a:ea typeface="+mn-lt"/>
                <a:cs typeface="+mn-lt"/>
              </a:rPr>
              <a:t>Or</a:t>
            </a:r>
          </a:p>
          <a:p>
            <a:pPr algn="ctr"/>
            <a:r>
              <a:rPr lang="en-US" sz="2400" dirty="0">
                <a:latin typeface="Georgia Pro"/>
                <a:ea typeface="+mn-lt"/>
                <a:cs typeface="+mn-lt"/>
              </a:rPr>
              <a:t>Every students of batch 232 has passed with 80% marks in all courses of fall 2023.</a:t>
            </a:r>
          </a:p>
          <a:p>
            <a:pPr marL="342900" indent="-342900">
              <a:buFont typeface="Wingdings"/>
              <a:buChar char="Ø"/>
            </a:pPr>
            <a:r>
              <a:rPr lang="en-US" sz="2400" dirty="0">
                <a:latin typeface="Georgia Pro"/>
                <a:ea typeface="Calibri" panose="020F0502020204030204"/>
                <a:cs typeface="Calibri" panose="020F0502020204030204"/>
              </a:rPr>
              <a:t>(Second is more readable)</a:t>
            </a:r>
          </a:p>
          <a:p>
            <a:pPr algn="ctr"/>
            <a:endParaRPr lang="en-US" sz="2400" dirty="0">
              <a:latin typeface="Georgia Pro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1547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2C4E7D-5918-6830-8841-A40009B257DC}"/>
              </a:ext>
            </a:extLst>
          </p:cNvPr>
          <p:cNvSpPr txBox="1"/>
          <p:nvPr/>
        </p:nvSpPr>
        <p:spPr>
          <a:xfrm>
            <a:off x="1185622" y="1784839"/>
            <a:ext cx="980784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Georgia Pro"/>
                <a:ea typeface="+mn-lt"/>
                <a:cs typeface="+mn-lt"/>
              </a:rPr>
              <a:t>∃x P(x)</a:t>
            </a:r>
            <a:r>
              <a:rPr lang="en-US" sz="2800" dirty="0">
                <a:latin typeface="Georgia Pro"/>
                <a:cs typeface="Segoe UI"/>
              </a:rPr>
              <a:t>, where x domain or universe of discourse is {2,4,6,8} then </a:t>
            </a:r>
            <a:r>
              <a:rPr lang="en-US" sz="2800" dirty="0">
                <a:latin typeface="Georgia Pro"/>
                <a:ea typeface="+mn-lt"/>
                <a:cs typeface="+mn-lt"/>
              </a:rPr>
              <a:t>∃</a:t>
            </a:r>
            <a:r>
              <a:rPr lang="en-US" sz="2800" dirty="0" err="1">
                <a:latin typeface="Georgia Pro"/>
                <a:ea typeface="+mn-lt"/>
                <a:cs typeface="+mn-lt"/>
              </a:rPr>
              <a:t>xP</a:t>
            </a:r>
            <a:r>
              <a:rPr lang="en-US" sz="2800" dirty="0">
                <a:latin typeface="Georgia Pro"/>
                <a:ea typeface="+mn-lt"/>
                <a:cs typeface="+mn-lt"/>
              </a:rPr>
              <a:t>(x)</a:t>
            </a:r>
            <a:r>
              <a:rPr lang="en-US" sz="2800" dirty="0">
                <a:latin typeface="Georgia Pro"/>
                <a:cs typeface="Segoe UI"/>
              </a:rPr>
              <a:t> will be true if: ​</a:t>
            </a:r>
            <a:endParaRPr lang="en-US" sz="2800" dirty="0">
              <a:latin typeface="Georgia Pro"/>
            </a:endParaRPr>
          </a:p>
          <a:p>
            <a:pPr algn="ctr"/>
            <a:r>
              <a:rPr lang="en-US" sz="2800" dirty="0">
                <a:latin typeface="Georgia Pro"/>
                <a:cs typeface="Segoe UI"/>
              </a:rPr>
              <a:t>P(2) or P(4) or P(6) or P(8) is true​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99F27-85B0-C79C-13FC-8A3EE1CDF4F3}"/>
              </a:ext>
            </a:extLst>
          </p:cNvPr>
          <p:cNvSpPr txBox="1"/>
          <p:nvPr/>
        </p:nvSpPr>
        <p:spPr>
          <a:xfrm>
            <a:off x="3200400" y="862739"/>
            <a:ext cx="5791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Georgia Pro"/>
              </a:rPr>
              <a:t>Existential Quantifiers</a:t>
            </a:r>
            <a:endParaRPr lang="en-US" sz="3600" b="1">
              <a:latin typeface="Georgia Pro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38F40-346B-43F3-0C57-7627CD7D8AE1}"/>
              </a:ext>
            </a:extLst>
          </p:cNvPr>
          <p:cNvSpPr txBox="1"/>
          <p:nvPr/>
        </p:nvSpPr>
        <p:spPr>
          <a:xfrm>
            <a:off x="2007079" y="4040136"/>
            <a:ext cx="81778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Georgia Pro"/>
              </a:rPr>
              <a:t>Existential Quantifiers Example</a:t>
            </a:r>
            <a:endParaRPr lang="en-US" sz="3600" b="1" dirty="0">
              <a:latin typeface="Georgi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006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244FC8-0BD9-CF3E-DE51-C0EDC005AB09}"/>
              </a:ext>
            </a:extLst>
          </p:cNvPr>
          <p:cNvSpPr txBox="1"/>
          <p:nvPr/>
        </p:nvSpPr>
        <p:spPr>
          <a:xfrm>
            <a:off x="464949" y="103321"/>
            <a:ext cx="1112003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Georgia Pro"/>
              </a:rPr>
              <a:t>∃x P(x) can be read as:</a:t>
            </a:r>
          </a:p>
          <a:p>
            <a:pPr marL="457200" indent="-457200">
              <a:buFont typeface="Wingdings"/>
              <a:buChar char="q"/>
            </a:pPr>
            <a:r>
              <a:rPr lang="en-US" sz="2800" dirty="0">
                <a:latin typeface="Georgia Pro"/>
                <a:ea typeface="Calibri"/>
                <a:cs typeface="Calibri"/>
              </a:rPr>
              <a:t>There is an x such that P(x)</a:t>
            </a:r>
          </a:p>
          <a:p>
            <a:pPr marL="457200" indent="-457200">
              <a:buFont typeface="Wingdings"/>
              <a:buChar char="q"/>
            </a:pPr>
            <a:r>
              <a:rPr lang="en-US" sz="2800" dirty="0">
                <a:latin typeface="Georgia Pro"/>
                <a:ea typeface="Calibri"/>
                <a:cs typeface="Calibri"/>
              </a:rPr>
              <a:t>There is at least one x such that P(x)</a:t>
            </a:r>
          </a:p>
          <a:p>
            <a:pPr marL="457200" indent="-457200">
              <a:buFont typeface="Wingdings"/>
              <a:buChar char="q"/>
            </a:pPr>
            <a:r>
              <a:rPr lang="en-US" sz="2800" dirty="0">
                <a:latin typeface="Georgia Pro"/>
                <a:ea typeface="Calibri"/>
                <a:cs typeface="Calibri"/>
              </a:rPr>
              <a:t>For some x, P(x)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554B6D-96ED-AF88-2370-C4106301B6F2}"/>
              </a:ext>
            </a:extLst>
          </p:cNvPr>
          <p:cNvSpPr txBox="1"/>
          <p:nvPr/>
        </p:nvSpPr>
        <p:spPr>
          <a:xfrm>
            <a:off x="464949" y="2176221"/>
            <a:ext cx="11275016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Georgia Pro"/>
                <a:ea typeface="Calibri"/>
                <a:cs typeface="Calibri"/>
              </a:rPr>
              <a:t>Example: </a:t>
            </a: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What is the truth value of </a:t>
            </a:r>
            <a:r>
              <a:rPr lang="en-US" sz="2400" dirty="0">
                <a:latin typeface="Georgia Pro"/>
                <a:ea typeface="+mn-lt"/>
                <a:cs typeface="+mn-lt"/>
              </a:rPr>
              <a:t>∃x P(x), where P(x) is the statement "x</a:t>
            </a:r>
            <a:r>
              <a:rPr lang="en-US" sz="2400" baseline="30000" dirty="0">
                <a:latin typeface="Georgia Pro"/>
                <a:ea typeface="+mn-lt"/>
                <a:cs typeface="+mn-lt"/>
              </a:rPr>
              <a:t>2 </a:t>
            </a:r>
            <a:r>
              <a:rPr lang="en-US" sz="2400" dirty="0">
                <a:latin typeface="Georgia Pro"/>
                <a:ea typeface="+mn-lt"/>
                <a:cs typeface="+mn-lt"/>
              </a:rPr>
              <a:t>&gt; 10 " and the universe of discourse is positive integers not exceeding 4.</a:t>
            </a:r>
          </a:p>
          <a:p>
            <a:r>
              <a:rPr lang="en-US" sz="2400" b="1" dirty="0">
                <a:solidFill>
                  <a:srgbClr val="00B050"/>
                </a:solidFill>
                <a:latin typeface="Georgia Pro"/>
                <a:ea typeface="+mn-lt"/>
                <a:cs typeface="+mn-lt"/>
              </a:rPr>
              <a:t>Solution:</a:t>
            </a:r>
          </a:p>
          <a:p>
            <a:r>
              <a:rPr lang="en-US" sz="2400" b="1" dirty="0">
                <a:latin typeface="Georgia Pro"/>
                <a:ea typeface="+mn-lt"/>
                <a:cs typeface="+mn-lt"/>
              </a:rPr>
              <a:t>Find at least one value from domain for which P(x) is true. If found, then ∃x P(x) is true; otherwise, false </a:t>
            </a:r>
          </a:p>
          <a:p>
            <a:r>
              <a:rPr lang="en-US" sz="2400" dirty="0">
                <a:latin typeface="Georgia Pro"/>
                <a:ea typeface="+mn-lt"/>
                <a:cs typeface="+mn-lt"/>
              </a:rPr>
              <a:t>Domain: {1,2,3,4}</a:t>
            </a:r>
          </a:p>
          <a:p>
            <a:r>
              <a:rPr lang="en-US" sz="2400" dirty="0">
                <a:latin typeface="Georgia Pro"/>
                <a:ea typeface="+mn-lt"/>
                <a:cs typeface="+mn-lt"/>
              </a:rPr>
              <a:t>P(1): 1 &gt; 10 =====&gt; false</a:t>
            </a:r>
          </a:p>
          <a:p>
            <a:r>
              <a:rPr lang="en-US" sz="2400" dirty="0">
                <a:latin typeface="Georgia Pro"/>
                <a:ea typeface="+mn-lt"/>
                <a:cs typeface="+mn-lt"/>
              </a:rPr>
              <a:t>P(2): 4 &gt; 10 =====&gt; false</a:t>
            </a:r>
          </a:p>
          <a:p>
            <a:r>
              <a:rPr lang="en-US" sz="2400" dirty="0">
                <a:latin typeface="Georgia Pro"/>
                <a:ea typeface="+mn-lt"/>
                <a:cs typeface="+mn-lt"/>
              </a:rPr>
              <a:t>P(3): 9 &gt; 10 =====&gt; false</a:t>
            </a:r>
          </a:p>
          <a:p>
            <a:r>
              <a:rPr lang="en-US" sz="2400">
                <a:latin typeface="Georgia Pro"/>
                <a:ea typeface="+mn-lt"/>
                <a:cs typeface="+mn-lt"/>
              </a:rPr>
              <a:t>P(4): 16 &gt; 10 ====&gt; true</a:t>
            </a:r>
          </a:p>
          <a:p>
            <a:r>
              <a:rPr lang="en-US" sz="2400" dirty="0">
                <a:latin typeface="Georgia Pro"/>
                <a:ea typeface="+mn-lt"/>
                <a:cs typeface="+mn-lt"/>
              </a:rPr>
              <a:t>So ∃x P(x) is true</a:t>
            </a:r>
          </a:p>
        </p:txBody>
      </p:sp>
    </p:spTree>
    <p:extLst>
      <p:ext uri="{BB962C8B-B14F-4D97-AF65-F5344CB8AC3E}">
        <p14:creationId xmlns:p14="http://schemas.microsoft.com/office/powerpoint/2010/main" val="4124125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419F7-D9A9-1D99-E279-DB16F1AB3488}"/>
              </a:ext>
            </a:extLst>
          </p:cNvPr>
          <p:cNvSpPr txBox="1"/>
          <p:nvPr/>
        </p:nvSpPr>
        <p:spPr>
          <a:xfrm>
            <a:off x="865322" y="3047999"/>
            <a:ext cx="1046135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latin typeface="Georgia Pro"/>
                <a:cs typeface="Calibri"/>
              </a:rPr>
              <a:t>Translating Quantified Statement</a:t>
            </a:r>
          </a:p>
          <a:p>
            <a:pPr algn="ctr"/>
            <a:r>
              <a:rPr lang="en-US" sz="4400" b="1">
                <a:latin typeface="Georgia Pro"/>
                <a:cs typeface="Calibri"/>
              </a:rPr>
              <a:t>Universal Quantifiers</a:t>
            </a:r>
            <a:endParaRPr lang="en-US" sz="4400" b="1" dirty="0">
              <a:latin typeface="Georgia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094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8538E2-28E7-56EF-3076-2738A2812AFF}"/>
              </a:ext>
            </a:extLst>
          </p:cNvPr>
          <p:cNvSpPr txBox="1"/>
          <p:nvPr/>
        </p:nvSpPr>
        <p:spPr>
          <a:xfrm>
            <a:off x="174356" y="1233406"/>
            <a:ext cx="11836830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Georgia Pro"/>
                <a:cs typeface="Calibri"/>
              </a:rPr>
              <a:t>Given statement: </a:t>
            </a:r>
            <a:r>
              <a:rPr lang="en-US" sz="2800" b="1" dirty="0">
                <a:solidFill>
                  <a:srgbClr val="FF0000"/>
                </a:solidFill>
                <a:latin typeface="Georgia Pro"/>
                <a:cs typeface="Calibri"/>
              </a:rPr>
              <a:t>"Every student of CSE department of GUB has studied discrete mathematics"</a:t>
            </a:r>
          </a:p>
          <a:p>
            <a:r>
              <a:rPr lang="en-US" sz="2800" b="1" dirty="0">
                <a:latin typeface="Georgia Pro"/>
                <a:ea typeface="+mn-lt"/>
                <a:cs typeface="+mn-lt"/>
              </a:rPr>
              <a:t>Domain of x</a:t>
            </a:r>
            <a:r>
              <a:rPr lang="en-US" sz="2800" dirty="0">
                <a:latin typeface="Georgia Pro"/>
                <a:ea typeface="+mn-lt"/>
                <a:cs typeface="+mn-lt"/>
              </a:rPr>
              <a:t> is "all students of </a:t>
            </a:r>
            <a:r>
              <a:rPr lang="en-US" sz="2800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CSE department</a:t>
            </a:r>
            <a:r>
              <a:rPr lang="en-US" sz="2800" dirty="0">
                <a:latin typeface="Georgia Pro"/>
                <a:ea typeface="+mn-lt"/>
                <a:cs typeface="+mn-lt"/>
              </a:rPr>
              <a:t> of GUB"</a:t>
            </a:r>
            <a:endParaRPr lang="en-US" dirty="0">
              <a:latin typeface="Georgia Pro"/>
              <a:ea typeface="+mn-lt"/>
              <a:cs typeface="+mn-lt"/>
            </a:endParaRPr>
          </a:p>
          <a:p>
            <a:endParaRPr lang="en-US" sz="2800" dirty="0">
              <a:latin typeface="Georgia Pro"/>
              <a:cs typeface="Calibri"/>
            </a:endParaRP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latin typeface="Georgia Pro"/>
                <a:cs typeface="Calibri"/>
              </a:rPr>
              <a:t>First re-write the sentence so that we can identify the appropriate quantifiers and logical connective.</a:t>
            </a:r>
          </a:p>
          <a:p>
            <a:r>
              <a:rPr lang="en-US" sz="2800" dirty="0">
                <a:latin typeface="Georgia Pro"/>
                <a:cs typeface="Calibri"/>
              </a:rPr>
              <a:t>     "For every student x of </a:t>
            </a:r>
            <a:r>
              <a:rPr lang="en-US" sz="2800" dirty="0">
                <a:latin typeface="Georgia Pro"/>
                <a:ea typeface="+mn-lt"/>
                <a:cs typeface="+mn-lt"/>
              </a:rPr>
              <a:t>CSE department</a:t>
            </a:r>
            <a:r>
              <a:rPr lang="en-US" sz="2800" dirty="0">
                <a:latin typeface="Georgia Pro"/>
                <a:cs typeface="Calibri"/>
              </a:rPr>
              <a:t> of GUB , x has studied discrete         mathematics"</a:t>
            </a:r>
            <a:endParaRPr lang="en-US" dirty="0"/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latin typeface="Georgia Pro"/>
                <a:cs typeface="Calibri"/>
              </a:rPr>
              <a:t>Let, P(x) denotes "x has studied discrete mathematics" then the given statement: </a:t>
            </a:r>
            <a:r>
              <a:rPr lang="en-US" sz="2800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∀x P(x)</a:t>
            </a:r>
          </a:p>
        </p:txBody>
      </p:sp>
    </p:spTree>
    <p:extLst>
      <p:ext uri="{BB962C8B-B14F-4D97-AF65-F5344CB8AC3E}">
        <p14:creationId xmlns:p14="http://schemas.microsoft.com/office/powerpoint/2010/main" val="1851424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A44717-3BB4-0A09-AD3C-6852B89AC08F}"/>
              </a:ext>
            </a:extLst>
          </p:cNvPr>
          <p:cNvSpPr txBox="1"/>
          <p:nvPr/>
        </p:nvSpPr>
        <p:spPr>
          <a:xfrm>
            <a:off x="74908" y="152400"/>
            <a:ext cx="12042183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Georgia Pro"/>
              </a:rPr>
              <a:t>Given statement: </a:t>
            </a:r>
            <a:r>
              <a:rPr lang="en-US" sz="2800" b="1" dirty="0">
                <a:solidFill>
                  <a:srgbClr val="FF0000"/>
                </a:solidFill>
                <a:latin typeface="Georgia Pro"/>
              </a:rPr>
              <a:t>"Every student of CSE department of GUB has studied discrete mathematics"</a:t>
            </a:r>
            <a:r>
              <a:rPr lang="en-US" sz="2800" dirty="0">
                <a:solidFill>
                  <a:srgbClr val="FF0000"/>
                </a:solidFill>
                <a:latin typeface="Georgia Pro"/>
              </a:rPr>
              <a:t>​</a:t>
            </a:r>
            <a:endParaRPr lang="en-US" sz="2800" b="1" dirty="0">
              <a:solidFill>
                <a:srgbClr val="FF0000"/>
              </a:solidFill>
              <a:latin typeface="Georgia Pro"/>
            </a:endParaRPr>
          </a:p>
          <a:p>
            <a:r>
              <a:rPr lang="en-US" sz="2800" b="1" dirty="0">
                <a:latin typeface="Georgia Pro"/>
              </a:rPr>
              <a:t>Domain of x: </a:t>
            </a:r>
            <a:r>
              <a:rPr lang="en-US" sz="2800" dirty="0">
                <a:latin typeface="Georgia Pro"/>
              </a:rPr>
              <a:t>"All students of GUB"</a:t>
            </a: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Now re-write the sentence:</a:t>
            </a: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"For every students x, if x is a student of CSE department of GUB, then x has studied discrete mathematics"</a:t>
            </a:r>
          </a:p>
          <a:p>
            <a:endParaRPr lang="en-US" sz="2800" dirty="0">
              <a:solidFill>
                <a:srgbClr val="000000"/>
              </a:solidFill>
              <a:latin typeface="Georgia Pro"/>
            </a:endParaRP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In this re-written statements: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</a:rPr>
              <a:t>P(x) denotes "x is a student of CSE department of GUB"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</a:rPr>
              <a:t>Q(x) denotes "x has studied discrete mathematics"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</a:rPr>
              <a:t> </a:t>
            </a:r>
            <a:r>
              <a:rPr lang="en-US" sz="2800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"if x is a student of CSE department of GUB, then x has studied discrete mathematics"</a:t>
            </a:r>
            <a:r>
              <a:rPr lang="en-US" sz="2800" dirty="0">
                <a:solidFill>
                  <a:srgbClr val="000000"/>
                </a:solidFill>
                <a:latin typeface="Georgia Pro"/>
              </a:rPr>
              <a:t> denotes: P(x) </a:t>
            </a:r>
            <a:r>
              <a:rPr lang="en-US" sz="2800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→ Q(x)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"For every students x, if x is a student of CSE department of GUB, then x has studied discrete mathematics" denotes: </a:t>
            </a:r>
            <a:r>
              <a:rPr lang="en-US" sz="2800" b="1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∀x( P(x) → Q(x) )</a:t>
            </a:r>
          </a:p>
          <a:p>
            <a:endParaRPr lang="en-US" sz="2800" dirty="0">
              <a:solidFill>
                <a:srgbClr val="000000"/>
              </a:solidFill>
              <a:latin typeface="Georgia Pro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94509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5C176F-CCF4-D599-EDCC-67A6A49E712A}"/>
              </a:ext>
            </a:extLst>
          </p:cNvPr>
          <p:cNvSpPr txBox="1"/>
          <p:nvPr/>
        </p:nvSpPr>
        <p:spPr>
          <a:xfrm>
            <a:off x="1756473" y="3048000"/>
            <a:ext cx="867905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latin typeface="Georgia Pro"/>
                <a:cs typeface="Calibri"/>
              </a:rPr>
              <a:t>But can we write that as </a:t>
            </a:r>
            <a:r>
              <a:rPr lang="en-US" sz="3200" b="1" dirty="0">
                <a:latin typeface="Georgia Pro"/>
                <a:cs typeface="Calibri"/>
              </a:rPr>
              <a:t>∀x( P(x) ^ Q(x) )</a:t>
            </a:r>
            <a:r>
              <a:rPr lang="en-US" sz="3200" dirty="0">
                <a:latin typeface="Georgia Pro"/>
                <a:cs typeface="Calibri"/>
              </a:rPr>
              <a:t> ??</a:t>
            </a:r>
          </a:p>
          <a:p>
            <a:endParaRPr lang="en-US" sz="3200" dirty="0">
              <a:latin typeface="Georgia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9521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35AB4F-174A-C09C-888D-F42DE6386619}"/>
              </a:ext>
            </a:extLst>
          </p:cNvPr>
          <p:cNvSpPr txBox="1"/>
          <p:nvPr/>
        </p:nvSpPr>
        <p:spPr>
          <a:xfrm>
            <a:off x="113655" y="1560164"/>
            <a:ext cx="1197760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Georgia Pro"/>
                <a:ea typeface="+mn-lt"/>
                <a:cs typeface="+mn-lt"/>
              </a:rPr>
              <a:t>Domain of x: </a:t>
            </a:r>
            <a:r>
              <a:rPr lang="en-US" sz="3600" dirty="0">
                <a:latin typeface="Georgia Pro"/>
                <a:ea typeface="+mn-lt"/>
                <a:cs typeface="+mn-lt"/>
              </a:rPr>
              <a:t>"All students of GUB" </a:t>
            </a:r>
            <a:endParaRPr lang="en-US" sz="3600">
              <a:latin typeface="Georgia Pro"/>
              <a:cs typeface="Calibri" panose="020F0502020204030204"/>
            </a:endParaRPr>
          </a:p>
          <a:p>
            <a:r>
              <a:rPr lang="en-US" sz="3600" b="1" dirty="0">
                <a:latin typeface="Georgia Pro"/>
              </a:rPr>
              <a:t>∀x( P(x) ^ Q(x) ) </a:t>
            </a:r>
            <a:r>
              <a:rPr lang="en-US" sz="3600" dirty="0">
                <a:latin typeface="Georgia Pro"/>
              </a:rPr>
              <a:t>means "For all students of GUB, are students of CSE department of GUB and has studied discrete mathematics" </a:t>
            </a:r>
            <a:endParaRPr lang="en-US" sz="3600" dirty="0">
              <a:latin typeface="Georgia Pro"/>
              <a:cs typeface="Calibri"/>
            </a:endParaRPr>
          </a:p>
          <a:p>
            <a:endParaRPr lang="en-US" sz="3600" dirty="0">
              <a:latin typeface="Georgia Pro"/>
              <a:cs typeface="Calibri"/>
            </a:endParaRPr>
          </a:p>
          <a:p>
            <a:r>
              <a:rPr lang="en-US" sz="3600" dirty="0">
                <a:latin typeface="Georgia Pro"/>
                <a:cs typeface="Calibri"/>
              </a:rPr>
              <a:t>So </a:t>
            </a:r>
            <a:r>
              <a:rPr lang="en-US" sz="3600" b="1" dirty="0">
                <a:latin typeface="Georgia Pro"/>
                <a:ea typeface="+mn-lt"/>
                <a:cs typeface="+mn-lt"/>
              </a:rPr>
              <a:t>∀x( P(x) ^ Q(x) ) does not satisfy given statement</a:t>
            </a:r>
            <a:endParaRPr lang="en-US" sz="3600" dirty="0">
              <a:latin typeface="Georgia Pr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993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390B70-6FA2-114C-FF27-C3EB98BCEA0B}"/>
              </a:ext>
            </a:extLst>
          </p:cNvPr>
          <p:cNvSpPr txBox="1"/>
          <p:nvPr/>
        </p:nvSpPr>
        <p:spPr>
          <a:xfrm>
            <a:off x="74908" y="578603"/>
            <a:ext cx="12042183" cy="5693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Georgia Pro"/>
              </a:rPr>
              <a:t>Given statement: </a:t>
            </a:r>
            <a:r>
              <a:rPr lang="en-US" sz="2800" b="1" dirty="0">
                <a:solidFill>
                  <a:srgbClr val="FF0000"/>
                </a:solidFill>
                <a:latin typeface="Georgia Pro"/>
              </a:rPr>
              <a:t>"Every student of CSE department of GUB has studied discrete mathematics"</a:t>
            </a:r>
            <a:r>
              <a:rPr lang="en-US" sz="2800" dirty="0">
                <a:solidFill>
                  <a:srgbClr val="FF0000"/>
                </a:solidFill>
                <a:latin typeface="Georgia Pro"/>
              </a:rPr>
              <a:t>​</a:t>
            </a:r>
            <a:endParaRPr lang="en-US" sz="2800" b="1" dirty="0">
              <a:solidFill>
                <a:srgbClr val="FF0000"/>
              </a:solidFill>
              <a:latin typeface="Georgia Pro"/>
            </a:endParaRPr>
          </a:p>
          <a:p>
            <a:r>
              <a:rPr lang="en-US" sz="2800" b="1" dirty="0">
                <a:latin typeface="Georgia Pro"/>
              </a:rPr>
              <a:t>Domain of x: </a:t>
            </a:r>
            <a:r>
              <a:rPr lang="en-US" sz="2800" dirty="0">
                <a:latin typeface="Georgia Pro"/>
              </a:rPr>
              <a:t>"All students of GUB"</a:t>
            </a: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Now re-write the sentence:</a:t>
            </a: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"For every students x, if x is a student of CSE department of GUB, then x has studied y"</a:t>
            </a:r>
          </a:p>
          <a:p>
            <a:endParaRPr lang="en-US" sz="2800" dirty="0">
              <a:solidFill>
                <a:srgbClr val="000000"/>
              </a:solidFill>
              <a:latin typeface="Georgia Pro"/>
            </a:endParaRP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In this re-written statements: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</a:rPr>
              <a:t>St(x) denotes "x is a student of CSE department of GUB"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</a:rPr>
              <a:t>Study(</a:t>
            </a:r>
            <a:r>
              <a:rPr lang="en-US" sz="2800" dirty="0" err="1">
                <a:solidFill>
                  <a:srgbClr val="000000"/>
                </a:solidFill>
                <a:latin typeface="Georgia Pro"/>
              </a:rPr>
              <a:t>x,y</a:t>
            </a:r>
            <a:r>
              <a:rPr lang="en-US" sz="2800" dirty="0">
                <a:solidFill>
                  <a:srgbClr val="000000"/>
                </a:solidFill>
                <a:latin typeface="Georgia Pro"/>
              </a:rPr>
              <a:t>) denotes "x has studied y"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"For every students x, if x is a student of CSE department of GUB, then x has studied y" denotes: </a:t>
            </a:r>
            <a:r>
              <a:rPr lang="en-US" sz="2800" b="1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∀x( St(x) → Study(</a:t>
            </a:r>
            <a:r>
              <a:rPr lang="en-US" sz="2800" b="1" dirty="0" err="1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x,y</a:t>
            </a:r>
            <a:r>
              <a:rPr lang="en-US" sz="2800" b="1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) )</a:t>
            </a:r>
          </a:p>
          <a:p>
            <a:endParaRPr lang="en-US" sz="2800" dirty="0">
              <a:solidFill>
                <a:srgbClr val="000000"/>
              </a:solidFill>
              <a:latin typeface="Georgia Pro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25065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390B70-6FA2-114C-FF27-C3EB98BCEA0B}"/>
              </a:ext>
            </a:extLst>
          </p:cNvPr>
          <p:cNvSpPr txBox="1"/>
          <p:nvPr/>
        </p:nvSpPr>
        <p:spPr>
          <a:xfrm>
            <a:off x="74908" y="578603"/>
            <a:ext cx="12042183" cy="5693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Georgia Pro"/>
              </a:rPr>
              <a:t>Given statement: </a:t>
            </a:r>
            <a:r>
              <a:rPr lang="en-US" sz="2800" b="1" dirty="0">
                <a:solidFill>
                  <a:srgbClr val="FF0000"/>
                </a:solidFill>
                <a:latin typeface="Georgia Pro"/>
              </a:rPr>
              <a:t>"Every student of CSE department of GUB has studied discrete mathematics"</a:t>
            </a:r>
            <a:r>
              <a:rPr lang="en-US" sz="2800" dirty="0">
                <a:solidFill>
                  <a:srgbClr val="FF0000"/>
                </a:solidFill>
                <a:latin typeface="Georgia Pro"/>
              </a:rPr>
              <a:t>​</a:t>
            </a:r>
            <a:endParaRPr lang="en-US" sz="2800" b="1" dirty="0">
              <a:solidFill>
                <a:srgbClr val="FF0000"/>
              </a:solidFill>
              <a:latin typeface="Georgia Pro"/>
            </a:endParaRPr>
          </a:p>
          <a:p>
            <a:r>
              <a:rPr lang="en-US" sz="2800" b="1" dirty="0">
                <a:latin typeface="Georgia Pro"/>
              </a:rPr>
              <a:t>Domain of x: </a:t>
            </a:r>
            <a:r>
              <a:rPr lang="en-US" sz="2800" dirty="0">
                <a:latin typeface="Georgia Pro"/>
              </a:rPr>
              <a:t>"All students of GUB"</a:t>
            </a: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Now re-write the sentence:</a:t>
            </a: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"For every students x, if x is a student of CSE department of GUB, then x has studied y"</a:t>
            </a:r>
          </a:p>
          <a:p>
            <a:endParaRPr lang="en-US" sz="2800" dirty="0">
              <a:solidFill>
                <a:srgbClr val="000000"/>
              </a:solidFill>
              <a:latin typeface="Georgia Pro"/>
            </a:endParaRP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In this re-written statements: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</a:rPr>
              <a:t>St(</a:t>
            </a:r>
            <a:r>
              <a:rPr lang="en-US" sz="2800" dirty="0" err="1">
                <a:solidFill>
                  <a:srgbClr val="000000"/>
                </a:solidFill>
                <a:latin typeface="Georgia Pro"/>
              </a:rPr>
              <a:t>x,m,n</a:t>
            </a:r>
            <a:r>
              <a:rPr lang="en-US" sz="2800" dirty="0">
                <a:solidFill>
                  <a:srgbClr val="000000"/>
                </a:solidFill>
                <a:latin typeface="Georgia Pro"/>
              </a:rPr>
              <a:t>) denotes "x is a student of m department of n"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</a:rPr>
              <a:t>Study(</a:t>
            </a:r>
            <a:r>
              <a:rPr lang="en-US" sz="2800" dirty="0" err="1">
                <a:solidFill>
                  <a:srgbClr val="000000"/>
                </a:solidFill>
                <a:latin typeface="Georgia Pro"/>
              </a:rPr>
              <a:t>x,y</a:t>
            </a:r>
            <a:r>
              <a:rPr lang="en-US" sz="2800" dirty="0">
                <a:solidFill>
                  <a:srgbClr val="000000"/>
                </a:solidFill>
                <a:latin typeface="Georgia Pro"/>
              </a:rPr>
              <a:t>) denotes "x has studied y"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"For every students x, if x is a student of CSE department of GUB, then x has studied y" denotes: </a:t>
            </a:r>
            <a:r>
              <a:rPr lang="en-US" sz="2800" b="1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∀x( St(</a:t>
            </a:r>
            <a:r>
              <a:rPr lang="en-US" sz="2800" b="1" dirty="0" err="1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x,m,n</a:t>
            </a:r>
            <a:r>
              <a:rPr lang="en-US" sz="2800" b="1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) → Study(</a:t>
            </a:r>
            <a:r>
              <a:rPr lang="en-US" sz="2800" b="1" dirty="0" err="1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x,y</a:t>
            </a:r>
            <a:r>
              <a:rPr lang="en-US" sz="2800" b="1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) )</a:t>
            </a:r>
          </a:p>
          <a:p>
            <a:endParaRPr lang="en-US" sz="2800" dirty="0">
              <a:solidFill>
                <a:srgbClr val="000000"/>
              </a:solidFill>
              <a:latin typeface="Georgia Pro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31555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44DE75-3C12-1A06-38C3-F77ABBFD105B}"/>
              </a:ext>
            </a:extLst>
          </p:cNvPr>
          <p:cNvSpPr txBox="1"/>
          <p:nvPr/>
        </p:nvSpPr>
        <p:spPr>
          <a:xfrm>
            <a:off x="74908" y="152400"/>
            <a:ext cx="12042183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Georgia Pro"/>
              </a:rPr>
              <a:t>Given statement: </a:t>
            </a:r>
            <a:r>
              <a:rPr lang="en-US" sz="2800" b="1" dirty="0">
                <a:solidFill>
                  <a:srgbClr val="FF0000"/>
                </a:solidFill>
                <a:latin typeface="Georgia Pro"/>
              </a:rPr>
              <a:t>"Every student of CSE department of GUB has studied discrete mathematics"</a:t>
            </a:r>
            <a:r>
              <a:rPr lang="en-US" sz="2800" dirty="0">
                <a:solidFill>
                  <a:srgbClr val="FF0000"/>
                </a:solidFill>
                <a:latin typeface="Georgia Pro"/>
              </a:rPr>
              <a:t>​</a:t>
            </a:r>
            <a:endParaRPr lang="en-US" sz="2800" b="1" dirty="0">
              <a:solidFill>
                <a:srgbClr val="FF0000"/>
              </a:solidFill>
              <a:latin typeface="Georgia Pro"/>
            </a:endParaRPr>
          </a:p>
          <a:p>
            <a:r>
              <a:rPr lang="en-US" sz="2800" b="1" dirty="0">
                <a:latin typeface="Georgia Pro"/>
              </a:rPr>
              <a:t>Domain of x: </a:t>
            </a:r>
            <a:r>
              <a:rPr lang="en-US" sz="2800" dirty="0">
                <a:latin typeface="Georgia Pro"/>
              </a:rPr>
              <a:t>"All people"</a:t>
            </a: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Now re-write the sentence:</a:t>
            </a: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"For every people x, if x is a student and x is from CSE department of GUB, then x has studied discrete mathematics"</a:t>
            </a:r>
          </a:p>
          <a:p>
            <a:endParaRPr lang="en-US" sz="2800" dirty="0">
              <a:solidFill>
                <a:srgbClr val="000000"/>
              </a:solidFill>
              <a:latin typeface="Georgia Pro"/>
            </a:endParaRPr>
          </a:p>
          <a:p>
            <a:r>
              <a:rPr lang="en-US" sz="2800" dirty="0">
                <a:solidFill>
                  <a:srgbClr val="000000"/>
                </a:solidFill>
                <a:latin typeface="Georgia Pro"/>
              </a:rPr>
              <a:t>In this re-written statements: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</a:rPr>
              <a:t>P(x) denotes "x is a student"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</a:rPr>
              <a:t>S(x) denotes "</a:t>
            </a:r>
            <a:r>
              <a:rPr lang="en-US" sz="2800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x is from CSE department of GUB"</a:t>
            </a:r>
            <a:endParaRPr lang="en-US" sz="2800" dirty="0">
              <a:solidFill>
                <a:srgbClr val="000000"/>
              </a:solidFill>
              <a:latin typeface="Georgia Pro"/>
            </a:endParaRP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</a:rPr>
              <a:t>Q(x) denotes "x has studied discrete mathematics"</a:t>
            </a:r>
          </a:p>
          <a:p>
            <a:pPr marL="457200" indent="-457200">
              <a:buFont typeface="Wingdings"/>
              <a:buChar char="Ø"/>
            </a:pPr>
            <a:r>
              <a:rPr lang="en-US" sz="2800" dirty="0">
                <a:solidFill>
                  <a:srgbClr val="000000"/>
                </a:solidFill>
                <a:latin typeface="Georgia Pro"/>
              </a:rPr>
              <a:t> </a:t>
            </a:r>
            <a:r>
              <a:rPr lang="en-US" sz="2800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"For every people x, if x is a student and x is from CSE department of GUB, then x has studied discrete mathematics"</a:t>
            </a:r>
            <a:endParaRPr lang="en-US">
              <a:latin typeface="Georgia Pro"/>
              <a:ea typeface="Calibri" panose="020F0502020204030204"/>
              <a:cs typeface="Calibri" panose="020F0502020204030204"/>
            </a:endParaRPr>
          </a:p>
          <a:p>
            <a:r>
              <a:rPr lang="en-US" sz="2800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 denotes: </a:t>
            </a:r>
            <a:r>
              <a:rPr lang="en-US" sz="2800" b="1" dirty="0">
                <a:solidFill>
                  <a:srgbClr val="000000"/>
                </a:solidFill>
                <a:latin typeface="Georgia Pro"/>
                <a:ea typeface="+mn-lt"/>
                <a:cs typeface="+mn-lt"/>
              </a:rPr>
              <a:t>∀x( P(x) ^ S(x)  → Q(x) )</a:t>
            </a:r>
            <a:endParaRPr lang="en-US" dirty="0">
              <a:latin typeface="Georgia Pro"/>
              <a:ea typeface="Calibri" panose="020F0502020204030204"/>
              <a:cs typeface="Calibri" panose="020F0502020204030204"/>
            </a:endParaRPr>
          </a:p>
          <a:p>
            <a:endParaRPr lang="en-US" sz="2800" dirty="0">
              <a:solidFill>
                <a:srgbClr val="000000"/>
              </a:solidFill>
              <a:latin typeface="Georgia Pro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25469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63A455-FCF3-3319-31A2-42C32CDF3C6A}"/>
              </a:ext>
            </a:extLst>
          </p:cNvPr>
          <p:cNvSpPr txBox="1"/>
          <p:nvPr/>
        </p:nvSpPr>
        <p:spPr>
          <a:xfrm>
            <a:off x="865322" y="3047999"/>
            <a:ext cx="1046135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latin typeface="Georgia Pro"/>
                <a:cs typeface="Calibri"/>
              </a:rPr>
              <a:t>Translating Quantified Statement</a:t>
            </a:r>
          </a:p>
          <a:p>
            <a:pPr algn="ctr"/>
            <a:r>
              <a:rPr lang="en-US" sz="4400" b="1" dirty="0">
                <a:latin typeface="Georgia Pro"/>
                <a:cs typeface="Calibri"/>
              </a:rPr>
              <a:t>Existential Quantifiers</a:t>
            </a:r>
          </a:p>
        </p:txBody>
      </p:sp>
    </p:spTree>
    <p:extLst>
      <p:ext uri="{BB962C8B-B14F-4D97-AF65-F5344CB8AC3E}">
        <p14:creationId xmlns:p14="http://schemas.microsoft.com/office/powerpoint/2010/main" val="4031428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BE65C6-1163-7515-4521-0CB2970B540E}"/>
              </a:ext>
            </a:extLst>
          </p:cNvPr>
          <p:cNvSpPr txBox="1"/>
          <p:nvPr/>
        </p:nvSpPr>
        <p:spPr>
          <a:xfrm>
            <a:off x="290592" y="290592"/>
            <a:ext cx="11546237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q"/>
            </a:pPr>
            <a:r>
              <a:rPr lang="en-US" sz="2400" dirty="0">
                <a:latin typeface="Georgia Pro"/>
                <a:ea typeface="Calibri"/>
                <a:cs typeface="Calibri"/>
              </a:rPr>
              <a:t>Domain: All students of GUB"</a:t>
            </a:r>
            <a:endParaRPr lang="en-US"/>
          </a:p>
          <a:p>
            <a:endParaRPr lang="en-US" sz="2400" dirty="0">
              <a:latin typeface="Georgia Pro"/>
              <a:ea typeface="Calibri"/>
              <a:cs typeface="Calibri"/>
            </a:endParaRP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"Some students in the GUB has studied Bangla" </a:t>
            </a: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Re-written: "For some x, x has studied Bangla"</a:t>
            </a: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Let P(x): "x has studied Bangla"</a:t>
            </a:r>
            <a:endParaRPr lang="en-US" sz="2400">
              <a:latin typeface="Georgia Pro"/>
            </a:endParaRP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Logical Expression: </a:t>
            </a:r>
            <a:r>
              <a:rPr lang="en-US" sz="2400" dirty="0">
                <a:latin typeface="Georgia Pro"/>
                <a:ea typeface="+mn-lt"/>
                <a:cs typeface="+mn-lt"/>
              </a:rPr>
              <a:t>∃</a:t>
            </a:r>
            <a:r>
              <a:rPr lang="en-US" sz="2400" err="1">
                <a:latin typeface="Georgia Pro"/>
                <a:ea typeface="+mn-lt"/>
                <a:cs typeface="+mn-lt"/>
              </a:rPr>
              <a:t>xP</a:t>
            </a:r>
            <a:r>
              <a:rPr lang="en-US" sz="2400" dirty="0">
                <a:latin typeface="Georgia Pro"/>
                <a:ea typeface="+mn-lt"/>
                <a:cs typeface="+mn-lt"/>
              </a:rPr>
              <a:t>(x)</a:t>
            </a:r>
            <a:endParaRPr lang="en-US" sz="2400" dirty="0">
              <a:latin typeface="Georgia Pro"/>
              <a:ea typeface="Calibri"/>
              <a:cs typeface="Calibri"/>
            </a:endParaRPr>
          </a:p>
          <a:p>
            <a:endParaRPr lang="en-US" sz="2400" dirty="0">
              <a:latin typeface="Georgia Pro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B78878-E57F-5FAD-B7BF-8D288DBF4072}"/>
              </a:ext>
            </a:extLst>
          </p:cNvPr>
          <p:cNvSpPr txBox="1"/>
          <p:nvPr/>
        </p:nvSpPr>
        <p:spPr>
          <a:xfrm>
            <a:off x="327631" y="3108310"/>
            <a:ext cx="1154623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q"/>
            </a:pPr>
            <a:r>
              <a:rPr lang="en-US" sz="2400" dirty="0">
                <a:latin typeface="Georgia Pro"/>
                <a:ea typeface="Calibri"/>
                <a:cs typeface="Calibri"/>
              </a:rPr>
              <a:t>Domain: "All people on earth"</a:t>
            </a:r>
            <a:endParaRPr lang="en-US"/>
          </a:p>
          <a:p>
            <a:endParaRPr lang="en-US" sz="2400" dirty="0">
              <a:latin typeface="Georgia Pro"/>
              <a:ea typeface="Calibri"/>
              <a:cs typeface="Calibri"/>
            </a:endParaRP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"Some students in the GUB has studied Bangla" </a:t>
            </a: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Re-written: "For some people x, x is a student of GUB and x has studied Bangla"</a:t>
            </a: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Let,</a:t>
            </a: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P(x): "x is a student of GUB"</a:t>
            </a:r>
            <a:endParaRPr lang="en-US" sz="2400">
              <a:latin typeface="Georgia Pro"/>
            </a:endParaRP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Q(x): "x has studied Bangla"</a:t>
            </a:r>
          </a:p>
          <a:p>
            <a:r>
              <a:rPr lang="en-US" sz="2400" dirty="0">
                <a:latin typeface="Georgia Pro"/>
                <a:ea typeface="Calibri"/>
                <a:cs typeface="Calibri"/>
              </a:rPr>
              <a:t>SO: ∃x(P(x) ^ Q(x))</a:t>
            </a:r>
          </a:p>
          <a:p>
            <a:endParaRPr lang="en-US" sz="2400" dirty="0">
              <a:latin typeface="Georgi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9290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50EFAE-75AD-C081-7754-96C77CCBB291}"/>
              </a:ext>
            </a:extLst>
          </p:cNvPr>
          <p:cNvSpPr txBox="1"/>
          <p:nvPr/>
        </p:nvSpPr>
        <p:spPr>
          <a:xfrm>
            <a:off x="12913" y="374542"/>
            <a:ext cx="12179084" cy="612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Georgia Pro"/>
                <a:ea typeface="Calibri"/>
                <a:cs typeface="Calibri"/>
              </a:rPr>
              <a:t>Problem:</a:t>
            </a:r>
          </a:p>
          <a:p>
            <a:r>
              <a:rPr lang="en-US" sz="2800" dirty="0">
                <a:latin typeface="Georgia Pro"/>
                <a:ea typeface="Calibri"/>
                <a:cs typeface="Calibri"/>
              </a:rPr>
              <a:t>"All tigers are wild animal"</a:t>
            </a:r>
          </a:p>
          <a:p>
            <a:r>
              <a:rPr lang="en-US" sz="2800" dirty="0">
                <a:latin typeface="Georgia Pro"/>
                <a:ea typeface="Calibri"/>
                <a:cs typeface="Calibri"/>
              </a:rPr>
              <a:t>"Some tigers can not hunt properly"</a:t>
            </a:r>
          </a:p>
          <a:p>
            <a:r>
              <a:rPr lang="en-US" sz="2800" dirty="0">
                <a:latin typeface="Georgia Pro"/>
                <a:ea typeface="Calibri"/>
                <a:cs typeface="Calibri"/>
              </a:rPr>
              <a:t>"Some wild animals can not hunt properly:</a:t>
            </a:r>
          </a:p>
          <a:p>
            <a:endParaRPr lang="en-US" sz="2800" dirty="0">
              <a:latin typeface="Georgia Pro"/>
              <a:ea typeface="Calibri"/>
              <a:cs typeface="Calibri"/>
            </a:endParaRPr>
          </a:p>
          <a:p>
            <a:r>
              <a:rPr lang="en-US" sz="2800" b="1" dirty="0">
                <a:latin typeface="Georgia Pro"/>
                <a:ea typeface="Calibri"/>
                <a:cs typeface="Calibri"/>
              </a:rPr>
              <a:t>Solve:</a:t>
            </a:r>
          </a:p>
          <a:p>
            <a:r>
              <a:rPr lang="en-US" sz="2800" dirty="0">
                <a:latin typeface="Georgia Pro"/>
                <a:ea typeface="Calibri"/>
                <a:cs typeface="Calibri"/>
              </a:rPr>
              <a:t>Domain: All creatures</a:t>
            </a:r>
          </a:p>
          <a:p>
            <a:r>
              <a:rPr lang="en-US" sz="2800" dirty="0">
                <a:latin typeface="Georgia Pro"/>
                <a:ea typeface="Calibri"/>
                <a:cs typeface="Calibri"/>
              </a:rPr>
              <a:t>P(x): x is a tiger</a:t>
            </a:r>
          </a:p>
          <a:p>
            <a:r>
              <a:rPr lang="en-US" sz="2800" dirty="0">
                <a:latin typeface="Georgia Pro"/>
                <a:ea typeface="Calibri"/>
                <a:cs typeface="Calibri"/>
              </a:rPr>
              <a:t>Q(x): x is wild animal</a:t>
            </a:r>
          </a:p>
          <a:p>
            <a:r>
              <a:rPr lang="en-US" sz="2800" dirty="0">
                <a:latin typeface="Georgia Pro"/>
                <a:ea typeface="Calibri"/>
                <a:cs typeface="Calibri"/>
              </a:rPr>
              <a:t>S(x): x can hunt properly</a:t>
            </a:r>
          </a:p>
          <a:p>
            <a:r>
              <a:rPr lang="en-US" sz="2800" dirty="0">
                <a:latin typeface="Georgia Pro"/>
                <a:ea typeface="+mn-lt"/>
                <a:cs typeface="+mn-lt"/>
              </a:rPr>
              <a:t>∃x ∀x</a:t>
            </a:r>
          </a:p>
          <a:p>
            <a:r>
              <a:rPr lang="en-US" sz="2800" dirty="0">
                <a:latin typeface="Georgia Pro"/>
                <a:ea typeface="+mn-lt"/>
                <a:cs typeface="+mn-lt"/>
              </a:rPr>
              <a:t>For all x, if x are tigers, then x are wild animals: ∀x(P(x) → Q(x))</a:t>
            </a:r>
            <a:endParaRPr lang="en-US" sz="2800" dirty="0">
              <a:latin typeface="Georgia Pro"/>
              <a:ea typeface="Calibri"/>
              <a:cs typeface="Calibri"/>
            </a:endParaRPr>
          </a:p>
          <a:p>
            <a:r>
              <a:rPr lang="en-US" sz="2800" dirty="0">
                <a:latin typeface="Georgia Pro"/>
                <a:ea typeface="Calibri"/>
                <a:cs typeface="Calibri"/>
              </a:rPr>
              <a:t>For some x, x are tigers and can not hunt properly: ∃x(P(x) ^ ~S(x))</a:t>
            </a:r>
          </a:p>
          <a:p>
            <a:r>
              <a:rPr lang="en-US" sz="2800" dirty="0">
                <a:latin typeface="Georgia Pro"/>
                <a:ea typeface="Calibri"/>
                <a:cs typeface="Calibri"/>
              </a:rPr>
              <a:t>For some x, x are wild animals and can not hunt properly: ∃x(Q(x) ^ ~S(x))</a:t>
            </a:r>
            <a:endParaRPr lang="en-US" sz="2800" dirty="0">
              <a:latin typeface="Georgia Pr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2620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and red text&#10;&#10;Description automatically generated">
            <a:extLst>
              <a:ext uri="{FF2B5EF4-FFF2-40B4-BE49-F238E27FC236}">
                <a16:creationId xmlns:a16="http://schemas.microsoft.com/office/drawing/2014/main" id="{46D1B84D-237E-476B-06B2-367672BF1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368" y="166705"/>
            <a:ext cx="8748483" cy="627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36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Sagor Ahmed Saron</cp:lastModifiedBy>
  <cp:revision>683</cp:revision>
  <dcterms:created xsi:type="dcterms:W3CDTF">2023-10-12T13:58:56Z</dcterms:created>
  <dcterms:modified xsi:type="dcterms:W3CDTF">2024-02-12T16:42:02Z</dcterms:modified>
</cp:coreProperties>
</file>