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9" r:id="rId1"/>
    <p:sldMasterId id="2147483650" r:id="rId2"/>
  </p:sldMasterIdLst>
  <p:notesMasterIdLst>
    <p:notesMasterId r:id="rId44"/>
  </p:notesMasterIdLst>
  <p:sldIdLst>
    <p:sldId id="256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98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9144000" cy="6858000" type="screen4x3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84580D-8A3A-421F-B6ED-09499E13015C}">
  <a:tblStyle styleId="{F584580D-8A3A-421F-B6ED-09499E13015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1326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 /><Relationship Id="rId13" Type="http://schemas.openxmlformats.org/officeDocument/2006/relationships/slide" Target="slides/slide11.xml" /><Relationship Id="rId18" Type="http://schemas.openxmlformats.org/officeDocument/2006/relationships/slide" Target="slides/slide16.xml" /><Relationship Id="rId26" Type="http://schemas.openxmlformats.org/officeDocument/2006/relationships/slide" Target="slides/slide24.xml" /><Relationship Id="rId39" Type="http://schemas.openxmlformats.org/officeDocument/2006/relationships/slide" Target="slides/slide37.xml" /><Relationship Id="rId3" Type="http://schemas.openxmlformats.org/officeDocument/2006/relationships/slide" Target="slides/slide1.xml" /><Relationship Id="rId21" Type="http://schemas.openxmlformats.org/officeDocument/2006/relationships/slide" Target="slides/slide19.xml" /><Relationship Id="rId34" Type="http://schemas.openxmlformats.org/officeDocument/2006/relationships/slide" Target="slides/slide32.xml" /><Relationship Id="rId42" Type="http://schemas.openxmlformats.org/officeDocument/2006/relationships/slide" Target="slides/slide40.xml" /><Relationship Id="rId47" Type="http://schemas.openxmlformats.org/officeDocument/2006/relationships/theme" Target="theme/theme1.xml" /><Relationship Id="rId7" Type="http://schemas.openxmlformats.org/officeDocument/2006/relationships/slide" Target="slides/slide5.xml" /><Relationship Id="rId12" Type="http://schemas.openxmlformats.org/officeDocument/2006/relationships/slide" Target="slides/slide10.xml" /><Relationship Id="rId17" Type="http://schemas.openxmlformats.org/officeDocument/2006/relationships/slide" Target="slides/slide15.xml" /><Relationship Id="rId25" Type="http://schemas.openxmlformats.org/officeDocument/2006/relationships/slide" Target="slides/slide23.xml" /><Relationship Id="rId33" Type="http://schemas.openxmlformats.org/officeDocument/2006/relationships/slide" Target="slides/slide31.xml" /><Relationship Id="rId38" Type="http://schemas.openxmlformats.org/officeDocument/2006/relationships/slide" Target="slides/slide36.xml" /><Relationship Id="rId46" Type="http://schemas.openxmlformats.org/officeDocument/2006/relationships/viewProps" Target="viewProps.xml" /><Relationship Id="rId2" Type="http://schemas.openxmlformats.org/officeDocument/2006/relationships/slideMaster" Target="slideMasters/slideMaster2.xml" /><Relationship Id="rId16" Type="http://schemas.openxmlformats.org/officeDocument/2006/relationships/slide" Target="slides/slide14.xml" /><Relationship Id="rId20" Type="http://schemas.openxmlformats.org/officeDocument/2006/relationships/slide" Target="slides/slide18.xml" /><Relationship Id="rId29" Type="http://schemas.openxmlformats.org/officeDocument/2006/relationships/slide" Target="slides/slide27.xml" /><Relationship Id="rId41" Type="http://schemas.openxmlformats.org/officeDocument/2006/relationships/slide" Target="slides/slide3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4.xml" /><Relationship Id="rId11" Type="http://schemas.openxmlformats.org/officeDocument/2006/relationships/slide" Target="slides/slide9.xml" /><Relationship Id="rId24" Type="http://schemas.openxmlformats.org/officeDocument/2006/relationships/slide" Target="slides/slide22.xml" /><Relationship Id="rId32" Type="http://schemas.openxmlformats.org/officeDocument/2006/relationships/slide" Target="slides/slide30.xml" /><Relationship Id="rId37" Type="http://schemas.openxmlformats.org/officeDocument/2006/relationships/slide" Target="slides/slide35.xml" /><Relationship Id="rId40" Type="http://schemas.openxmlformats.org/officeDocument/2006/relationships/slide" Target="slides/slide38.xml" /><Relationship Id="rId45" Type="http://schemas.openxmlformats.org/officeDocument/2006/relationships/presProps" Target="presProps.xml" /><Relationship Id="rId5" Type="http://schemas.openxmlformats.org/officeDocument/2006/relationships/slide" Target="slides/slide3.xml" /><Relationship Id="rId15" Type="http://schemas.openxmlformats.org/officeDocument/2006/relationships/slide" Target="slides/slide13.xml" /><Relationship Id="rId23" Type="http://schemas.openxmlformats.org/officeDocument/2006/relationships/slide" Target="slides/slide21.xml" /><Relationship Id="rId28" Type="http://schemas.openxmlformats.org/officeDocument/2006/relationships/slide" Target="slides/slide26.xml" /><Relationship Id="rId36" Type="http://schemas.openxmlformats.org/officeDocument/2006/relationships/slide" Target="slides/slide34.xml" /><Relationship Id="rId10" Type="http://schemas.openxmlformats.org/officeDocument/2006/relationships/slide" Target="slides/slide8.xml" /><Relationship Id="rId19" Type="http://schemas.openxmlformats.org/officeDocument/2006/relationships/slide" Target="slides/slide17.xml" /><Relationship Id="rId31" Type="http://schemas.openxmlformats.org/officeDocument/2006/relationships/slide" Target="slides/slide29.xml" /><Relationship Id="rId44" Type="http://schemas.openxmlformats.org/officeDocument/2006/relationships/notesMaster" Target="notesMasters/notesMaster1.xml" /><Relationship Id="rId4" Type="http://schemas.openxmlformats.org/officeDocument/2006/relationships/slide" Target="slides/slide2.xml" /><Relationship Id="rId9" Type="http://schemas.openxmlformats.org/officeDocument/2006/relationships/slide" Target="slides/slide7.xml" /><Relationship Id="rId14" Type="http://schemas.openxmlformats.org/officeDocument/2006/relationships/slide" Target="slides/slide12.xml" /><Relationship Id="rId22" Type="http://schemas.openxmlformats.org/officeDocument/2006/relationships/slide" Target="slides/slide20.xml" /><Relationship Id="rId27" Type="http://schemas.openxmlformats.org/officeDocument/2006/relationships/slide" Target="slides/slide25.xml" /><Relationship Id="rId30" Type="http://schemas.openxmlformats.org/officeDocument/2006/relationships/slide" Target="slides/slide28.xml" /><Relationship Id="rId35" Type="http://schemas.openxmlformats.org/officeDocument/2006/relationships/slide" Target="slides/slide33.xml" /><Relationship Id="rId43" Type="http://schemas.openxmlformats.org/officeDocument/2006/relationships/slide" Target="slides/slide41.xml" /><Relationship Id="rId48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4962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454621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 /><Relationship Id="rId1" Type="http://schemas.openxmlformats.org/officeDocument/2006/relationships/notesMaster" Target="../notesMasters/notesMaster1.xml" 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 /><Relationship Id="rId1" Type="http://schemas.openxmlformats.org/officeDocument/2006/relationships/notesMaster" Target="../notesMasters/notesMaster1.xml" 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1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5487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Google Shape;37;p3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6962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5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64816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6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5340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p7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0144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p8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7549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9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77783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10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3259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11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37870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12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31620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13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84285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14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95879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15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45542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16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29231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17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99826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18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95666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p19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57427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20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49110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p21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47664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22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04159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p23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6187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24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72940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p25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24814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26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22881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7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27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65741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28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13759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9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p29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44054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0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30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60274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1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31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78708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2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p32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145640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3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p33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35148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4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p34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117852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5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p35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05938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6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p36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245731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7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p37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899520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8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Google Shape;311;p38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544100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9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9" name="Google Shape;319;p39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679712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0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40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896351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1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3" name="Google Shape;333;p41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180463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2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1" name="Google Shape;341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22886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838200" y="1371600"/>
            <a:ext cx="75438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FF0000"/>
              </a:buClr>
              <a:buSzPts val="2200"/>
              <a:buChar char="•"/>
              <a:defRPr>
                <a:solidFill>
                  <a:schemeClr val="dk1"/>
                </a:solidFill>
              </a:defRPr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  <a:defRPr>
                <a:solidFill>
                  <a:schemeClr val="dk1"/>
                </a:solidFill>
              </a:defRPr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0" y="1325562"/>
            <a:ext cx="9144000" cy="46037"/>
          </a:xfrm>
          <a:prstGeom prst="rect">
            <a:avLst/>
          </a:prstGeom>
          <a:solidFill>
            <a:srgbClr val="018952"/>
          </a:solidFill>
          <a:ln w="22225" cap="flat" cmpd="sng">
            <a:solidFill>
              <a:srgbClr val="0189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8610600" y="6400800"/>
            <a:ext cx="53340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262626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262626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262626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262626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262626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838200" y="1371600"/>
            <a:ext cx="75438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262626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262626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262626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262626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262626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371600"/>
            <a:ext cx="75438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versity.org/wiki/Introductory_Discrete_Mathematics_for_Computer_Science" TargetMode="External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1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1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1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1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1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1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1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1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 /><Relationship Id="rId1" Type="http://schemas.openxmlformats.org/officeDocument/2006/relationships/slideLayout" Target="../slideLayouts/slideLayout1.xml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 /><Relationship Id="rId1" Type="http://schemas.openxmlformats.org/officeDocument/2006/relationships/slideLayout" Target="../slideLayouts/slideLayout1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 /><Relationship Id="rId1" Type="http://schemas.openxmlformats.org/officeDocument/2006/relationships/slideLayout" Target="../slideLayouts/slideLayout1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 /><Relationship Id="rId1" Type="http://schemas.openxmlformats.org/officeDocument/2006/relationships/slideLayout" Target="../slideLayouts/slideLayout1.xml" 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30.xml" /><Relationship Id="rId1" Type="http://schemas.openxmlformats.org/officeDocument/2006/relationships/slideLayout" Target="../slideLayouts/slideLayout1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 /><Relationship Id="rId1" Type="http://schemas.openxmlformats.org/officeDocument/2006/relationships/slideLayout" Target="../slideLayouts/slideLayout1.xml" 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 /><Relationship Id="rId1" Type="http://schemas.openxmlformats.org/officeDocument/2006/relationships/slideLayout" Target="../slideLayouts/slideLayout1.xml" 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 /><Relationship Id="rId1" Type="http://schemas.openxmlformats.org/officeDocument/2006/relationships/slideLayout" Target="../slideLayouts/slideLayout1.xml" 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 /><Relationship Id="rId1" Type="http://schemas.openxmlformats.org/officeDocument/2006/relationships/slideLayout" Target="../slideLayouts/slideLayout1.xml" 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 /><Relationship Id="rId1" Type="http://schemas.openxmlformats.org/officeDocument/2006/relationships/slideLayout" Target="../slideLayouts/slideLayout1.xml" 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 /><Relationship Id="rId1" Type="http://schemas.openxmlformats.org/officeDocument/2006/relationships/slideLayout" Target="../slideLayouts/slideLayout1.xml" 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 /><Relationship Id="rId1" Type="http://schemas.openxmlformats.org/officeDocument/2006/relationships/slideLayout" Target="../slideLayouts/slideLayout1.xml" 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 /><Relationship Id="rId1" Type="http://schemas.openxmlformats.org/officeDocument/2006/relationships/slideLayout" Target="../slideLayouts/slideLayout1.xml" 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 /><Relationship Id="rId1" Type="http://schemas.openxmlformats.org/officeDocument/2006/relationships/slideLayout" Target="../slideLayouts/slideLayout1.xml" 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CSE 105: Discrete Mathematics</a:t>
            </a:r>
            <a:endParaRPr/>
          </a:p>
        </p:txBody>
      </p:sp>
      <p:pic>
        <p:nvPicPr>
          <p:cNvPr id="26" name="Google Shape;2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76600" y="1524000"/>
            <a:ext cx="2438400" cy="297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Course Materials</a:t>
            </a:r>
            <a:endParaRPr/>
          </a:p>
        </p:txBody>
      </p:sp>
      <p:sp>
        <p:nvSpPr>
          <p:cNvPr id="40" name="Google Shape;40;p6"/>
          <p:cNvSpPr txBox="1"/>
          <p:nvPr/>
        </p:nvSpPr>
        <p:spPr>
          <a:xfrm>
            <a:off x="228600" y="1938337"/>
            <a:ext cx="8686800" cy="2862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Book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20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Mathematics and Its Application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Kenneth H. Rosen, 7</a:t>
            </a:r>
            <a:r>
              <a:rPr lang="en-US" sz="20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Edition, McGraw-Hill.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Lecture notes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 Materials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20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Schaum</a:t>
            </a:r>
            <a:r>
              <a:rPr lang="en-US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</a:t>
            </a:r>
            <a:r>
              <a:rPr lang="en-US" sz="20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Outlines Discrete Mathematics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Seymore Lipschutz &amp; Marc Lipson, 3</a:t>
            </a:r>
            <a:r>
              <a:rPr lang="en-US" sz="20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rd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Edition, McGraw-Hill.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http://en.wikiversity.org/wiki/Introductory_Discrete_Mathematics_for_Computer_Science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Discrete mathematics</a:t>
            </a:r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381000" y="1447800"/>
            <a:ext cx="8305800" cy="5262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Discrete mathematics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study of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mathematical structures and objects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 are fundamentally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discrete rather than continuous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 of objects with discrete values are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integers, graphs, or statements in logic.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Discrete mathematics and 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 science.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Concepts from discrete mathematics are useful for describing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objects and problems in computer algorithms and programming languages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These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have applications in cryptography, automated theorem proving, and software development.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Logic</a:t>
            </a:r>
            <a:endParaRPr/>
          </a:p>
        </p:txBody>
      </p:sp>
      <p:sp>
        <p:nvSpPr>
          <p:cNvPr id="61" name="Google Shape;61;p9"/>
          <p:cNvSpPr txBox="1"/>
          <p:nvPr/>
        </p:nvSpPr>
        <p:spPr>
          <a:xfrm>
            <a:off x="304800" y="1828800"/>
            <a:ext cx="8305800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20650" marR="0" lvl="0" indent="-1206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Logic defines a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formal language for representing knowledge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for making logical inference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0650" marR="0" lvl="0" indent="-1206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helps us to understand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how to construct a valid argument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06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06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Logic defines: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06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Syntax of statements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06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The meaning of statements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06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The rules of logical inference (manipulation)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Propositional logic</a:t>
            </a:r>
            <a:endParaRPr/>
          </a:p>
        </p:txBody>
      </p:sp>
      <p:sp>
        <p:nvSpPr>
          <p:cNvPr id="68" name="Google Shape;68;p10"/>
          <p:cNvSpPr txBox="1"/>
          <p:nvPr/>
        </p:nvSpPr>
        <p:spPr>
          <a:xfrm>
            <a:off x="457200" y="1447800"/>
            <a:ext cx="868680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simplest logic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proposition is a statement that is either true or false.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Airport is located in the North Part of Dhaka City.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5 + 2 = 8.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(F)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It is raining today.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(either T or F)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Propositional logic</a:t>
            </a:r>
            <a:endParaRPr/>
          </a:p>
        </p:txBody>
      </p:sp>
      <p:sp>
        <p:nvSpPr>
          <p:cNvPr id="75" name="Google Shape;75;p11"/>
          <p:cNvSpPr txBox="1"/>
          <p:nvPr/>
        </p:nvSpPr>
        <p:spPr>
          <a:xfrm>
            <a:off x="457200" y="1447800"/>
            <a:ext cx="8686800" cy="5140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 (cont.):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 How are you?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question is not a proposition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 x + 5 =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since x is not specified, neither true nor false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 is a prime number.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She is very talented.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since she is not specified, neither true nor false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There are other life forms on other planets in the universe.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either T or 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Composite Statements</a:t>
            </a:r>
            <a:endParaRPr/>
          </a:p>
        </p:txBody>
      </p:sp>
      <p:sp>
        <p:nvSpPr>
          <p:cNvPr id="82" name="Google Shape;82;p12"/>
          <p:cNvSpPr txBox="1"/>
          <p:nvPr/>
        </p:nvSpPr>
        <p:spPr>
          <a:xfrm>
            <a:off x="533400" y="1447800"/>
            <a:ext cx="8153400" cy="329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More complex propositional statements can be built from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elementary statements using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logical connectives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Proposition A: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It rains outside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Proposition B: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We will see a movie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 new (combined) proposition: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it rains outside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we will see a movie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Composite Statements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33400" y="1447800"/>
            <a:ext cx="8153400" cy="415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More complex propositional statements can be built from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elementary statements using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logical connectives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Logical connectives: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Negation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Conjunction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Disjunction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Exclusive 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Implication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Biconditional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Logical connectives: Negation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304800" y="1447800"/>
            <a:ext cx="8610600" cy="5262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Definition: Let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 a proposition. The statement "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It is not the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case that p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." is another proposition, called the 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negation of p. The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negation of p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denoted by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¬ p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read as "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 p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."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Airport is located in the North Part of Dhaka City.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It is not the case that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Airport is located in the North Part of Dhaka City.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 examples: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5 + 2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≠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8.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10 is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prime number.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It is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 the case that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buses stop running at 9:00pm.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381000" y="3810000"/>
            <a:ext cx="304800" cy="15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222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Logical connectives: Negation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304800" y="1447800"/>
            <a:ext cx="8610600" cy="415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Negate the following propositions: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It is raining today.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It is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raining today.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2 is a prime number.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2 is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prime number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There are other life forms on other planets in the universe.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It is not the case that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other life forms on other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planets in the universe.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Logical connectives: Negation</a:t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304800" y="1752600"/>
            <a:ext cx="85344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truth table 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displays the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relationships between truth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values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(T or F) of different propositions.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2" name="Google Shape;112;p16"/>
          <p:cNvGraphicFramePr/>
          <p:nvPr/>
        </p:nvGraphicFramePr>
        <p:xfrm>
          <a:off x="1219200" y="35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{F584580D-8A3A-421F-B6ED-09499E13015C}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 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3" name="Google Shape;113;p16"/>
          <p:cNvSpPr/>
          <p:nvPr/>
        </p:nvSpPr>
        <p:spPr>
          <a:xfrm rot="10800000" flipH="1">
            <a:off x="533400" y="5257800"/>
            <a:ext cx="4156075" cy="1414462"/>
          </a:xfrm>
          <a:prstGeom prst="wedgeRoundRectCallout">
            <a:avLst>
              <a:gd name="adj1" fmla="val 9782"/>
              <a:gd name="adj2" fmla="val 31518"/>
              <a:gd name="adj3" fmla="val 0"/>
            </a:avLst>
          </a:prstGeom>
          <a:noFill/>
          <a:ln w="222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838200" y="5410200"/>
            <a:ext cx="3733800" cy="83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Rows: all possible values of elementary proposition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Logical connectives: Conjunction</a:t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304800" y="1828800"/>
            <a:ext cx="8534400" cy="415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Definition: Let p and q be propositions. The proposition “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 and q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 denoted by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 ˄ q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is true when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both p and q are true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is false otherwise. The proposition p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˄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 is called the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conjunction of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 and q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It is raining today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 is a prime number.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2 is a prime number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5 + 2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≠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13 is a perfect square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9 is prime.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Logical connectives: Disjunction</a:t>
            </a:r>
            <a:endParaRPr/>
          </a:p>
        </p:txBody>
      </p:sp>
      <p:sp>
        <p:nvSpPr>
          <p:cNvPr id="128" name="Google Shape;128;p18"/>
          <p:cNvSpPr txBox="1"/>
          <p:nvPr/>
        </p:nvSpPr>
        <p:spPr>
          <a:xfrm>
            <a:off x="304800" y="1828800"/>
            <a:ext cx="8534400" cy="415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Definition: Let p and q be propositions. The proposition “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 or q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 denoted by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 ˅ q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is false when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both p and q are false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is true otherwise. The proposition p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˅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 is called the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disjunction of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 or q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It is raining today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 is a prime number.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2 is a prime number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5 + 2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≠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13 is a perfect square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9 is a prime.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Truth Tables</a:t>
            </a:r>
            <a:endParaRPr/>
          </a:p>
        </p:txBody>
      </p:sp>
      <p:sp>
        <p:nvSpPr>
          <p:cNvPr id="135" name="Google Shape;135;p19"/>
          <p:cNvSpPr txBox="1"/>
          <p:nvPr/>
        </p:nvSpPr>
        <p:spPr>
          <a:xfrm>
            <a:off x="304800" y="1828800"/>
            <a:ext cx="8534400" cy="157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Conjunction and disjunction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Four different combinations of values for p and q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6" name="Google Shape;136;p19"/>
          <p:cNvGraphicFramePr/>
          <p:nvPr/>
        </p:nvGraphicFramePr>
        <p:xfrm>
          <a:off x="914400" y="304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{F584580D-8A3A-421F-B6ED-09499E13015C}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 </a:t>
                      </a: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˄ </a:t>
                      </a: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</a:t>
                      </a: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˅ 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7" name="Google Shape;137;p19"/>
          <p:cNvSpPr/>
          <p:nvPr/>
        </p:nvSpPr>
        <p:spPr>
          <a:xfrm rot="10800000" flipH="1">
            <a:off x="533400" y="5486400"/>
            <a:ext cx="6781800" cy="1066800"/>
          </a:xfrm>
          <a:prstGeom prst="wedgeRoundRectCallout">
            <a:avLst>
              <a:gd name="adj1" fmla="val 2722"/>
              <a:gd name="adj2" fmla="val 33557"/>
              <a:gd name="adj3" fmla="val 0"/>
            </a:avLst>
          </a:prstGeom>
          <a:noFill/>
          <a:ln w="222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762000" y="5638800"/>
            <a:ext cx="6324600" cy="83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Rows: all possible combinations of values for elementary propositions: 2</a:t>
            </a:r>
            <a:r>
              <a:rPr lang="en-US" sz="2400" b="0" i="0" u="none" strike="noStrike" cap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values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Truth Tables</a:t>
            </a:r>
            <a:endParaRPr/>
          </a:p>
        </p:txBody>
      </p:sp>
      <p:sp>
        <p:nvSpPr>
          <p:cNvPr id="145" name="Google Shape;145;p20"/>
          <p:cNvSpPr txBox="1"/>
          <p:nvPr/>
        </p:nvSpPr>
        <p:spPr>
          <a:xfrm>
            <a:off x="304800" y="1828800"/>
            <a:ext cx="8534400" cy="157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Conjunction and disjunction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Four different combinations of values for p and q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6" name="Google Shape;146;p20"/>
          <p:cNvGraphicFramePr/>
          <p:nvPr/>
        </p:nvGraphicFramePr>
        <p:xfrm>
          <a:off x="914400" y="304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{F584580D-8A3A-421F-B6ED-09499E13015C}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 </a:t>
                      </a: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˄ </a:t>
                      </a: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</a:t>
                      </a: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˅ 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Truth Tables</a:t>
            </a:r>
            <a:endParaRPr/>
          </a:p>
        </p:txBody>
      </p:sp>
      <p:sp>
        <p:nvSpPr>
          <p:cNvPr id="153" name="Google Shape;153;p21"/>
          <p:cNvSpPr txBox="1"/>
          <p:nvPr/>
        </p:nvSpPr>
        <p:spPr>
          <a:xfrm>
            <a:off x="304800" y="1828800"/>
            <a:ext cx="8534400" cy="157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Conjunction and disjunction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Four different combinations of values for p and q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4" name="Google Shape;154;p21"/>
          <p:cNvGraphicFramePr/>
          <p:nvPr/>
        </p:nvGraphicFramePr>
        <p:xfrm>
          <a:off x="914400" y="304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{F584580D-8A3A-421F-B6ED-09499E13015C}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 </a:t>
                      </a: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˄ </a:t>
                      </a: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</a:t>
                      </a: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˅ 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5" name="Google Shape;155;p21"/>
          <p:cNvSpPr txBox="1"/>
          <p:nvPr/>
        </p:nvSpPr>
        <p:spPr>
          <a:xfrm>
            <a:off x="990600" y="5638800"/>
            <a:ext cx="6705600" cy="83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NB: p 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˅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 (the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used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inclusively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i.e., p 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˅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 is true when either p or q or both are true).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Exclusive or</a:t>
            </a:r>
            <a:endParaRPr/>
          </a:p>
        </p:txBody>
      </p:sp>
      <p:sp>
        <p:nvSpPr>
          <p:cNvPr id="162" name="Google Shape;162;p22"/>
          <p:cNvSpPr txBox="1"/>
          <p:nvPr/>
        </p:nvSpPr>
        <p:spPr>
          <a:xfrm>
            <a:off x="304800" y="1828800"/>
            <a:ext cx="8534400" cy="157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Definition: Let p and q be propositions. The proposition "p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exclusive or q" denoted by p    q, is true when exactly one of p and q is true and it is false otherwise.</a:t>
            </a: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3" name="Google Shape;163;p22"/>
          <p:cNvGraphicFramePr/>
          <p:nvPr/>
        </p:nvGraphicFramePr>
        <p:xfrm>
          <a:off x="1371600" y="342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{F584580D-8A3A-421F-B6ED-09499E13015C}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 </a:t>
                      </a: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</a:t>
                      </a: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4" name="Google Shape;164;p22"/>
          <p:cNvSpPr/>
          <p:nvPr/>
        </p:nvSpPr>
        <p:spPr>
          <a:xfrm>
            <a:off x="5103812" y="3549650"/>
            <a:ext cx="182562" cy="182562"/>
          </a:xfrm>
          <a:prstGeom prst="ellipse">
            <a:avLst/>
          </a:prstGeom>
          <a:noFill/>
          <a:ln w="222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" name="Google Shape;165;p22"/>
          <p:cNvCxnSpPr/>
          <p:nvPr/>
        </p:nvCxnSpPr>
        <p:spPr>
          <a:xfrm>
            <a:off x="5192712" y="3549650"/>
            <a:ext cx="0" cy="182562"/>
          </a:xfrm>
          <a:prstGeom prst="straightConnector1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6" name="Google Shape;166;p22"/>
          <p:cNvCxnSpPr/>
          <p:nvPr/>
        </p:nvCxnSpPr>
        <p:spPr>
          <a:xfrm>
            <a:off x="5196681" y="3553618"/>
            <a:ext cx="0" cy="182562"/>
          </a:xfrm>
          <a:prstGeom prst="straightConnector1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Implications</a:t>
            </a:r>
            <a:endParaRPr/>
          </a:p>
        </p:txBody>
      </p:sp>
      <p:sp>
        <p:nvSpPr>
          <p:cNvPr id="173" name="Google Shape;173;p23"/>
          <p:cNvSpPr txBox="1"/>
          <p:nvPr/>
        </p:nvSpPr>
        <p:spPr>
          <a:xfrm>
            <a:off x="304800" y="1828800"/>
            <a:ext cx="8534400" cy="230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Definition: Let p and q be propositions. The proposition "p implies q" denoted by p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 is called implication. It is false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p is true and q is false and is true otherwise.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p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q, p is called the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hypothesis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q is called the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4" name="Google Shape;174;p23"/>
          <p:cNvGraphicFramePr/>
          <p:nvPr/>
        </p:nvGraphicFramePr>
        <p:xfrm>
          <a:off x="1828800" y="434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{F584580D-8A3A-421F-B6ED-09499E13015C}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 </a:t>
                      </a: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→   </a:t>
                      </a: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Implications</a:t>
            </a:r>
            <a:endParaRPr/>
          </a:p>
        </p:txBody>
      </p:sp>
      <p:sp>
        <p:nvSpPr>
          <p:cNvPr id="181" name="Google Shape;181;p24"/>
          <p:cNvSpPr txBox="1"/>
          <p:nvPr/>
        </p:nvSpPr>
        <p:spPr>
          <a:xfrm>
            <a:off x="304800" y="1828800"/>
            <a:ext cx="8534400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 is read in a variety of equivalent ways: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if p then q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p only if q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p is sufficient for q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q whenever 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if Germany won 2010 world cup then 2 is a prime.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If F then T ? 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−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if today is Monday then 2 * 3 = 8.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 → F?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Implications</a:t>
            </a:r>
            <a:endParaRPr/>
          </a:p>
        </p:txBody>
      </p:sp>
      <p:sp>
        <p:nvSpPr>
          <p:cNvPr id="188" name="Google Shape;188;p25"/>
          <p:cNvSpPr txBox="1"/>
          <p:nvPr/>
        </p:nvSpPr>
        <p:spPr>
          <a:xfrm>
            <a:off x="304800" y="1828800"/>
            <a:ext cx="853440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converse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p → q is q → p.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The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contrapositive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p → q is ¬q → ¬p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The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inverse 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p → q is ¬p → ¬q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If it jams, the traffic moves slowly.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p: it jams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q: traffic moves slowly.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Implications</a:t>
            </a:r>
            <a:endParaRPr/>
          </a:p>
        </p:txBody>
      </p:sp>
      <p:sp>
        <p:nvSpPr>
          <p:cNvPr id="195" name="Google Shape;195;p26"/>
          <p:cNvSpPr txBox="1"/>
          <p:nvPr/>
        </p:nvSpPr>
        <p:spPr>
          <a:xfrm>
            <a:off x="304800" y="1828800"/>
            <a:ext cx="8534400" cy="415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 converse: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 traffic moves slowly then it jams.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 →  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 contrapositive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If the traffic does not move slowly then it does not jams.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¬q 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¬p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 inverse: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If it does not jams the traffic moves quickly.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¬p 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¬q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Biconditional</a:t>
            </a:r>
            <a:endParaRPr/>
          </a:p>
        </p:txBody>
      </p:sp>
      <p:sp>
        <p:nvSpPr>
          <p:cNvPr id="202" name="Google Shape;202;p27"/>
          <p:cNvSpPr txBox="1"/>
          <p:nvPr/>
        </p:nvSpPr>
        <p:spPr>
          <a:xfrm>
            <a:off x="304800" y="1828800"/>
            <a:ext cx="85344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Definition: Let p and q be propositions. The biconditional p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↔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 (read p if and only if q), is true when p and q have the same truth values and is false otherwise.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3" name="Google Shape;203;p27"/>
          <p:cNvGraphicFramePr/>
          <p:nvPr/>
        </p:nvGraphicFramePr>
        <p:xfrm>
          <a:off x="2057400" y="3352800"/>
          <a:ext cx="4572000" cy="1854175"/>
        </p:xfrm>
        <a:graphic>
          <a:graphicData uri="http://schemas.openxmlformats.org/drawingml/2006/table">
            <a:tbl>
              <a:tblPr>
                <a:noFill/>
                <a:tableStyleId>{F584580D-8A3A-421F-B6ED-09499E13015C}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 </a:t>
                      </a: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="1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↔ </a:t>
                      </a: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4" name="Google Shape;204;p27"/>
          <p:cNvSpPr txBox="1"/>
          <p:nvPr/>
        </p:nvSpPr>
        <p:spPr>
          <a:xfrm>
            <a:off x="1828800" y="5867400"/>
            <a:ext cx="57912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two truth values always agree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Precedence of connectives</a:t>
            </a:r>
          </a:p>
        </p:txBody>
      </p:sp>
      <p:pic>
        <p:nvPicPr>
          <p:cNvPr id="1030" name="Picture 6" descr="Precedence Of Logical Operators And Logic And Bit Opera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5314" y="1551814"/>
            <a:ext cx="3293372" cy="4948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32559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Constructing the truth table</a:t>
            </a:r>
            <a:endParaRPr/>
          </a:p>
        </p:txBody>
      </p:sp>
      <p:sp>
        <p:nvSpPr>
          <p:cNvPr id="211" name="Google Shape;211;p28"/>
          <p:cNvSpPr txBox="1"/>
          <p:nvPr/>
        </p:nvSpPr>
        <p:spPr>
          <a:xfrm>
            <a:off x="304800" y="1828800"/>
            <a:ext cx="85344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 Construct a truth table for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 → q) ˄ (¬p ↔ q)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Simpler if we decompose the sentence to elementary and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intermediate propositions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2" name="Google Shape;212;p28"/>
          <p:cNvGraphicFramePr/>
          <p:nvPr/>
        </p:nvGraphicFramePr>
        <p:xfrm>
          <a:off x="685800" y="3429000"/>
          <a:ext cx="8077200" cy="2124390"/>
        </p:xfrm>
        <a:graphic>
          <a:graphicData uri="http://schemas.openxmlformats.org/drawingml/2006/table">
            <a:tbl>
              <a:tblPr>
                <a:noFill/>
                <a:tableStyleId>{F584580D-8A3A-421F-B6ED-09499E13015C}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39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</a:t>
                      </a: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→ 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¬p ↔ 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(p → q) ˄ (¬p ↔ q)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Constructing the truth table</a:t>
            </a:r>
            <a:endParaRPr/>
          </a:p>
        </p:txBody>
      </p:sp>
      <p:sp>
        <p:nvSpPr>
          <p:cNvPr id="219" name="Google Shape;219;p29"/>
          <p:cNvSpPr txBox="1"/>
          <p:nvPr/>
        </p:nvSpPr>
        <p:spPr>
          <a:xfrm>
            <a:off x="304800" y="1828800"/>
            <a:ext cx="85344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 Construct a truth table for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 → q) ˄ (¬p ↔ q)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Simpler if we decompose the sentence to elementary and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intermediate propositions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0" name="Google Shape;220;p29"/>
          <p:cNvGraphicFramePr/>
          <p:nvPr/>
        </p:nvGraphicFramePr>
        <p:xfrm>
          <a:off x="685800" y="342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{F584580D-8A3A-421F-B6ED-09499E13015C}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39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</a:t>
                      </a: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→ 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¬p ↔ 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(p → q) ˄ (¬p ↔ q)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Constructing the truth table</a:t>
            </a:r>
            <a:endParaRPr/>
          </a:p>
        </p:txBody>
      </p:sp>
      <p:sp>
        <p:nvSpPr>
          <p:cNvPr id="227" name="Google Shape;227;p30"/>
          <p:cNvSpPr txBox="1"/>
          <p:nvPr/>
        </p:nvSpPr>
        <p:spPr>
          <a:xfrm>
            <a:off x="304800" y="1828800"/>
            <a:ext cx="85344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 Construct a truth table for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 → q) ˄ (¬p ↔ q)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Simpler if we decompose the sentence to elementary and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intermediate propositions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8" name="Google Shape;228;p30"/>
          <p:cNvGraphicFramePr/>
          <p:nvPr/>
        </p:nvGraphicFramePr>
        <p:xfrm>
          <a:off x="685800" y="342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{F584580D-8A3A-421F-B6ED-09499E13015C}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39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</a:t>
                      </a: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→ 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¬p ↔ 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(p → q) ˄ (¬p ↔ q)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Constructing the truth table</a:t>
            </a:r>
            <a:endParaRPr/>
          </a:p>
        </p:txBody>
      </p:sp>
      <p:sp>
        <p:nvSpPr>
          <p:cNvPr id="235" name="Google Shape;235;p31"/>
          <p:cNvSpPr txBox="1"/>
          <p:nvPr/>
        </p:nvSpPr>
        <p:spPr>
          <a:xfrm>
            <a:off x="304800" y="1828800"/>
            <a:ext cx="85344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 Construct a truth table for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 → q) ˄ (¬p ↔ q)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Simpler if we decompose the sentence to elementary and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intermediate propositions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6" name="Google Shape;236;p31"/>
          <p:cNvGraphicFramePr/>
          <p:nvPr/>
        </p:nvGraphicFramePr>
        <p:xfrm>
          <a:off x="685800" y="342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{F584580D-8A3A-421F-B6ED-09499E13015C}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39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</a:t>
                      </a: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→ 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¬p ↔ 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(p → q) ˄ (¬p ↔ q)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Constructing the truth table</a:t>
            </a:r>
            <a:endParaRPr/>
          </a:p>
        </p:txBody>
      </p:sp>
      <p:sp>
        <p:nvSpPr>
          <p:cNvPr id="243" name="Google Shape;243;p32"/>
          <p:cNvSpPr txBox="1"/>
          <p:nvPr/>
        </p:nvSpPr>
        <p:spPr>
          <a:xfrm>
            <a:off x="304800" y="1828800"/>
            <a:ext cx="85344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 Construct a truth table for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 → q) ˄ (¬p ↔ q)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Simpler if we decompose the sentence to elementary and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intermediate propositions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4" name="Google Shape;244;p32"/>
          <p:cNvGraphicFramePr/>
          <p:nvPr/>
        </p:nvGraphicFramePr>
        <p:xfrm>
          <a:off x="685800" y="342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{F584580D-8A3A-421F-B6ED-09499E13015C}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39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</a:t>
                      </a: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→ 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¬p ↔ 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(p → q) ˄ (¬p ↔ q)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None/>
            </a:pPr>
            <a:r>
              <a:rPr lang="en-US" sz="32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Computer Representation of True and False</a:t>
            </a:r>
            <a:endParaRPr/>
          </a:p>
        </p:txBody>
      </p:sp>
      <p:sp>
        <p:nvSpPr>
          <p:cNvPr id="251" name="Google Shape;251;p33"/>
          <p:cNvSpPr txBox="1"/>
          <p:nvPr/>
        </p:nvSpPr>
        <p:spPr>
          <a:xfrm>
            <a:off x="304800" y="1828800"/>
            <a:ext cx="853440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need to encode two values True and False: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Computers represents data and programs using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and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Logical truth values – True and False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 bit is sufficient to represent two possible values: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(False) or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(True)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 variable that takes on values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called a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Boolean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Definition:A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bit string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sequence of zero or more bits.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length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this string is the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number of bits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string.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Bitwise operation</a:t>
            </a:r>
            <a:endParaRPr/>
          </a:p>
        </p:txBody>
      </p:sp>
      <p:sp>
        <p:nvSpPr>
          <p:cNvPr id="258" name="Google Shape;258;p34"/>
          <p:cNvSpPr txBox="1"/>
          <p:nvPr/>
        </p:nvSpPr>
        <p:spPr>
          <a:xfrm>
            <a:off x="304800" y="1828800"/>
            <a:ext cx="85344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 and F replaced with 1 and 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9" name="Google Shape;259;p34"/>
          <p:cNvGraphicFramePr/>
          <p:nvPr/>
        </p:nvGraphicFramePr>
        <p:xfrm>
          <a:off x="2133600" y="274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{F584580D-8A3A-421F-B6ED-09499E13015C}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 ˄ 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˅ 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60" name="Google Shape;260;p34"/>
          <p:cNvGraphicFramePr/>
          <p:nvPr/>
        </p:nvGraphicFramePr>
        <p:xfrm>
          <a:off x="3124200" y="518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{F584580D-8A3A-421F-B6ED-09499E13015C}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Bitwise operation</a:t>
            </a:r>
            <a:endParaRPr/>
          </a:p>
        </p:txBody>
      </p:sp>
      <p:sp>
        <p:nvSpPr>
          <p:cNvPr id="267" name="Google Shape;267;p35"/>
          <p:cNvSpPr txBox="1"/>
          <p:nvPr/>
        </p:nvSpPr>
        <p:spPr>
          <a:xfrm>
            <a:off x="304800" y="1828800"/>
            <a:ext cx="85344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 and F replaced with 1 and 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8" name="Google Shape;268;p35"/>
          <p:cNvGraphicFramePr/>
          <p:nvPr/>
        </p:nvGraphicFramePr>
        <p:xfrm>
          <a:off x="1143000" y="312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{F584580D-8A3A-421F-B6ED-09499E13015C}</a:tableStyleId>
              </a:tblPr>
              <a:tblGrid>
                <a:gridCol w="20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95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095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0955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0955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09550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</a:tblGrid>
              <a:tr h="369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˅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˄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25" marR="91425" marT="45700" marB="4570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25" marR="91425" marT="45700" marB="4570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25" marR="91425" marT="45700" marB="4570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25" marR="91425" marT="45700" marB="4570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25" marR="91425" marT="45700" marB="4570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25" marR="91425" marT="45700" marB="4570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25" marR="91425" marT="45700" marB="4570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25" marR="91425" marT="45700" marB="4570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25" marR="91425" marT="45700" marB="4570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25" marR="91425" marT="45700" marB="4570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25" marR="91425" marT="45700" marB="4570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69" name="Google Shape;269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0" y="3505200"/>
            <a:ext cx="241300" cy="2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Applications of propositional logic</a:t>
            </a:r>
            <a:endParaRPr/>
          </a:p>
        </p:txBody>
      </p:sp>
      <p:sp>
        <p:nvSpPr>
          <p:cNvPr id="276" name="Google Shape;276;p36"/>
          <p:cNvSpPr txBox="1"/>
          <p:nvPr/>
        </p:nvSpPr>
        <p:spPr>
          <a:xfrm>
            <a:off x="304800" y="1828800"/>
            <a:ext cx="8534400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Translation of English sentences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Inference and reasoning: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new true propositions are inferred from existing 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Used in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Artificial Intelligence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Builds programs that act intelligently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Programs often rely on symbolic manipulations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of logic circuit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Translation</a:t>
            </a:r>
            <a:endParaRPr/>
          </a:p>
        </p:txBody>
      </p:sp>
      <p:sp>
        <p:nvSpPr>
          <p:cNvPr id="283" name="Google Shape;283;p37"/>
          <p:cNvSpPr txBox="1"/>
          <p:nvPr/>
        </p:nvSpPr>
        <p:spPr>
          <a:xfrm>
            <a:off x="304800" y="1447800"/>
            <a:ext cx="8534400" cy="5262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Assume a sentence: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you are older than 13 or you are with your parents then you can attend a PG-13 movie.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Parse: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If (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you are older than 13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you are with your parents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then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you can attend a PG-13 movie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Atomic (elementary) propositions: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A= you are older than 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B= you are with your parents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C=you can attend a PG-13 movie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Translation: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˅ B → 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Application of Inference</a:t>
            </a:r>
            <a:endParaRPr/>
          </a:p>
        </p:txBody>
      </p:sp>
      <p:sp>
        <p:nvSpPr>
          <p:cNvPr id="290" name="Google Shape;290;p38"/>
          <p:cNvSpPr txBox="1"/>
          <p:nvPr/>
        </p:nvSpPr>
        <p:spPr>
          <a:xfrm>
            <a:off x="228600" y="1447800"/>
            <a:ext cx="8763000" cy="4770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 we know the following sentences are true: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you are older than 13 or you are with your parents then you can attend a PG-13 movie. You are older than 13.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Translation: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If (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you are older than 13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you are with your parents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then (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you can attend a PG-13 movie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. (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You are older than 13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A= you are older than 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B= you are with your parents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C=you can attend a PG-13 movie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(A ˅ B → C), 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(A ˅ B → C) ˄ A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is true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With the help of the logic we can infer the following statement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(proposition):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You can attend a PG-13 movie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 is True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Tautology and Contradiction</a:t>
            </a:r>
            <a:endParaRPr/>
          </a:p>
        </p:txBody>
      </p:sp>
      <p:sp>
        <p:nvSpPr>
          <p:cNvPr id="297" name="Google Shape;297;p39"/>
          <p:cNvSpPr txBox="1"/>
          <p:nvPr/>
        </p:nvSpPr>
        <p:spPr>
          <a:xfrm>
            <a:off x="228600" y="1447800"/>
            <a:ext cx="8763000" cy="3846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propositions are interesting since their values in the truth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 are always the same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compound proposition that is always true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all possible truth values of the propositions is called a </a:t>
            </a:r>
            <a:r>
              <a:rPr lang="en-US" sz="2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tautology</a:t>
            </a: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compound proposition that is always false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called a </a:t>
            </a:r>
            <a:r>
              <a:rPr lang="en-US" sz="2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contradiction</a:t>
            </a: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 proposition that is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neither a tautology nor contradiction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called a </a:t>
            </a:r>
            <a:r>
              <a:rPr lang="en-US" sz="2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contingency</a:t>
            </a: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  ˅ ¬p is a </a:t>
            </a:r>
            <a:r>
              <a:rPr lang="en-US" sz="2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tautology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     p  ˄ ¬p is a </a:t>
            </a:r>
            <a:r>
              <a:rPr lang="en-US" sz="2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contradiction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8" name="Google Shape;298;p39"/>
          <p:cNvGraphicFramePr/>
          <p:nvPr/>
        </p:nvGraphicFramePr>
        <p:xfrm>
          <a:off x="2133600" y="556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{F584580D-8A3A-421F-B6ED-09499E13015C}</a:tableStyleId>
              </a:tblPr>
              <a:tblGrid>
                <a:gridCol w="140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9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˅ ¬p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˄ ¬p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Equivalence</a:t>
            </a:r>
            <a:endParaRPr/>
          </a:p>
        </p:txBody>
      </p:sp>
      <p:sp>
        <p:nvSpPr>
          <p:cNvPr id="305" name="Google Shape;305;p40"/>
          <p:cNvSpPr txBox="1"/>
          <p:nvPr/>
        </p:nvSpPr>
        <p:spPr>
          <a:xfrm>
            <a:off x="228600" y="1447800"/>
            <a:ext cx="8763000" cy="169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do we determine that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two propositions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equivalent?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Their truth values in the truth table are the same.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Example: </a:t>
            </a: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→ q is equivalent to ¬q → ¬p (contrapositive)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6" name="Google Shape;306;p40"/>
          <p:cNvGraphicFramePr/>
          <p:nvPr/>
        </p:nvGraphicFramePr>
        <p:xfrm>
          <a:off x="1905000" y="342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{F584580D-8A3A-421F-B6ED-09499E13015C}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→ 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¬q  →¬p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7" name="Google Shape;307;p40"/>
          <p:cNvSpPr txBox="1"/>
          <p:nvPr/>
        </p:nvSpPr>
        <p:spPr>
          <a:xfrm>
            <a:off x="685800" y="5562600"/>
            <a:ext cx="754380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Equivalent statements are important for logical reasoning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since they can be substituted and can help us to make a logical argument.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b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Logical Equivalence</a:t>
            </a:r>
            <a:endParaRPr/>
          </a:p>
        </p:txBody>
      </p:sp>
      <p:sp>
        <p:nvSpPr>
          <p:cNvPr id="314" name="Google Shape;314;p41"/>
          <p:cNvSpPr txBox="1"/>
          <p:nvPr/>
        </p:nvSpPr>
        <p:spPr>
          <a:xfrm>
            <a:off x="228600" y="1447800"/>
            <a:ext cx="8763000" cy="1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Definition: The propositions p and q are called logically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equivalent if p ↔ q is a tautology (alternately, if they have the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same truth table). The notation </a:t>
            </a: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&lt;=&gt; q denotes p and q are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logically equivalent.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5" name="Google Shape;315;p41"/>
          <p:cNvGraphicFramePr/>
          <p:nvPr/>
        </p:nvGraphicFramePr>
        <p:xfrm>
          <a:off x="1066800" y="320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{F584580D-8A3A-421F-B6ED-09499E13015C}</a:tableStyleId>
              </a:tblPr>
              <a:tblGrid>
                <a:gridCol w="112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7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4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→ q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¬q  →¬p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(p → q</a:t>
                      </a: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 </a:t>
                      </a: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&lt;=&gt; (¬q  →¬p)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b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Important Logical Equivalence</a:t>
            </a:r>
            <a:endParaRPr/>
          </a:p>
        </p:txBody>
      </p:sp>
      <p:sp>
        <p:nvSpPr>
          <p:cNvPr id="322" name="Google Shape;322;p42"/>
          <p:cNvSpPr txBox="1"/>
          <p:nvPr/>
        </p:nvSpPr>
        <p:spPr>
          <a:xfrm>
            <a:off x="228600" y="1447800"/>
            <a:ext cx="8763000" cy="378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Double negation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¬(¬p) &lt;=&gt; 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Commutative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p ˅ q &lt;=&gt; q ˅  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p ˄ q &lt;=&gt; q ˄  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Associative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(p ˅ q) ˅ r &lt;=&gt; p ˅  (q ˅  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(p ˄  q) ˄  r &lt;=&gt; p ˄  (q ˄  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b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Important Logical Equivalence</a:t>
            </a:r>
            <a:endParaRPr/>
          </a:p>
        </p:txBody>
      </p:sp>
      <p:sp>
        <p:nvSpPr>
          <p:cNvPr id="329" name="Google Shape;329;p43"/>
          <p:cNvSpPr txBox="1"/>
          <p:nvPr/>
        </p:nvSpPr>
        <p:spPr>
          <a:xfrm>
            <a:off x="228600" y="1447800"/>
            <a:ext cx="876300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Distributive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p ˅  (q ˄ r) &lt;=&gt; (p ˅ q) ˄ (p ˅  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p ˄ (q ˅  r) &lt;=&gt; (p ˄  q) ˅  (p ˄  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 Morgan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¬( p ˅  q ) &lt;=&gt; ¬p ˄  ¬q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¬( p ˄  q )   &lt;=&gt; ¬p ˅  ¬q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Other useful equivalences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p ˅  ¬p &lt;=&gt; 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p ˄  ¬p &lt;=&gt; 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 → q &lt;=&gt; (¬p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˅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q)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b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Showing Logical Equivalence</a:t>
            </a:r>
            <a:endParaRPr/>
          </a:p>
        </p:txBody>
      </p:sp>
      <p:sp>
        <p:nvSpPr>
          <p:cNvPr id="336" name="Google Shape;336;p44"/>
          <p:cNvSpPr txBox="1"/>
          <p:nvPr/>
        </p:nvSpPr>
        <p:spPr>
          <a:xfrm>
            <a:off x="228600" y="1447800"/>
            <a:ext cx="87630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Show (p ˄  q)→ p is a tautology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other words ((p  ˄  q) →  p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&lt;=&gt;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44"/>
          <p:cNvSpPr txBox="1"/>
          <p:nvPr/>
        </p:nvSpPr>
        <p:spPr>
          <a:xfrm>
            <a:off x="762000" y="3048000"/>
            <a:ext cx="7848600" cy="230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 ˄  q) →  p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&lt;=&gt;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¬(p ˄  q) ˅ p 		Useful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&lt;=&gt;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[¬p ˅ ¬q] ˅ p 		DeMorgan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        &lt;=&gt;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[¬q ˅  ¬p] ˅ p 		Commutative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&lt;=&gt;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¬q ˅ [ ¬p ˅ p ] 		Associative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&lt;=&gt;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¬q ˅ [ T ] 		Useful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&lt;=&gt;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 				Domination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44"/>
          <p:cNvSpPr txBox="1"/>
          <p:nvPr/>
        </p:nvSpPr>
        <p:spPr>
          <a:xfrm>
            <a:off x="1371600" y="5715000"/>
            <a:ext cx="64008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also use truth table to show this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5"/>
          <p:cNvSpPr txBox="1">
            <a:spLocks noGrp="1"/>
          </p:cNvSpPr>
          <p:nvPr>
            <p:ph type="title"/>
          </p:nvPr>
        </p:nvSpPr>
        <p:spPr>
          <a:xfrm>
            <a:off x="0" y="236220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NewsPrint">
  <a:themeElements>
    <a:clrScheme name="NewsPrint">
      <a:dk1>
        <a:srgbClr val="000000"/>
      </a:dk1>
      <a:lt1>
        <a:srgbClr val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ewsPrint">
  <a:themeElements>
    <a:clrScheme name="NewsPrint">
      <a:dk1>
        <a:srgbClr val="000000"/>
      </a:dk1>
      <a:lt1>
        <a:srgbClr val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2767</Words>
  <Application>Microsoft Office PowerPoint</Application>
  <PresentationFormat>On-screen Show (4:3)</PresentationFormat>
  <Paragraphs>722</Paragraphs>
  <Slides>41</Slides>
  <Notes>40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43" baseType="lpstr">
      <vt:lpstr>1_NewsPrint</vt:lpstr>
      <vt:lpstr>NewsPrint</vt:lpstr>
      <vt:lpstr>CSE 105: Discrete Mathematics</vt:lpstr>
      <vt:lpstr>Course Materials</vt:lpstr>
      <vt:lpstr>Discrete mathematics</vt:lpstr>
      <vt:lpstr>Logic</vt:lpstr>
      <vt:lpstr>Propositional logic</vt:lpstr>
      <vt:lpstr>Propositional logic</vt:lpstr>
      <vt:lpstr>Composite Statements</vt:lpstr>
      <vt:lpstr>Composite Statements</vt:lpstr>
      <vt:lpstr>Logical connectives: Negation</vt:lpstr>
      <vt:lpstr>Logical connectives: Negation</vt:lpstr>
      <vt:lpstr>Logical connectives: Negation</vt:lpstr>
      <vt:lpstr>Logical connectives: Conjunction</vt:lpstr>
      <vt:lpstr>Logical connectives: Disjunction</vt:lpstr>
      <vt:lpstr>Truth Tables</vt:lpstr>
      <vt:lpstr>Truth Tables</vt:lpstr>
      <vt:lpstr>Truth Tables</vt:lpstr>
      <vt:lpstr>Exclusive or</vt:lpstr>
      <vt:lpstr>Implications</vt:lpstr>
      <vt:lpstr>Implications</vt:lpstr>
      <vt:lpstr>Implications</vt:lpstr>
      <vt:lpstr>Implications</vt:lpstr>
      <vt:lpstr>Biconditional</vt:lpstr>
      <vt:lpstr>Precedence of connectives</vt:lpstr>
      <vt:lpstr>Constructing the truth table</vt:lpstr>
      <vt:lpstr>Constructing the truth table</vt:lpstr>
      <vt:lpstr>Constructing the truth table</vt:lpstr>
      <vt:lpstr>Constructing the truth table</vt:lpstr>
      <vt:lpstr>Constructing the truth table</vt:lpstr>
      <vt:lpstr>Computer Representation of True and False</vt:lpstr>
      <vt:lpstr>Bitwise operation</vt:lpstr>
      <vt:lpstr>Bitwise operation</vt:lpstr>
      <vt:lpstr>Applications of propositional logic</vt:lpstr>
      <vt:lpstr>Translation</vt:lpstr>
      <vt:lpstr>Application of Inference</vt:lpstr>
      <vt:lpstr>Tautology and Contradiction</vt:lpstr>
      <vt:lpstr>Equivalence</vt:lpstr>
      <vt:lpstr> Logical Equivalence</vt:lpstr>
      <vt:lpstr> Important Logical Equivalence</vt:lpstr>
      <vt:lpstr> Important Logical Equivalence</vt:lpstr>
      <vt:lpstr> Showing Logical Equivalence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105: Discrete Mathematics</dc:title>
  <cp:lastModifiedBy>Sagor Ahmed Saron</cp:lastModifiedBy>
  <cp:revision>3</cp:revision>
  <dcterms:modified xsi:type="dcterms:W3CDTF">2024-02-12T16:51:22Z</dcterms:modified>
</cp:coreProperties>
</file>