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3" r:id="rId1"/>
  </p:sldMasterIdLst>
  <p:notesMasterIdLst>
    <p:notesMasterId r:id="rId53"/>
  </p:notesMasterIdLst>
  <p:sldIdLst>
    <p:sldId id="272" r:id="rId2"/>
    <p:sldId id="397" r:id="rId3"/>
    <p:sldId id="399" r:id="rId4"/>
    <p:sldId id="400" r:id="rId5"/>
    <p:sldId id="401" r:id="rId6"/>
    <p:sldId id="461" r:id="rId7"/>
    <p:sldId id="460" r:id="rId8"/>
    <p:sldId id="459" r:id="rId9"/>
    <p:sldId id="458" r:id="rId10"/>
    <p:sldId id="403" r:id="rId11"/>
    <p:sldId id="404" r:id="rId12"/>
    <p:sldId id="405" r:id="rId13"/>
    <p:sldId id="464" r:id="rId14"/>
    <p:sldId id="463" r:id="rId15"/>
    <p:sldId id="462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1" r:id="rId31"/>
    <p:sldId id="422" r:id="rId32"/>
    <p:sldId id="425" r:id="rId33"/>
    <p:sldId id="426" r:id="rId34"/>
    <p:sldId id="432" r:id="rId35"/>
    <p:sldId id="433" r:id="rId36"/>
    <p:sldId id="434" r:id="rId37"/>
    <p:sldId id="435" r:id="rId38"/>
    <p:sldId id="436" r:id="rId39"/>
    <p:sldId id="437" r:id="rId40"/>
    <p:sldId id="438" r:id="rId41"/>
    <p:sldId id="439" r:id="rId42"/>
    <p:sldId id="441" r:id="rId43"/>
    <p:sldId id="442" r:id="rId44"/>
    <p:sldId id="444" r:id="rId45"/>
    <p:sldId id="447" r:id="rId46"/>
    <p:sldId id="452" r:id="rId47"/>
    <p:sldId id="453" r:id="rId48"/>
    <p:sldId id="454" r:id="rId49"/>
    <p:sldId id="456" r:id="rId50"/>
    <p:sldId id="455" r:id="rId51"/>
    <p:sldId id="314" r:id="rId5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FFEB"/>
    <a:srgbClr val="FF0000"/>
    <a:srgbClr val="01EA89"/>
    <a:srgbClr val="7B5EC2"/>
    <a:srgbClr val="018952"/>
    <a:srgbClr val="2FA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1" autoAdjust="0"/>
  </p:normalViewPr>
  <p:slideViewPr>
    <p:cSldViewPr>
      <p:cViewPr>
        <p:scale>
          <a:sx n="60" d="100"/>
          <a:sy n="60" d="100"/>
        </p:scale>
        <p:origin x="-1644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theme" Target="theme/theme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2C42E22-7259-EAC4-3BC0-DD4BB892E2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F8BBE5F-D1FC-8805-B939-335644E102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22E7CD94-A8CB-FA07-78F8-F1DA8F34AE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930B5DE0-EF5D-D1A0-E57D-9EE7D89D85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AF942D3C-1C59-68AF-CBC7-377B8B3EE6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C344B472-765B-EDE9-CF7A-5E28AF680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180E87B-B3E6-4662-8416-C891C82AF6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541A4B3-EE6D-E30C-CD37-BF5FB0133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BB6AAD-0C2D-4850-838C-4949C5CDEB62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2087DF4E-913A-D4B9-FB1A-627AD381F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82F8A59D-9B33-56D5-EFD2-D0EF209CD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606ACC6-FD7C-4BA8-5794-717AE29E19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2796706-5C52-42DB-B9EC-7D10EC05BA8A}" type="slidenum">
              <a:rPr lang="en-US" altLang="en-US" sz="1300"/>
              <a:pPr/>
              <a:t>33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8FC792C-56DC-CCA8-20D7-949AB8611E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5737E33-7725-AB63-D0FA-A80621F36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Skip proof in lecture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A489219E-E391-2521-28BC-C6649AEDB9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2E8D622-06A2-4CEB-A5B1-8BF8C9EDC3F7}" type="slidenum">
              <a:rPr lang="en-AU" altLang="en-US" sz="1300"/>
              <a:pPr/>
              <a:t>46</a:t>
            </a:fld>
            <a:endParaRPr lang="en-AU" altLang="en-US" sz="13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D167A41-01A2-4A93-CB1E-8EE57FEBB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7DE70F19-B453-5BDB-7EFE-ACDF2C5D8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Substitution ciphers form the first of the fundamental building blocks. The core idea is to replace one basic unit (letter/byte) with another. Whilst the early Greeks described several substitution ciphers, the first attested use in military affairs of one was by Julius Caesar, described by him in </a:t>
            </a:r>
            <a:r>
              <a:rPr lang="en-AU" altLang="en-US" i="1">
                <a:latin typeface="Arial" panose="020B0604020202020204" pitchFamily="34" charset="0"/>
              </a:rPr>
              <a:t>Gallic Wars</a:t>
            </a:r>
            <a:r>
              <a:rPr lang="en-AU" altLang="en-US">
                <a:latin typeface="Arial" panose="020B0604020202020204" pitchFamily="34" charset="0"/>
              </a:rPr>
              <a:t> (cf. Kahn pp83-84). Still call any cipher using a simple letter shift a </a:t>
            </a:r>
            <a:r>
              <a:rPr lang="en-AU" altLang="en-US" b="1">
                <a:latin typeface="Arial" panose="020B0604020202020204" pitchFamily="34" charset="0"/>
              </a:rPr>
              <a:t>caesar cipher</a:t>
            </a:r>
            <a:r>
              <a:rPr lang="en-AU" altLang="en-US">
                <a:latin typeface="Arial" panose="020B0604020202020204" pitchFamily="34" charset="0"/>
              </a:rPr>
              <a:t>, not just those with shift 3. </a:t>
            </a:r>
          </a:p>
          <a:p>
            <a:pPr eaLnBrk="1" hangingPunct="1"/>
            <a:endParaRPr lang="en-AU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0850250C-48C1-8CDA-24A8-D828A39A5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AC85529-D9FF-425C-9DC4-EF801E5D7AFA}" type="slidenum">
              <a:rPr lang="en-AU" altLang="en-US" sz="1300"/>
              <a:pPr/>
              <a:t>47</a:t>
            </a:fld>
            <a:endParaRPr lang="en-AU" altLang="en-US" sz="13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165EADEF-66A4-690D-0EC8-6391ADD505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C70B61B-2131-B34A-367A-C60410DD2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This mathematical description uses </a:t>
            </a:r>
            <a:r>
              <a:rPr lang="en-AU" altLang="en-US" b="1">
                <a:latin typeface="Arial" panose="020B0604020202020204" pitchFamily="34" charset="0"/>
              </a:rPr>
              <a:t>modulo (clock) arithmetic</a:t>
            </a:r>
            <a:r>
              <a:rPr lang="en-AU" altLang="en-US">
                <a:latin typeface="Arial" panose="020B0604020202020204" pitchFamily="34" charset="0"/>
              </a:rPr>
              <a:t>. Here, when you reach Z you go back to A and start again. Mod 26 implies that when you reach 26, you use 0 instead (ie the letter after Z, or 25 + 1 goes to A or 0). 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Example: howdy (7,14,22,3,24) encrypted using key </a:t>
            </a:r>
            <a:r>
              <a:rPr lang="en-AU" altLang="en-US" i="1">
                <a:latin typeface="Arial" panose="020B0604020202020204" pitchFamily="34" charset="0"/>
              </a:rPr>
              <a:t>f </a:t>
            </a:r>
            <a:r>
              <a:rPr lang="en-AU" altLang="en-US">
                <a:latin typeface="Arial" panose="020B0604020202020204" pitchFamily="34" charset="0"/>
              </a:rPr>
              <a:t>(ie a shift of 5) is MTBID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C40B6CBC-990D-224F-88EC-51A92ACDC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946508-8205-445B-9EB3-F6160EF8C682}" type="slidenum">
              <a:rPr lang="en-AU" altLang="en-US" sz="1300"/>
              <a:pPr/>
              <a:t>48</a:t>
            </a:fld>
            <a:endParaRPr lang="en-AU" altLang="en-US" sz="13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B82B2A19-9E7B-38C1-AA02-5D8BE3344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6D7382C9-0ED4-81AD-8E13-7A5D6EFF2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-Roman" charset="0"/>
              </a:rPr>
              <a:t>With only 25 possible keys, the Caesar cipher is far from secure. A dramatic increase in the key space can be achieved by allowing an arbitrary substitution, where the translation alphabet can be any permutation of the 26 alphabetic characters.</a:t>
            </a: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See example translation alphabet, and an encrypted message using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5FF5B5DF-605E-96FD-FAC8-30A6B39951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63857A9-87A4-456F-8CD5-534D8CC37D26}" type="slidenum">
              <a:rPr lang="en-AU" altLang="en-US" sz="1300"/>
              <a:pPr/>
              <a:t>49</a:t>
            </a:fld>
            <a:endParaRPr lang="en-AU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7370D0D-C53F-3181-0E00-AD262D2561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9E16BD0-39FA-41BA-5A27-93A3B2482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With a caesar cipher, there are only 26 possible keys, of which only 25 are of any use, since mapping A to A etc doesn't really obscure the message! Note this basic rule of cryptanalysis "check to ensure the cipher operator hasn't goofed and sent a plaintext message by mistake"! 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Can try each of the keys (shifts) in turn, until can recognise the original message. </a:t>
            </a:r>
            <a:r>
              <a:rPr lang="en-US" altLang="en-US">
                <a:latin typeface="Arial" panose="020B0604020202020204" pitchFamily="34" charset="0"/>
              </a:rPr>
              <a:t>See Stallings Fig 2.3 for example of search.</a:t>
            </a:r>
            <a:endParaRPr lang="en-AU" altLang="en-US">
              <a:latin typeface="Arial" panose="020B0604020202020204" pitchFamily="34" charset="0"/>
            </a:endParaRPr>
          </a:p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Note: as mentioned before, do need to be able to </a:t>
            </a:r>
            <a:r>
              <a:rPr lang="en-AU" altLang="en-US" b="1">
                <a:latin typeface="Arial" panose="020B0604020202020204" pitchFamily="34" charset="0"/>
              </a:rPr>
              <a:t>recognise</a:t>
            </a:r>
            <a:r>
              <a:rPr lang="en-AU" altLang="en-US">
                <a:latin typeface="Arial" panose="020B0604020202020204" pitchFamily="34" charset="0"/>
              </a:rPr>
              <a:t> when have an original message (ie is it English or whatever). Usually easy for humans, hard for computers. Though if using say compressed data could be much harder.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</a:rPr>
              <a:t>Example "GCUA VQ DTGCM" when broken gives "easy to break", with a shift of 2 (key C).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94A9E50F-B7DD-610B-B17B-2BFC16BFF8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55B0CA4-7B35-4A7A-A60C-677CD0485F2B}" type="slidenum">
              <a:rPr lang="en-AU" altLang="en-US" sz="1300"/>
              <a:pPr/>
              <a:t>50</a:t>
            </a:fld>
            <a:endParaRPr lang="en-AU" altLang="en-US" sz="13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757877D-677C-9013-9E89-8970333835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230AB41-B9CB-E8B7-0BE6-444CB145E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Illustrate the process with this example from the text in Stallings section 2.2.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5EC7E2-5A08-886D-9B84-ECD0ED057FD3}"/>
              </a:ext>
            </a:extLst>
          </p:cNvPr>
          <p:cNvSpPr/>
          <p:nvPr userDrawn="1"/>
        </p:nvSpPr>
        <p:spPr>
          <a:xfrm>
            <a:off x="0" y="1325563"/>
            <a:ext cx="9144000" cy="46037"/>
          </a:xfrm>
          <a:prstGeom prst="rect">
            <a:avLst/>
          </a:prstGeom>
          <a:solidFill>
            <a:srgbClr val="018952"/>
          </a:solidFill>
          <a:ln>
            <a:solidFill>
              <a:srgbClr val="0189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EF009-5B39-87F6-23FF-CD4D97E26CD9}"/>
              </a:ext>
            </a:extLst>
          </p:cNvPr>
          <p:cNvSpPr txBox="1"/>
          <p:nvPr userDrawn="1"/>
        </p:nvSpPr>
        <p:spPr>
          <a:xfrm>
            <a:off x="8610600" y="6400800"/>
            <a:ext cx="533400" cy="307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7CDC205-8243-4CEA-8000-F1897AB4F2BB}" type="slidenum">
              <a:rPr lang="en-US" altLang="en-US" sz="1400">
                <a:solidFill>
                  <a:srgbClr val="FF0000"/>
                </a:solidFill>
              </a:rPr>
              <a:pPr/>
              <a:t>‹#›</a:t>
            </a:fld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F0000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FF0000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FF0000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FF0000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FF0000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251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Placeholder 1">
            <a:extLst>
              <a:ext uri="{FF2B5EF4-FFF2-40B4-BE49-F238E27FC236}">
                <a16:creationId xmlns:a16="http://schemas.microsoft.com/office/drawing/2014/main" id="{07CF71C5-2B2D-606B-DA50-EFBD386BD48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7" name="Text Placeholder 2">
            <a:extLst>
              <a:ext uri="{FF2B5EF4-FFF2-40B4-BE49-F238E27FC236}">
                <a16:creationId xmlns:a16="http://schemas.microsoft.com/office/drawing/2014/main" id="{75695D93-41CB-2E93-1CB3-AC8936826F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262626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Impact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Impact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Impact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Impact" pitchFamily="34" charset="0"/>
          <a:ea typeface="MS PGothic" pitchFamily="34" charset="-128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593725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2pPr>
      <a:lvl3pPr marL="8683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1.bin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 /><Relationship Id="rId2" Type="http://schemas.openxmlformats.org/officeDocument/2006/relationships/oleObject" Target="../embeddings/oleObject2.bin" /><Relationship Id="rId1" Type="http://schemas.openxmlformats.org/officeDocument/2006/relationships/slideLayout" Target="../slideLayouts/slideLayout1.xml" /><Relationship Id="rId5" Type="http://schemas.openxmlformats.org/officeDocument/2006/relationships/oleObject" Target="../embeddings/oleObject4.bin" /><Relationship Id="rId4" Type="http://schemas.openxmlformats.org/officeDocument/2006/relationships/oleObject" Target="../embeddings/oleObject3.bin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 /><Relationship Id="rId2" Type="http://schemas.openxmlformats.org/officeDocument/2006/relationships/oleObject" Target="../embeddings/oleObject5.bin" /><Relationship Id="rId1" Type="http://schemas.openxmlformats.org/officeDocument/2006/relationships/slideLayout" Target="../slideLayouts/slideLayout1.xml" /><Relationship Id="rId4" Type="http://schemas.openxmlformats.org/officeDocument/2006/relationships/oleObject" Target="../embeddings/oleObject6.bin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 /><Relationship Id="rId2" Type="http://schemas.openxmlformats.org/officeDocument/2006/relationships/oleObject" Target="../embeddings/oleObject7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wmf" /><Relationship Id="rId4" Type="http://schemas.openxmlformats.org/officeDocument/2006/relationships/oleObject" Target="../embeddings/oleObject8.bin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 /><Relationship Id="rId2" Type="http://schemas.openxmlformats.org/officeDocument/2006/relationships/oleObject" Target="../embeddings/oleObject9.bin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 /><Relationship Id="rId2" Type="http://schemas.openxmlformats.org/officeDocument/2006/relationships/oleObject" Target="../embeddings/oleObject10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wmf" /><Relationship Id="rId4" Type="http://schemas.openxmlformats.org/officeDocument/2006/relationships/oleObject" Target="../embeddings/oleObject11.bin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 /><Relationship Id="rId7" Type="http://schemas.openxmlformats.org/officeDocument/2006/relationships/image" Target="../media/image9.wmf" /><Relationship Id="rId2" Type="http://schemas.openxmlformats.org/officeDocument/2006/relationships/oleObject" Target="../embeddings/oleObject12.bin" /><Relationship Id="rId1" Type="http://schemas.openxmlformats.org/officeDocument/2006/relationships/slideLayout" Target="../slideLayouts/slideLayout1.xml" /><Relationship Id="rId6" Type="http://schemas.openxmlformats.org/officeDocument/2006/relationships/oleObject" Target="../embeddings/oleObject14.bin" /><Relationship Id="rId5" Type="http://schemas.openxmlformats.org/officeDocument/2006/relationships/image" Target="../media/image8.wmf" /><Relationship Id="rId4" Type="http://schemas.openxmlformats.org/officeDocument/2006/relationships/oleObject" Target="../embeddings/oleObject13.bin" 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 /><Relationship Id="rId3" Type="http://schemas.openxmlformats.org/officeDocument/2006/relationships/image" Target="../media/image7.wmf" /><Relationship Id="rId7" Type="http://schemas.openxmlformats.org/officeDocument/2006/relationships/image" Target="../media/image10.wmf" /><Relationship Id="rId2" Type="http://schemas.openxmlformats.org/officeDocument/2006/relationships/oleObject" Target="../embeddings/oleObject15.bin" /><Relationship Id="rId1" Type="http://schemas.openxmlformats.org/officeDocument/2006/relationships/slideLayout" Target="../slideLayouts/slideLayout1.xml" /><Relationship Id="rId6" Type="http://schemas.openxmlformats.org/officeDocument/2006/relationships/oleObject" Target="../embeddings/oleObject17.bin" /><Relationship Id="rId11" Type="http://schemas.openxmlformats.org/officeDocument/2006/relationships/image" Target="../media/image12.wmf" /><Relationship Id="rId5" Type="http://schemas.openxmlformats.org/officeDocument/2006/relationships/image" Target="../media/image8.wmf" /><Relationship Id="rId10" Type="http://schemas.openxmlformats.org/officeDocument/2006/relationships/oleObject" Target="../embeddings/oleObject19.bin" /><Relationship Id="rId4" Type="http://schemas.openxmlformats.org/officeDocument/2006/relationships/oleObject" Target="../embeddings/oleObject16.bin" /><Relationship Id="rId9" Type="http://schemas.openxmlformats.org/officeDocument/2006/relationships/image" Target="../media/image11.wmf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 /><Relationship Id="rId2" Type="http://schemas.openxmlformats.org/officeDocument/2006/relationships/oleObject" Target="../embeddings/oleObject20.bin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 /><Relationship Id="rId2" Type="http://schemas.openxmlformats.org/officeDocument/2006/relationships/oleObject" Target="../embeddings/oleObject21.bin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008B439-6DB5-F08E-E397-091AA7DEA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Basic Number Theory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Text Box 7">
            <a:extLst>
              <a:ext uri="{FF2B5EF4-FFF2-40B4-BE49-F238E27FC236}">
                <a16:creationId xmlns:a16="http://schemas.microsoft.com/office/drawing/2014/main" id="{F538E382-1090-CF28-B084-C6F64D337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114800"/>
            <a:ext cx="5410200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3200" i="1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ctr"/>
            <a:r>
              <a:rPr lang="en-US" altLang="en-US">
                <a:solidFill>
                  <a:srgbClr val="FF0000"/>
                </a:solidFill>
                <a:latin typeface="Helvetica" panose="020B0604020202020204" pitchFamily="34" charset="0"/>
              </a:rPr>
              <a:t>Lecture 15-16</a:t>
            </a:r>
          </a:p>
          <a:p>
            <a:endParaRPr lang="en-US" altLang="en-US" sz="1400" b="1">
              <a:solidFill>
                <a:srgbClr val="FF0000"/>
              </a:solidFill>
            </a:endParaRPr>
          </a:p>
          <a:p>
            <a:endParaRPr lang="en-US" altLang="en-US" sz="1800" b="1" i="1">
              <a:solidFill>
                <a:schemeClr val="tx2"/>
              </a:solidFill>
            </a:endParaRPr>
          </a:p>
          <a:p>
            <a:endParaRPr lang="en-US" altLang="en-US" sz="1400"/>
          </a:p>
          <a:p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88A34C-C8AA-8432-9F20-05CC7A085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Importance of Number Theory</a:t>
            </a:r>
          </a:p>
        </p:txBody>
      </p:sp>
      <p:sp>
        <p:nvSpPr>
          <p:cNvPr id="1433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E395098-9E8D-A7AB-B955-7C8B89DEB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286000"/>
            <a:ext cx="8458200" cy="3962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theory is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crucial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encryption algorithms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and hence to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Of utmost importance to everyone from Bill Gates, to the CIA, to Osama Bin Laden.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 algorithms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depend heavily on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arithmetic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Machinery (notations and techniques) for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manipulating numbers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EC0AE59-5A12-AECA-F1BE-958CC7067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</a:t>
            </a:r>
          </a:p>
        </p:txBody>
      </p:sp>
      <p:sp>
        <p:nvSpPr>
          <p:cNvPr id="153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E8C42C7-B6CC-0D5D-F250-3C79D44D6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DEF: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 integers such that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·c </a:t>
            </a: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is said to be a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alt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(as well as 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 symbol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“|” denotes “divides” so the situation is summarized by: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AEC3EF7-853F-EC2F-3DB5-19C29E903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1638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2EF4FD8-B5EB-F351-ED2B-2965B2596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Which of the following is true?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F5F243-5E84-FE92-32BE-A764ABB1C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1741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DA39F3B-7E05-B3B8-3108-554494E13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0772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bigger number can’t divide smaller positive number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EBFD551-033D-5903-3338-CC3E79964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184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B663457-60E5-1DAC-8CC3-37A289C21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0772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bigger number can’t divide smaller positive number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77 = 7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17EE584-0AC1-90A9-3E75-1102DD97D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9A523D4-78BB-B3A6-48FA-7BFF6F566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0772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bigger number can’t divide smaller positive number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77 = 7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24 = 24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E91C265-737A-85B3-BD45-9238C842C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204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A5E5CB8-2214-878F-3772-D328A2308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0772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bigger number can’t divide smaller positive number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77 = 7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24 = 24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only 0 is divisible by 0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2D49F9F-4D82-8C29-A3BC-9240FC9D8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Divisors Examples</a:t>
            </a:r>
          </a:p>
        </p:txBody>
      </p:sp>
      <p:sp>
        <p:nvSpPr>
          <p:cNvPr id="215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07120A6-5FE7-DE54-A7A1-A0B8BE236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0772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77 | 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bigger number can’t divide smaller positive number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7 | 77: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77 = 7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24: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because 24 = 24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 | 24: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only 0 is divisible by 0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24 | 0: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0 is divisible by every number (0 = 24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1EED955-FFEF-4DFC-63E2-427BC5757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Multiples up to given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en-US" i="1"/>
          </a:p>
        </p:txBody>
      </p:sp>
      <p:sp>
        <p:nvSpPr>
          <p:cNvPr id="225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4BB453E-67E5-C182-0EAC-BDB896E6A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How many positive multiples of 15 are less than 100?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Just list them: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15, 30, 45, 60, 75, 90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Therefore the answer is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Q: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positive multiples of 15 are less than 1,000,000?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4BE7FE0-EF40-86EF-25DF-D52E4B405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Multiples up to given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en-US" i="1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FA04E0-27EA-B724-8CC5-AF30C79CE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A:  Listing is too much of a hassle.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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1,000,000/15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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In general:  The number of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-multiples less than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is given by: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|{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en-US" sz="2800" baseline="30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  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m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}| =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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</a:t>
            </a:r>
            <a:endParaRPr lang="en-US" alt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5B5057A-2F92-C845-6FCA-0019F7689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 Theorem</a:t>
            </a:r>
          </a:p>
        </p:txBody>
      </p:sp>
      <p:sp>
        <p:nvSpPr>
          <p:cNvPr id="2457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68C4B2-0F15-AFAC-A96E-27C93E540D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5438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THM: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 b,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be integers.  Then: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CF995D9-ED9D-B500-0930-64EC5C245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 Theorem</a:t>
            </a:r>
          </a:p>
        </p:txBody>
      </p:sp>
      <p:sp>
        <p:nvSpPr>
          <p:cNvPr id="256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1BFAF5-73B6-3C10-116B-D0EAA4B6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5438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THM: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 b,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be integers.  Then: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17|34 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17|170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17|204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75AB996-E29E-2C40-BDA6-3A2E3773D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 Theorem</a:t>
            </a:r>
          </a:p>
        </p:txBody>
      </p:sp>
      <p:sp>
        <p:nvSpPr>
          <p:cNvPr id="2662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77DBC2C-3BD2-B9FA-9355-C12E6C30B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5438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THM: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 b,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be integers.  Then: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17|34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17|170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17|204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17|34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17|340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3B0EBE5-0B0D-A23D-3C39-E8A68F800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 Theorem</a:t>
            </a:r>
          </a:p>
        </p:txBody>
      </p:sp>
      <p:sp>
        <p:nvSpPr>
          <p:cNvPr id="2765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D838E69-922C-42B9-9D26-FBCE51B23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5438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THM: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 b,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be integers.  Then: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17|34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17|170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17|204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17|34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17|340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6|12 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12|144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6 | 144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59067FF-491F-481D-D0AC-F8D210E0B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Divisor Theorem</a:t>
            </a:r>
          </a:p>
        </p:txBody>
      </p:sp>
      <p:sp>
        <p:nvSpPr>
          <p:cNvPr id="2867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F390A21-A90E-999C-9826-4D1FA65DC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05800" cy="5257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In general, such statements are proved by starting from the definitions and manipulating to get the desired results.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EG.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Proof of no. 2	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Suppose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Then there exist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such that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Multiply both sides by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to get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amc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Consequently,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has been expressed as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times the integer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so by definition of “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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910138F-0F85-0122-99BF-65D58C754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Prime Numbers</a:t>
            </a:r>
          </a:p>
        </p:txBody>
      </p:sp>
      <p:sp>
        <p:nvSpPr>
          <p:cNvPr id="2969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90706F1-DB7D-C14D-91B3-3D660A739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 number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2800" b="1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prime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if it is only divisible by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itself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 number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which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isn’t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prime is called </a:t>
            </a:r>
            <a:r>
              <a:rPr lang="en-US" altLang="en-US" sz="28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composite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Q:  Which of the following are prime?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0,1,2,3,4,5,6,7,8,9,10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5C94D1E-5BC8-5C51-A61E-89C7B6BD0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Prime Numbers</a:t>
            </a:r>
          </a:p>
        </p:txBody>
      </p:sp>
      <p:sp>
        <p:nvSpPr>
          <p:cNvPr id="3072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D9639D8-3B10-3653-5E21-9400D19B7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534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0, and 1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not prime since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not positive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and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greater or equal to 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2 is prime as 1 and 2 are only factors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3 is prime as 1 and 3 are only factors.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4,6,8,10 not prime as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non-trivially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divisible by 2.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5, 7 prime.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9 = 3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not prime.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Last example shows that not all odd numbers are prime.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64D697D-3022-98F8-4E6B-82EB0994F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Fundamental Theorem of Arithmetic </a:t>
            </a:r>
          </a:p>
        </p:txBody>
      </p:sp>
      <p:sp>
        <p:nvSpPr>
          <p:cNvPr id="3174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6A8754D-A411-2843-286C-8EC5FD000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800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Any number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 expressible as a unique product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more prime numbers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 numbers are considered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to be “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” of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prime.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We’ll need induction and some more number theory tools to prove this.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Q:  Express each of the following number as a product of primes: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22, 100, 12, 17</a:t>
            </a:r>
            <a:endParaRPr lang="en-US" altLang="en-US" sz="2800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46E5FD7-3E4D-B232-B01E-49D154EC1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Fundamental Theorem of Arithmetic </a:t>
            </a:r>
          </a:p>
        </p:txBody>
      </p:sp>
      <p:sp>
        <p:nvSpPr>
          <p:cNvPr id="3277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CB00D7-CA5C-3447-D674-8071BCBE7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924800" cy="5029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 22  = 2·11,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100 = 2·2·5·5,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12   = 2·2·3,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17   =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B53E39-95E9-EB85-6DA6-F113D7B26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3379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F72D015-96EA-54DC-392E-A2876440C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5410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 numbers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are very important in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 schemes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 Essential to be able to verify if a number is prime or not.  It turns out that this is quite a difficult problem.  First try: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 isPrime(integer 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 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2 ) return false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2 to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 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altLang="en-US" sz="2800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	// “divides”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return false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true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Q:  What is the running time of this algorithm?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C0391C8-5BFB-2ED7-3546-2F845FC41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3481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6D969DB-DAC9-FA79-CB1A-0D4CF11C7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A: Assuming divisibility testing is a basic operation –then above primality testing algorithm is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Q: What is the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running time in terms of the input size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FE089ED-3D18-A713-F940-332F792B0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3584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A4A116-89A1-4082-552D-FE03E465C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A:  Consider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= 1,000,000.   The input size is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7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was described using only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digits.  In general we have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</a:t>
            </a:r>
            <a:r>
              <a:rPr lang="en-US" altLang="en-US" i="1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Therefore, running time is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</a:t>
            </a:r>
            <a:r>
              <a:rPr lang="en-US" altLang="en-US" i="1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 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Q: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improve the algorithm?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01C51CE6-5A35-99F3-64B5-5C2DC553E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102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2A7F41-C7BF-3BC9-8818-8AC3E309D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A: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Don’t try number bigger than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After trying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try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any other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numbers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 because know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is odd by this point.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In general, try only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 prime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In fact, only need to try to divide by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 numbers no larger than   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as we’ll see next: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3A90C1A8-9E75-8938-168F-E3577CB032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648200"/>
          <a:ext cx="6096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3A90C1A8-9E75-8938-168F-E3577CB032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648200"/>
                        <a:ext cx="6096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>
            <a:extLst>
              <a:ext uri="{FF2B5EF4-FFF2-40B4-BE49-F238E27FC236}">
                <a16:creationId xmlns:a16="http://schemas.microsoft.com/office/drawing/2014/main" id="{5FB2DA50-947F-70E7-628A-A0D3D4F1D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20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9A2566B-872B-4A7D-A12D-D0A67AC56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5105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LEMMA:  If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is a composite, then its smallest prime factor is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Proof (by contradiction)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 1&lt;a&lt;n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n=ab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a&lt;=n or b&lt;=n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if a&gt;           and b&gt;             then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ab&gt; n</a:t>
            </a:r>
            <a:endParaRPr lang="en-US" altLang="en-US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617BC0B8-320B-D285-3063-AC67CF146A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895600"/>
          <a:ext cx="481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2050" name="Object 3">
                        <a:extLst>
                          <a:ext uri="{FF2B5EF4-FFF2-40B4-BE49-F238E27FC236}">
                            <a16:creationId xmlns:a16="http://schemas.microsoft.com/office/drawing/2014/main" id="{617BC0B8-320B-D285-3063-AC67CF146A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95600"/>
                        <a:ext cx="481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8">
            <a:extLst>
              <a:ext uri="{FF2B5EF4-FFF2-40B4-BE49-F238E27FC236}">
                <a16:creationId xmlns:a16="http://schemas.microsoft.com/office/drawing/2014/main" id="{A7CCC47F-6CE9-39C3-E995-C71D953BF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4876800"/>
          <a:ext cx="533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28600" progId="Equation.3">
                  <p:embed/>
                </p:oleObj>
              </mc:Choice>
              <mc:Fallback>
                <p:oleObj name="Equation" r:id="rId4" imgW="241200" imgH="228600" progId="Equation.3">
                  <p:embed/>
                  <p:pic>
                    <p:nvPicPr>
                      <p:cNvPr id="2051" name="Object 8">
                        <a:extLst>
                          <a:ext uri="{FF2B5EF4-FFF2-40B4-BE49-F238E27FC236}">
                            <a16:creationId xmlns:a16="http://schemas.microsoft.com/office/drawing/2014/main" id="{A7CCC47F-6CE9-39C3-E995-C71D953BF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876800"/>
                        <a:ext cx="533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>
            <a:extLst>
              <a:ext uri="{FF2B5EF4-FFF2-40B4-BE49-F238E27FC236}">
                <a16:creationId xmlns:a16="http://schemas.microsoft.com/office/drawing/2014/main" id="{B6138CFB-345C-8711-416F-C26574597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4876800"/>
          <a:ext cx="481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00" imgH="228600" progId="Equation.3">
                  <p:embed/>
                </p:oleObj>
              </mc:Choice>
              <mc:Fallback>
                <p:oleObj name="Equation" r:id="rId5" imgW="241200" imgH="228600" progId="Equation.3">
                  <p:embed/>
                  <p:pic>
                    <p:nvPicPr>
                      <p:cNvPr id="2052" name="Object 9">
                        <a:extLst>
                          <a:ext uri="{FF2B5EF4-FFF2-40B4-BE49-F238E27FC236}">
                            <a16:creationId xmlns:a16="http://schemas.microsoft.com/office/drawing/2014/main" id="{B6138CFB-345C-8711-416F-C26574597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876800"/>
                        <a:ext cx="481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ABE72A09-C77C-FC38-7A5B-60165CAB6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Primality Testing</a:t>
            </a:r>
          </a:p>
        </p:txBody>
      </p:sp>
      <p:sp>
        <p:nvSpPr>
          <p:cNvPr id="307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B5B641-516F-396F-D633-529F31A79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486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EG: Test if 139 and 143 are prime.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List all primes up to	 	and check if they divide the numbers.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 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Neither is even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Sum of digits trick: 1+3+9 = 13, 1+4+3 = 8 so neither divisible by 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Don’t end in 0 or 5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140 divisible by 7 so neither div. by 7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Alternating sum trick: 1-3+9 = 7 so 139 not div by 11.  1-4+3 = 0 so 143 </a:t>
            </a:r>
            <a:r>
              <a:rPr lang="en-US" altLang="en-US" sz="2000" i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divisible by 11.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STOP!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Next prime 13 need not be examined since bigger than	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Conclude:  139 is prime, 143 is composite.</a:t>
            </a: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62B1A02F-AE12-0F9E-8612-E59564108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5791200"/>
          <a:ext cx="609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62B1A02F-AE12-0F9E-8612-E595641087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791200"/>
                        <a:ext cx="609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27CBA9E1-84C9-83AA-DB1C-0C500ED5B3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905000"/>
          <a:ext cx="533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28600" progId="Equation.3">
                  <p:embed/>
                </p:oleObj>
              </mc:Choice>
              <mc:Fallback>
                <p:oleObj name="Equation" r:id="rId4" imgW="241200" imgH="228600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27CBA9E1-84C9-83AA-DB1C-0C500ED5B3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05000"/>
                        <a:ext cx="533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444324FB-E66A-58D8-1939-3754B006C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Division</a:t>
            </a:r>
          </a:p>
        </p:txBody>
      </p:sp>
      <p:sp>
        <p:nvSpPr>
          <p:cNvPr id="410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2D7D02E-3C3B-9FA1-1C52-53CA7F297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Remember long division?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117 = 31·3 + 24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dq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0C28D643-0C00-40F4-6D97-91DFFC80EB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9675" y="2484438"/>
          <a:ext cx="1355725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431640" progId="Equation.3">
                  <p:embed/>
                </p:oleObj>
              </mc:Choice>
              <mc:Fallback>
                <p:oleObj name="Equation" r:id="rId2" imgW="469800" imgH="431640" progId="Equation.3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0C28D643-0C00-40F4-6D97-91DFFC80E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5" y="2484438"/>
                        <a:ext cx="1355725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BDC8756C-8654-D517-07B3-5B3926F49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3413" y="3457575"/>
          <a:ext cx="6604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393480" progId="Equation.3">
                  <p:embed/>
                </p:oleObj>
              </mc:Choice>
              <mc:Fallback>
                <p:oleObj name="Equation" r:id="rId4" imgW="228600" imgH="393480" progId="Equation.3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BDC8756C-8654-D517-07B3-5B3926F49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3457575"/>
                        <a:ext cx="6604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AutoShape 6">
            <a:extLst>
              <a:ext uri="{FF2B5EF4-FFF2-40B4-BE49-F238E27FC236}">
                <a16:creationId xmlns:a16="http://schemas.microsoft.com/office/drawing/2014/main" id="{C68518E2-4CAD-0E12-4B2D-6F99B61FCD7D}"/>
              </a:ext>
            </a:extLst>
          </p:cNvPr>
          <p:cNvSpPr>
            <a:spLocks/>
          </p:cNvSpPr>
          <p:nvPr/>
        </p:nvSpPr>
        <p:spPr bwMode="auto">
          <a:xfrm>
            <a:off x="5638800" y="2286000"/>
            <a:ext cx="1600200" cy="914400"/>
          </a:xfrm>
          <a:prstGeom prst="callout1">
            <a:avLst>
              <a:gd name="adj1" fmla="val 12500"/>
              <a:gd name="adj2" fmla="val -4764"/>
              <a:gd name="adj3" fmla="val 50000"/>
              <a:gd name="adj4" fmla="val -34125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rgbClr val="FF0000"/>
                </a:solidFill>
              </a:rPr>
              <a:t>q</a:t>
            </a:r>
            <a:r>
              <a:rPr lang="en-US" altLang="en-US"/>
              <a:t> the </a:t>
            </a:r>
            <a:r>
              <a:rPr lang="en-US" altLang="en-US" b="1" i="1"/>
              <a:t>quotient</a:t>
            </a:r>
          </a:p>
        </p:txBody>
      </p:sp>
      <p:sp>
        <p:nvSpPr>
          <p:cNvPr id="4103" name="AutoShape 7">
            <a:extLst>
              <a:ext uri="{FF2B5EF4-FFF2-40B4-BE49-F238E27FC236}">
                <a16:creationId xmlns:a16="http://schemas.microsoft.com/office/drawing/2014/main" id="{40FD6C8B-2294-93A6-CBB6-BC4462F4012B}"/>
              </a:ext>
            </a:extLst>
          </p:cNvPr>
          <p:cNvSpPr>
            <a:spLocks/>
          </p:cNvSpPr>
          <p:nvPr/>
        </p:nvSpPr>
        <p:spPr bwMode="auto">
          <a:xfrm>
            <a:off x="5638800" y="3810000"/>
            <a:ext cx="1828800" cy="914400"/>
          </a:xfrm>
          <a:prstGeom prst="callout1">
            <a:avLst>
              <a:gd name="adj1" fmla="val 12500"/>
              <a:gd name="adj2" fmla="val -4167"/>
              <a:gd name="adj3" fmla="val 50000"/>
              <a:gd name="adj4" fmla="val -29861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rgbClr val="FF0000"/>
                </a:solidFill>
              </a:rPr>
              <a:t>r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the </a:t>
            </a:r>
            <a:r>
              <a:rPr lang="en-US" altLang="en-US" b="1" i="1"/>
              <a:t>remainder</a:t>
            </a:r>
          </a:p>
        </p:txBody>
      </p:sp>
      <p:sp>
        <p:nvSpPr>
          <p:cNvPr id="4104" name="AutoShape 8">
            <a:extLst>
              <a:ext uri="{FF2B5EF4-FFF2-40B4-BE49-F238E27FC236}">
                <a16:creationId xmlns:a16="http://schemas.microsoft.com/office/drawing/2014/main" id="{0F30C8DA-3DD1-B36A-D89C-88BD3B007D37}"/>
              </a:ext>
            </a:extLst>
          </p:cNvPr>
          <p:cNvSpPr>
            <a:spLocks/>
          </p:cNvSpPr>
          <p:nvPr/>
        </p:nvSpPr>
        <p:spPr bwMode="auto">
          <a:xfrm>
            <a:off x="1600200" y="2743200"/>
            <a:ext cx="1600200" cy="914400"/>
          </a:xfrm>
          <a:prstGeom prst="callout1">
            <a:avLst>
              <a:gd name="adj1" fmla="val 12500"/>
              <a:gd name="adj2" fmla="val 104764"/>
              <a:gd name="adj3" fmla="val 54690"/>
              <a:gd name="adj4" fmla="val 134028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rgbClr val="FF0000"/>
                </a:solidFill>
              </a:rPr>
              <a:t>d</a:t>
            </a:r>
            <a:r>
              <a:rPr lang="en-US" altLang="en-US"/>
              <a:t> the </a:t>
            </a:r>
            <a:r>
              <a:rPr lang="en-US" altLang="en-US" b="1" i="1"/>
              <a:t>divisor</a:t>
            </a:r>
          </a:p>
        </p:txBody>
      </p:sp>
      <p:sp>
        <p:nvSpPr>
          <p:cNvPr id="4105" name="AutoShape 9">
            <a:extLst>
              <a:ext uri="{FF2B5EF4-FFF2-40B4-BE49-F238E27FC236}">
                <a16:creationId xmlns:a16="http://schemas.microsoft.com/office/drawing/2014/main" id="{81C8E658-81F8-7373-C73F-24E504F53652}"/>
              </a:ext>
            </a:extLst>
          </p:cNvPr>
          <p:cNvSpPr>
            <a:spLocks/>
          </p:cNvSpPr>
          <p:nvPr/>
        </p:nvSpPr>
        <p:spPr bwMode="auto">
          <a:xfrm>
            <a:off x="1981200" y="3810000"/>
            <a:ext cx="1600200" cy="914400"/>
          </a:xfrm>
          <a:prstGeom prst="callout1">
            <a:avLst>
              <a:gd name="adj1" fmla="val 12500"/>
              <a:gd name="adj2" fmla="val 104764"/>
              <a:gd name="adj3" fmla="val -31250"/>
              <a:gd name="adj4" fmla="val 159028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rgbClr val="FF0000"/>
                </a:solidFill>
              </a:rPr>
              <a:t>a</a:t>
            </a:r>
            <a:r>
              <a:rPr lang="en-US" altLang="en-US"/>
              <a:t> the </a:t>
            </a:r>
            <a:r>
              <a:rPr lang="en-US" altLang="en-US" b="1" i="1"/>
              <a:t>dividend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BC84AB1-E0F2-69E1-6128-162EA23D2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Division</a:t>
            </a:r>
          </a:p>
        </p:txBody>
      </p:sp>
      <p:sp>
        <p:nvSpPr>
          <p:cNvPr id="368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C5257D8-9426-B52D-CF85-CFACC330C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5438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THM:  Let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 an integer, and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 a positive integer.  There are unique integers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q, r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{0,1,2,…,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-1}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satisfying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dq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E7E284B-6679-62F4-C54F-6192A8A1D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GCD and Relatively Prime</a:t>
            </a:r>
          </a:p>
        </p:txBody>
      </p:sp>
      <p:sp>
        <p:nvSpPr>
          <p:cNvPr id="378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D36EF1D-F259-E365-5388-0595F2A38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50292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  Let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 integers, not both zero.  The </a:t>
            </a:r>
            <a:r>
              <a:rPr lang="en-US" altLang="en-US" sz="28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greatest common divisor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(or gcd(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 ) is the biggest number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which divides both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DEF: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are said to be </a:t>
            </a:r>
            <a:r>
              <a:rPr lang="en-US" altLang="en-US" sz="28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relatively prime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if gcd(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) = 1, so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prime common divisors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7BB1136-9374-5F55-4FE0-2B9265ED0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GCD and Relatively Prime</a:t>
            </a:r>
            <a:endParaRPr lang="en-US" altLang="en-US"/>
          </a:p>
        </p:txBody>
      </p:sp>
      <p:sp>
        <p:nvSpPr>
          <p:cNvPr id="38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3E30E9C-BD72-9660-D6DD-947329C43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51054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gcd(11,77) = 11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gcd(33,77) = 11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gcd(24,36) = 12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gcd(24,25) = 1.  Therefore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and 25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are relatively prime.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NOTE:  A prime number are relatively prime to all other numbers which it doesn’t divide.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A84D380-A4CE-55A7-CB33-516F1D63A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GCD and Relatively Prime</a:t>
            </a:r>
            <a:endParaRPr lang="en-US" altLang="en-US"/>
          </a:p>
        </p:txBody>
      </p:sp>
      <p:sp>
        <p:nvSpPr>
          <p:cNvPr id="3993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8AE5D06-B459-8C20-39B0-0929726C8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543800" cy="47244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EG:  More realistic.  Find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gcd(98,420).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prime decomposition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of each number and find all the common factors: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 =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2·49 =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2·7·7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420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= 2·210 = 2·2·105 = 2·2·3·35 =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2·2·3·5·7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Underline common factors: 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2·7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·7,   2·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·3·5·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Therefore,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gcd(98,420) = 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DF6ADB5-DAF9-DFC3-3C06-525EE3A90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Least Common Multiple</a:t>
            </a:r>
          </a:p>
        </p:txBody>
      </p:sp>
      <p:sp>
        <p:nvSpPr>
          <p:cNvPr id="409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ABA8B6B-CCDD-D249-BDE5-E814C38DB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9530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DEF:  The </a:t>
            </a:r>
            <a:r>
              <a:rPr lang="en-US" alt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least common multiple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(lcm(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a,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b) ) is the smallest number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which is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divisible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by both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Q:  Find the lcm’s: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lcm(10,100)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lcm(7,5)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lcm(9,21)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5DB12B0-EF84-4EFD-C2C3-0C64CD12D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Least Common Multiple</a:t>
            </a:r>
          </a:p>
        </p:txBody>
      </p:sp>
      <p:sp>
        <p:nvSpPr>
          <p:cNvPr id="4198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E83C29-30BC-5A17-D027-E79B37FFE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lcm(10,100) = 100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lcm(7,5) = 35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lcm(9,21) = 63</a:t>
            </a:r>
          </a:p>
          <a:p>
            <a:pPr marL="609600" indent="-609600">
              <a:buFont typeface="Arial" panose="020B0604020202020204" pitchFamily="34" charset="0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THM: 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lcm(a,b)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 / gcd(a,b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1F7BBFF-AE50-2F92-5DA6-766E027CB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Modular Arithmetic</a:t>
            </a:r>
          </a:p>
        </p:txBody>
      </p:sp>
      <p:sp>
        <p:nvSpPr>
          <p:cNvPr id="4301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8404C0-ED08-3D43-2357-492D25D23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There are two types of “mod” (confusing):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</a:t>
            </a:r>
            <a:r>
              <a:rPr lang="en-US" altLang="en-US" sz="28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Inputs a number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and a base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Outputs 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b 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number between 0 and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–1 inclusive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This is the remainder of a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b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Similar to Java’s 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%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operator.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(mod) congruence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Relates two numbers 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 a’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to each other relative some base 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(mod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means that 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and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have the 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same remainder when dividing by 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en-US" sz="2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DD37F5D-9D4D-F107-3974-8BD043DDB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59A960B-FDB0-6109-0BB8-E4A4EA8FF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46482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Similar to Java’s “%” operator except that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 is always positive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  E.G. 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= 2, but in Java –10%3 = -1.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Q:  Compute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113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-29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B534A0A8-8B1B-08D8-4182-363CC8327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77D5719-62C1-624C-8757-422041452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/>
              <a:t>A:  Compute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113 </a:t>
            </a:r>
            <a:r>
              <a:rPr lang="en-US" altLang="en-US" b="1"/>
              <a:t>mod </a:t>
            </a:r>
            <a:r>
              <a:rPr lang="en-US" altLang="en-US"/>
              <a:t>24: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solidFill>
                  <a:srgbClr val="FF0000"/>
                </a:solidFill>
              </a:rPr>
              <a:t>-29 </a:t>
            </a:r>
            <a:r>
              <a:rPr lang="en-US" altLang="en-US" b="1">
                <a:solidFill>
                  <a:srgbClr val="FF0000"/>
                </a:solidFill>
              </a:rPr>
              <a:t>mod </a:t>
            </a:r>
            <a:r>
              <a:rPr lang="en-US" altLang="en-US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E1D927BA-EFD9-809C-23CD-FF75B41724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1965325"/>
          <a:ext cx="1392237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457200" progId="Equation.3">
                  <p:embed/>
                </p:oleObj>
              </mc:Choice>
              <mc:Fallback>
                <p:oleObj name="Equation" r:id="rId2" imgW="482400" imgH="457200" progId="Equation.3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E1D927BA-EFD9-809C-23CD-FF75B4172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1965325"/>
                        <a:ext cx="1392237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7543B489-0069-EA5F-9D96-F9BF1650F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B23F754-9A68-2476-D579-2C6BA76E3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/>
              <a:t>A:  Compute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113 </a:t>
            </a:r>
            <a:r>
              <a:rPr lang="en-US" altLang="en-US" b="1"/>
              <a:t>mod </a:t>
            </a:r>
            <a:r>
              <a:rPr lang="en-US" altLang="en-US"/>
              <a:t>24: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-29 </a:t>
            </a:r>
            <a:r>
              <a:rPr lang="en-US" altLang="en-US" b="1"/>
              <a:t>mod </a:t>
            </a:r>
            <a:r>
              <a:rPr lang="en-US" altLang="en-US"/>
              <a:t>7</a:t>
            </a:r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4BFACC83-6F8A-F666-8921-A5EDC1E1C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2019300"/>
          <a:ext cx="13922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419040" progId="Equation.3">
                  <p:embed/>
                </p:oleObj>
              </mc:Choice>
              <mc:Fallback>
                <p:oleObj name="Equation" r:id="rId2" imgW="482400" imgH="419040" progId="Equation.3">
                  <p:embed/>
                  <p:pic>
                    <p:nvPicPr>
                      <p:cNvPr id="6146" name="Object 2">
                        <a:extLst>
                          <a:ext uri="{FF2B5EF4-FFF2-40B4-BE49-F238E27FC236}">
                            <a16:creationId xmlns:a16="http://schemas.microsoft.com/office/drawing/2014/main" id="{4BFACC83-6F8A-F666-8921-A5EDC1E1C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2019300"/>
                        <a:ext cx="1392237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C8CDDEAA-678A-F936-8913-9BCDCD6EB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2974975"/>
          <a:ext cx="6223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393480" progId="Equation.3">
                  <p:embed/>
                </p:oleObj>
              </mc:Choice>
              <mc:Fallback>
                <p:oleObj name="Equation" r:id="rId4" imgW="215640" imgH="393480" progId="Equation.3">
                  <p:embed/>
                  <p:pic>
                    <p:nvPicPr>
                      <p:cNvPr id="6147" name="Object 3">
                        <a:extLst>
                          <a:ext uri="{FF2B5EF4-FFF2-40B4-BE49-F238E27FC236}">
                            <a16:creationId xmlns:a16="http://schemas.microsoft.com/office/drawing/2014/main" id="{C8CDDEAA-678A-F936-8913-9BCDCD6EB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2974975"/>
                        <a:ext cx="6223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Line 6">
            <a:extLst>
              <a:ext uri="{FF2B5EF4-FFF2-40B4-BE49-F238E27FC236}">
                <a16:creationId xmlns:a16="http://schemas.microsoft.com/office/drawing/2014/main" id="{AB63647C-22D8-C3E5-7170-25E616AAB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7638" y="3125788"/>
            <a:ext cx="1673225" cy="6858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>
            <a:extLst>
              <a:ext uri="{FF2B5EF4-FFF2-40B4-BE49-F238E27FC236}">
                <a16:creationId xmlns:a16="http://schemas.microsoft.com/office/drawing/2014/main" id="{B2B7F420-EB9F-5FD9-9CE3-57561E61B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8666CB9-04CC-A5D7-DF7A-DE62E1AE3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/>
              <a:t>A:  Compute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113 </a:t>
            </a:r>
            <a:r>
              <a:rPr lang="en-US" altLang="en-US" b="1"/>
              <a:t>mod </a:t>
            </a:r>
            <a:r>
              <a:rPr lang="en-US" altLang="en-US"/>
              <a:t>24: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-29 </a:t>
            </a:r>
            <a:r>
              <a:rPr lang="en-US" altLang="en-US" b="1"/>
              <a:t>mod </a:t>
            </a:r>
            <a:r>
              <a:rPr lang="en-US" altLang="en-US"/>
              <a:t>7</a:t>
            </a:r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B4974783-7754-B630-CCCE-31BF6A141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2019300"/>
          <a:ext cx="13922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419040" progId="Equation.3">
                  <p:embed/>
                </p:oleObj>
              </mc:Choice>
              <mc:Fallback>
                <p:oleObj name="Equation" r:id="rId2" imgW="482400" imgH="419040" progId="Equation.3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B4974783-7754-B630-CCCE-31BF6A141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2019300"/>
                        <a:ext cx="1392237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30D50582-828E-7A9B-EF85-B93F7E488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2974975"/>
          <a:ext cx="6223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393480" progId="Equation.3">
                  <p:embed/>
                </p:oleObj>
              </mc:Choice>
              <mc:Fallback>
                <p:oleObj name="Equation" r:id="rId4" imgW="215640" imgH="39348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30D50582-828E-7A9B-EF85-B93F7E4883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2974975"/>
                        <a:ext cx="6223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Line 6">
            <a:extLst>
              <a:ext uri="{FF2B5EF4-FFF2-40B4-BE49-F238E27FC236}">
                <a16:creationId xmlns:a16="http://schemas.microsoft.com/office/drawing/2014/main" id="{169BC50C-53FC-6568-EC78-9DB1795F3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7638" y="3125788"/>
            <a:ext cx="1673225" cy="6858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41B2FD6E-8724-28FD-30FC-A305BA276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8875" y="4251325"/>
          <a:ext cx="1319213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457200" progId="Equation.3">
                  <p:embed/>
                </p:oleObj>
              </mc:Choice>
              <mc:Fallback>
                <p:oleObj name="Equation" r:id="rId6" imgW="457200" imgH="457200" progId="Equation.3">
                  <p:embed/>
                  <p:pic>
                    <p:nvPicPr>
                      <p:cNvPr id="7172" name="Object 4">
                        <a:extLst>
                          <a:ext uri="{FF2B5EF4-FFF2-40B4-BE49-F238E27FC236}">
                            <a16:creationId xmlns:a16="http://schemas.microsoft.com/office/drawing/2014/main" id="{41B2FD6E-8724-28FD-30FC-A305BA276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4251325"/>
                        <a:ext cx="1319213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2">
            <a:extLst>
              <a:ext uri="{FF2B5EF4-FFF2-40B4-BE49-F238E27FC236}">
                <a16:creationId xmlns:a16="http://schemas.microsoft.com/office/drawing/2014/main" id="{7ABB42DC-27E0-2208-FB93-F4778E987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F0C919B-1FF6-5738-BF4D-E494FEB01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/>
              <a:t>A:  Compute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113 </a:t>
            </a:r>
            <a:r>
              <a:rPr lang="en-US" altLang="en-US" b="1"/>
              <a:t>mod </a:t>
            </a:r>
            <a:r>
              <a:rPr lang="en-US" altLang="en-US"/>
              <a:t>24: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/>
              <a:t>-29 </a:t>
            </a:r>
            <a:r>
              <a:rPr lang="en-US" altLang="en-US" b="1"/>
              <a:t>mod </a:t>
            </a:r>
            <a:r>
              <a:rPr lang="en-US" altLang="en-US"/>
              <a:t>7</a:t>
            </a:r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8D8E9D9A-BD09-769A-7E6C-B74F56E35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2019300"/>
          <a:ext cx="13922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419040" progId="Equation.3">
                  <p:embed/>
                </p:oleObj>
              </mc:Choice>
              <mc:Fallback>
                <p:oleObj name="Equation" r:id="rId2" imgW="482400" imgH="419040" progId="Equation.3">
                  <p:embed/>
                  <p:pic>
                    <p:nvPicPr>
                      <p:cNvPr id="8194" name="Object 2">
                        <a:extLst>
                          <a:ext uri="{FF2B5EF4-FFF2-40B4-BE49-F238E27FC236}">
                            <a16:creationId xmlns:a16="http://schemas.microsoft.com/office/drawing/2014/main" id="{8D8E9D9A-BD09-769A-7E6C-B74F56E35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2019300"/>
                        <a:ext cx="1392237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9C662182-DBFF-3508-0589-B5E1509C32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2974975"/>
          <a:ext cx="6223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393480" progId="Equation.3">
                  <p:embed/>
                </p:oleObj>
              </mc:Choice>
              <mc:Fallback>
                <p:oleObj name="Equation" r:id="rId4" imgW="215640" imgH="393480" progId="Equation.3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9C662182-DBFF-3508-0589-B5E1509C32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2974975"/>
                        <a:ext cx="6223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Line 6">
            <a:extLst>
              <a:ext uri="{FF2B5EF4-FFF2-40B4-BE49-F238E27FC236}">
                <a16:creationId xmlns:a16="http://schemas.microsoft.com/office/drawing/2014/main" id="{CDDBCB36-F4BB-21D4-0A38-A4048E02F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7638" y="3125788"/>
            <a:ext cx="1673225" cy="6858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2763D1D5-EFA0-18AB-A71B-A20C53D37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8875" y="4287838"/>
          <a:ext cx="1319213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431640" progId="Equation.3">
                  <p:embed/>
                </p:oleObj>
              </mc:Choice>
              <mc:Fallback>
                <p:oleObj name="Equation" r:id="rId6" imgW="457200" imgH="43164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2763D1D5-EFA0-18AB-A71B-A20C53D377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4287838"/>
                        <a:ext cx="1319213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B79F520A-691B-1FB4-FF36-6786482A0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2100" y="5257800"/>
          <a:ext cx="9525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431640" progId="Equation.3">
                  <p:embed/>
                </p:oleObj>
              </mc:Choice>
              <mc:Fallback>
                <p:oleObj name="Equation" r:id="rId8" imgW="330120" imgH="431640" progId="Equation.3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B79F520A-691B-1FB4-FF36-6786482A0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5257800"/>
                        <a:ext cx="9525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Line 9">
            <a:extLst>
              <a:ext uri="{FF2B5EF4-FFF2-40B4-BE49-F238E27FC236}">
                <a16:creationId xmlns:a16="http://schemas.microsoft.com/office/drawing/2014/main" id="{791EFB6E-1C59-19CD-9FAD-335BE009A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0438" y="4724400"/>
            <a:ext cx="2439987" cy="129857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73202CA2-8B9A-3936-8A96-D5C9CB51BA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9475" y="5886450"/>
          <a:ext cx="365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3">
                  <p:embed/>
                </p:oleObj>
              </mc:Choice>
              <mc:Fallback>
                <p:oleObj name="Equation" r:id="rId10" imgW="126720" imgH="177480" progId="Equation.3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73202CA2-8B9A-3936-8A96-D5C9CB51BA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5886450"/>
                        <a:ext cx="3651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EF5ED04-4E7B-52E4-8D98-38C025D6C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(mod) congruence Formal Definition</a:t>
            </a:r>
          </a:p>
        </p:txBody>
      </p:sp>
      <p:sp>
        <p:nvSpPr>
          <p:cNvPr id="450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AA25C9-3400-2DDD-9FAF-6375CF76A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5029200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be integers and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be a positive integer. We say that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 congruent to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modulo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(denoted by 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(mod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)  iff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 | (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–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a’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Equivalently: 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mod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a’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mod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i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Q:  Which of the following are true?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3 (mod 17)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-3 (mod 17)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172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177 (mod 5)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-13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13 (mod 26)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9F4CB75-E93B-2B21-E62F-078E4827F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(mod) congruence</a:t>
            </a:r>
          </a:p>
        </p:txBody>
      </p:sp>
      <p:sp>
        <p:nvSpPr>
          <p:cNvPr id="460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B71436-7E69-6632-620B-A75A5B0B2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5029200"/>
          </a:xfrm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533400" indent="-533400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3 (mod 17)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True. </a:t>
            </a:r>
          </a:p>
          <a:p>
            <a:pPr marL="533400" indent="-5334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any number is congruent to itself (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3-3 = 0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divisible by all)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-3 (mod 17)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False. </a:t>
            </a:r>
          </a:p>
          <a:p>
            <a:pPr marL="533400" indent="-5334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(3-(-3)) = 6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isn’t divisible by 17.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172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177 (mod 5)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True.  </a:t>
            </a:r>
          </a:p>
          <a:p>
            <a:pPr marL="533400" indent="-5334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172-177 = -5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 a multiple of 5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-13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 13 (mod 26)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True.</a:t>
            </a:r>
          </a:p>
          <a:p>
            <a:pPr marL="533400" indent="-5334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-13-13 = -26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divisible by 26.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39B48870-03F7-C5E2-1AD5-9C1A24EB7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Modular arithmetic harder examples</a:t>
            </a:r>
          </a:p>
        </p:txBody>
      </p:sp>
      <p:sp>
        <p:nvSpPr>
          <p:cNvPr id="92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140E29E-B5A2-0A36-9200-366A9F44A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Q:  Compute the following.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307</a:t>
            </a:r>
            <a:r>
              <a:rPr lang="en-US" altLang="en-US" baseline="30000">
                <a:latin typeface="Arial" panose="020B0604020202020204" pitchFamily="34" charset="0"/>
                <a:cs typeface="Arial" panose="020B0604020202020204" pitchFamily="34" charset="0"/>
              </a:rPr>
              <a:t>1001 </a:t>
            </a: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102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692116C6-0C3E-D4E3-7CAF-9984E2840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29000"/>
          <a:ext cx="2859088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457200" progId="Equation.3">
                  <p:embed/>
                </p:oleObj>
              </mc:Choice>
              <mc:Fallback>
                <p:oleObj name="Equation" r:id="rId2" imgW="990360" imgH="457200" progId="Equation.3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692116C6-0C3E-D4E3-7CAF-9984E2840B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29000"/>
                        <a:ext cx="2859088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28E73E0-350E-DEAC-110C-46EF76BC9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Modular arithmetic harder examples</a:t>
            </a:r>
          </a:p>
        </p:txBody>
      </p:sp>
      <p:sp>
        <p:nvSpPr>
          <p:cNvPr id="471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176F51D-A3F4-647C-9216-B231B11F9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3886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A: Use the previous identities to help simplify: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Using multiplication rules, before multiplying (or exponentiating) can reduce modulo 102:</a:t>
            </a:r>
          </a:p>
          <a:p>
            <a:pPr marL="609600" indent="-60960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307</a:t>
            </a:r>
            <a:r>
              <a:rPr lang="en-US" altLang="en-US" sz="2800" baseline="30000">
                <a:latin typeface="Arial" panose="020B0604020202020204" pitchFamily="34" charset="0"/>
                <a:cs typeface="Arial" panose="020B0604020202020204" pitchFamily="34" charset="0"/>
              </a:rPr>
              <a:t>1001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102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307</a:t>
            </a:r>
            <a:r>
              <a:rPr lang="en-US" altLang="en-US" sz="2800" baseline="30000">
                <a:latin typeface="Arial" panose="020B0604020202020204" pitchFamily="34" charset="0"/>
                <a:cs typeface="Arial" panose="020B0604020202020204" pitchFamily="34" charset="0"/>
              </a:rPr>
              <a:t>1001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(mod 102)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800" baseline="30000">
                <a:latin typeface="Arial" panose="020B0604020202020204" pitchFamily="34" charset="0"/>
                <a:cs typeface="Arial" panose="020B0604020202020204" pitchFamily="34" charset="0"/>
              </a:rPr>
              <a:t>1001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(mod 102)     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(102X3)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(mod 102). 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Therefore,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307</a:t>
            </a:r>
            <a:r>
              <a:rPr lang="en-US" altLang="en-US" sz="2800" baseline="30000">
                <a:latin typeface="Arial" panose="020B0604020202020204" pitchFamily="34" charset="0"/>
                <a:cs typeface="Arial" panose="020B0604020202020204" pitchFamily="34" charset="0"/>
              </a:rPr>
              <a:t>1001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102 = 1.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43FCD470-1275-02E6-ECCD-739F9F1C1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Modular arithmetic harder examples</a:t>
            </a:r>
          </a:p>
        </p:txBody>
      </p:sp>
      <p:sp>
        <p:nvSpPr>
          <p:cNvPr id="102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680EA32-7F54-DBA9-D394-A04AC3F77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5410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A: Use the previous identities to help simplify:</a:t>
            </a:r>
          </a:p>
          <a:p>
            <a:pPr marL="609600" indent="-609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Similarly, before taking sum can simplify modulo 11:</a:t>
            </a: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AutoNum type="arabicPeriod" startAt="3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</a:t>
            </a: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Therefore, the answer is 0.</a:t>
            </a:r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82667ECD-8CB8-15CB-42D4-824F87431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971800"/>
          <a:ext cx="4724400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1396800" progId="Equation.3">
                  <p:embed/>
                </p:oleObj>
              </mc:Choice>
              <mc:Fallback>
                <p:oleObj name="Equation" r:id="rId2" imgW="2171520" imgH="1396800" progId="Equation.3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82667ECD-8CB8-15CB-42D4-824F87431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971800"/>
                        <a:ext cx="4724400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Box 4">
            <a:extLst>
              <a:ext uri="{FF2B5EF4-FFF2-40B4-BE49-F238E27FC236}">
                <a16:creationId xmlns:a16="http://schemas.microsoft.com/office/drawing/2014/main" id="{754F5B75-3CBE-123D-B9B4-6B9066E5E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26720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10-(-1)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A8D86DB-8C5D-9A14-F83C-25B96E9B4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Simple Encryption</a:t>
            </a:r>
          </a:p>
        </p:txBody>
      </p:sp>
      <p:sp>
        <p:nvSpPr>
          <p:cNvPr id="481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8CC49A2-4DC7-B35E-34EF-DA23BF825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7543800" cy="38862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Variations on the following have been used to encrypt messages for thousands of years.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a message to capitals.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Think of each letter as 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between 1 and 26.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Apply an invertible modular function to each number.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Convert back to letters (0 becomes 26).</a:t>
            </a:r>
          </a:p>
          <a:p>
            <a:pPr marL="609600" indent="-609600">
              <a:buFont typeface="Wingdings" panose="05000000000000000000" pitchFamily="2" charset="2"/>
              <a:buAutoNum type="arabicPeriod" startAt="2"/>
            </a:pP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E4CF062-176A-CED8-0A47-6763D5A34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Caesar Cipher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DBBB31C-EFA8-3BCE-484C-F3D47877D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2824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earliest known substitution cipher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by Julius Caesar 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first attested use in military affairs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solidFill>
                  <a:srgbClr val="0189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replaces each letter by 3rd letter 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+3)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F72BC1-986E-375B-1CD9-E9B2058F924F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4857750"/>
          <a:ext cx="8929688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06104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00" marB="45700">
                    <a:solidFill>
                      <a:srgbClr val="CD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03097EE-4216-DD8C-87E7-8FCBA1C2E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Caesar Cipher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5585B53-71BA-3312-9B73-F72D7C766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can define transformation as: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sz="1800">
                <a:latin typeface="Arial" panose="020B0604020202020204" pitchFamily="34" charset="0"/>
                <a:cs typeface="Arial" panose="020B0604020202020204" pitchFamily="34" charset="0"/>
              </a:rPr>
              <a:t>a b c d e f g h i j k l m n o p q r s t u v w x y z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sz="1800">
                <a:latin typeface="Arial" panose="020B0604020202020204" pitchFamily="34" charset="0"/>
                <a:cs typeface="Arial" panose="020B0604020202020204" pitchFamily="34" charset="0"/>
              </a:rPr>
              <a:t>D E F G H I J K L M N O P Q R S T U V W X Y Z A B C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mathematically give each letter a number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sz="1400">
                <a:latin typeface="Arial" panose="020B0604020202020204" pitchFamily="34" charset="0"/>
                <a:cs typeface="Arial" panose="020B0604020202020204" pitchFamily="34" charset="0"/>
              </a:rPr>
              <a:t>a b c d e f g h i j  k  l  m  n  o  p  q  r  s  t  u  v  w  x  y  z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sz="1400">
                <a:latin typeface="Arial" panose="020B0604020202020204" pitchFamily="34" charset="0"/>
                <a:cs typeface="Arial" panose="020B0604020202020204" pitchFamily="34" charset="0"/>
              </a:rPr>
              <a:t>0 1 2 3 4 5 6 7 8 9 10 11 12 13 14 15 16 17 18 19 20 21 22 23 24 25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then have Caesar cipher as: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E(</a:t>
            </a: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</a:t>
            </a: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mod (26)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D(c) = (c – </a:t>
            </a:r>
            <a:r>
              <a:rPr lang="en-AU" altLang="en-US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mod (26)</a:t>
            </a:r>
            <a:endParaRPr lang="en-AU" altLang="en-US" sz="1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AU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1A2F40D-4343-A6C1-DA61-78E610A80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Monoalphabetic Cipher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3222501-3535-BCFF-601C-41FA0C699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543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dirty="0">
                <a:latin typeface="Arial" pitchFamily="34" charset="0"/>
                <a:ea typeface="ＭＳ Ｐゴシック" charset="0"/>
                <a:cs typeface="Arial" pitchFamily="34" charset="0"/>
              </a:rPr>
              <a:t>rather than just shifting the alphabet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ＭＳ Ｐゴシック" charset="0"/>
                <a:cs typeface="Arial" pitchFamily="34" charset="0"/>
              </a:rPr>
              <a:t>could shuffle (jumble) the letters arbitrarily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dirty="0">
                <a:latin typeface="Arial" pitchFamily="34" charset="0"/>
                <a:ea typeface="ＭＳ Ｐゴシック" charset="0"/>
                <a:cs typeface="Arial" pitchFamily="34" charset="0"/>
              </a:rPr>
              <a:t>each </a:t>
            </a:r>
            <a:r>
              <a:rPr lang="en-AU" dirty="0">
                <a:solidFill>
                  <a:srgbClr val="FF0000"/>
                </a:solidFill>
                <a:latin typeface="Arial" pitchFamily="34" charset="0"/>
                <a:ea typeface="ＭＳ Ｐゴシック" charset="0"/>
                <a:cs typeface="Arial" pitchFamily="34" charset="0"/>
              </a:rPr>
              <a:t>plaintext letter maps to a different random </a:t>
            </a:r>
            <a:r>
              <a:rPr lang="en-AU" dirty="0" err="1">
                <a:latin typeface="Arial" pitchFamily="34" charset="0"/>
                <a:ea typeface="ＭＳ Ｐゴシック" charset="0"/>
                <a:cs typeface="Arial" pitchFamily="34" charset="0"/>
              </a:rPr>
              <a:t>ciphertext</a:t>
            </a:r>
            <a:r>
              <a:rPr lang="en-AU" dirty="0">
                <a:latin typeface="Arial" pitchFamily="34" charset="0"/>
                <a:ea typeface="ＭＳ Ｐゴシック" charset="0"/>
                <a:cs typeface="Arial" pitchFamily="34" charset="0"/>
              </a:rPr>
              <a:t> letter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dirty="0">
                <a:latin typeface="Arial" pitchFamily="34" charset="0"/>
                <a:ea typeface="ＭＳ Ｐゴシック" charset="0"/>
                <a:cs typeface="Arial" pitchFamily="34" charset="0"/>
              </a:rPr>
              <a:t>hence key is 26 letters long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AU" sz="2400" dirty="0">
              <a:latin typeface="Arial" pitchFamily="34" charset="0"/>
              <a:ea typeface="ＭＳ Ｐゴシック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AU" sz="2400" dirty="0">
                <a:latin typeface="Arial" pitchFamily="34" charset="0"/>
                <a:ea typeface="ＭＳ Ｐゴシック" charset="0"/>
                <a:cs typeface="Arial" pitchFamily="34" charset="0"/>
              </a:rPr>
              <a:t>Plain:  </a:t>
            </a:r>
            <a:r>
              <a:rPr lang="en-AU" sz="2400" dirty="0" err="1">
                <a:latin typeface="Arial" pitchFamily="34" charset="0"/>
                <a:ea typeface="ＭＳ Ｐゴシック" charset="0"/>
                <a:cs typeface="Arial" pitchFamily="34" charset="0"/>
              </a:rPr>
              <a:t>abcdefghijklmnopqrstuvwxyz</a:t>
            </a:r>
            <a:endParaRPr lang="en-AU" sz="2400" dirty="0">
              <a:latin typeface="Arial" pitchFamily="34" charset="0"/>
              <a:ea typeface="ＭＳ Ｐゴシック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AU" sz="2400" dirty="0">
                <a:latin typeface="Arial" pitchFamily="34" charset="0"/>
                <a:ea typeface="ＭＳ Ｐゴシック" charset="0"/>
                <a:cs typeface="Arial" pitchFamily="34" charset="0"/>
              </a:rPr>
              <a:t>Cipher: DKVQFIBJWPESCXHTMYAUOLRGZN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AU" sz="2400" dirty="0">
              <a:latin typeface="Arial" pitchFamily="34" charset="0"/>
              <a:ea typeface="ＭＳ Ｐゴシック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AU" sz="2400" dirty="0">
                <a:latin typeface="Arial" pitchFamily="34" charset="0"/>
                <a:ea typeface="ＭＳ Ｐゴシック" charset="0"/>
                <a:cs typeface="Arial" pitchFamily="34" charset="0"/>
              </a:rPr>
              <a:t>Plaintext:  </a:t>
            </a:r>
            <a:r>
              <a:rPr lang="en-AU" sz="2400" dirty="0" err="1">
                <a:latin typeface="Arial" pitchFamily="34" charset="0"/>
                <a:ea typeface="ＭＳ Ｐゴシック" charset="0"/>
                <a:cs typeface="Arial" pitchFamily="34" charset="0"/>
              </a:rPr>
              <a:t>ifwewishtoreplaceletters</a:t>
            </a:r>
            <a:endParaRPr lang="en-AU" sz="2400" dirty="0">
              <a:latin typeface="Arial" pitchFamily="34" charset="0"/>
              <a:ea typeface="ＭＳ Ｐゴシック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AU" sz="2400" dirty="0" err="1">
                <a:latin typeface="Arial" pitchFamily="34" charset="0"/>
                <a:ea typeface="ＭＳ Ｐゴシック" charset="0"/>
                <a:cs typeface="Arial" pitchFamily="34" charset="0"/>
              </a:rPr>
              <a:t>Ciphertext</a:t>
            </a:r>
            <a:r>
              <a:rPr lang="en-AU" sz="2400" dirty="0">
                <a:latin typeface="Arial" pitchFamily="34" charset="0"/>
                <a:ea typeface="ＭＳ Ｐゴシック" charset="0"/>
                <a:cs typeface="Arial" pitchFamily="34" charset="0"/>
              </a:rPr>
              <a:t>: WIRFRWAJUHYFTSDVFSFUUFYA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AU" dirty="0"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E1C1FE0-0800-A8AE-1C4D-9F11CB8E9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Monoalphabetic Cipher</a:t>
            </a:r>
            <a:endParaRPr lang="en-AU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54923E7-23BB-110B-45ED-E675D796F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only have 26 possible ciphers </a:t>
            </a:r>
          </a:p>
          <a:p>
            <a:pPr lvl="1"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A maps to A,B,..Z 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could simply try each in turn 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AU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 force search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given ciphertext, just try all shifts of letters </a:t>
            </a: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 to 25 in the previous case)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do need to recognize when have plaintext</a:t>
            </a:r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35EE65F-9770-7235-963F-0869FC543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 Cryptanalysis</a:t>
            </a:r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996BB70-E2F0-03D0-F3FA-3735095BA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6962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given ciphertext: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UZQSOVUOHXMOPVGPOZPEVSGZWSZOPFPESXUDBMETSXAIZ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VUEPHZHMDZSHZOWSFPAPPDTSVPQUZWYMXUZUHSX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EPYEPOPDZSZUFPOMBZWPFUPZHMDJUDTMOHMQ</a:t>
            </a:r>
            <a:endParaRPr lang="en-US" altLang="en-US" sz="2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count relative letter frequencies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guess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&amp; Z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guess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ZW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and hence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ZWP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proceeding with trial and error finally get: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was disclosed yesterday that several informal but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contacts have been made with political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representatives of the viet cong in moscow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A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B10D4BE0-C384-6C5C-639F-1DEA4E95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2200"/>
            <a:ext cx="9144000" cy="9906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24072</TotalTime>
  <Words>2692</Words>
  <Application>Microsoft Office PowerPoint</Application>
  <PresentationFormat>On-screen Show (4:3)</PresentationFormat>
  <Paragraphs>446</Paragraphs>
  <Slides>51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NewsPrint</vt:lpstr>
      <vt:lpstr>Basic Number Theory</vt:lpstr>
      <vt:lpstr>Importance of Number Theory</vt:lpstr>
      <vt:lpstr>Divisors</vt:lpstr>
      <vt:lpstr>Divisors Examples</vt:lpstr>
      <vt:lpstr>Divisors Examples</vt:lpstr>
      <vt:lpstr>Divisors Examples</vt:lpstr>
      <vt:lpstr>Divisors Examples</vt:lpstr>
      <vt:lpstr>Divisors Examples</vt:lpstr>
      <vt:lpstr>Divisors Examples</vt:lpstr>
      <vt:lpstr>Multiples up to given n</vt:lpstr>
      <vt:lpstr>Multiples up to given n</vt:lpstr>
      <vt:lpstr>Divisor Theorem</vt:lpstr>
      <vt:lpstr>Divisor Theorem</vt:lpstr>
      <vt:lpstr>Divisor Theorem</vt:lpstr>
      <vt:lpstr>Divisor Theorem</vt:lpstr>
      <vt:lpstr>Divisor Theorem</vt:lpstr>
      <vt:lpstr>Prime Numbers</vt:lpstr>
      <vt:lpstr>Prime Numbers</vt:lpstr>
      <vt:lpstr>Fundamental Theorem of Arithmetic </vt:lpstr>
      <vt:lpstr>Fundamental Theorem of Arithmetic </vt:lpstr>
      <vt:lpstr>Primality Testing</vt:lpstr>
      <vt:lpstr>Primality Testing</vt:lpstr>
      <vt:lpstr>Primality Testing</vt:lpstr>
      <vt:lpstr>Primality Testing</vt:lpstr>
      <vt:lpstr>Primality Testing</vt:lpstr>
      <vt:lpstr>Primality Testing</vt:lpstr>
      <vt:lpstr>Division</vt:lpstr>
      <vt:lpstr>Division</vt:lpstr>
      <vt:lpstr>GCD and Relatively Prime</vt:lpstr>
      <vt:lpstr>GCD and Relatively Prime</vt:lpstr>
      <vt:lpstr>GCD and Relatively Prime</vt:lpstr>
      <vt:lpstr>Least Common Multiple</vt:lpstr>
      <vt:lpstr>Least Common Multiple</vt:lpstr>
      <vt:lpstr>Modular Arithmetic</vt:lpstr>
      <vt:lpstr>mod function</vt:lpstr>
      <vt:lpstr>mod function</vt:lpstr>
      <vt:lpstr>mod function</vt:lpstr>
      <vt:lpstr>mod function</vt:lpstr>
      <vt:lpstr>mod function</vt:lpstr>
      <vt:lpstr>(mod) congruence Formal Definition</vt:lpstr>
      <vt:lpstr>(mod) congruence</vt:lpstr>
      <vt:lpstr>Modular arithmetic harder examples</vt:lpstr>
      <vt:lpstr>Modular arithmetic harder examples</vt:lpstr>
      <vt:lpstr>Modular arithmetic harder examples</vt:lpstr>
      <vt:lpstr>Simple Encryption</vt:lpstr>
      <vt:lpstr>Caesar Cipher</vt:lpstr>
      <vt:lpstr>Caesar Cipher</vt:lpstr>
      <vt:lpstr>Monoalphabetic Cipher</vt:lpstr>
      <vt:lpstr>Monoalphabetic Cipher</vt:lpstr>
      <vt:lpstr>Example Cryptanalysis</vt:lpstr>
      <vt:lpstr>Thank You</vt:lpstr>
    </vt:vector>
  </TitlesOfParts>
  <Company>RS Pressman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Sagor Ahmed Saron</cp:lastModifiedBy>
  <cp:revision>505</cp:revision>
  <dcterms:created xsi:type="dcterms:W3CDTF">2011-04-14T19:19:04Z</dcterms:created>
  <dcterms:modified xsi:type="dcterms:W3CDTF">2023-11-19T17:31:11Z</dcterms:modified>
</cp:coreProperties>
</file>