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5143500" type="screen16x9"/>
  <p:notesSz cx="7315200" cy="9601200"/>
  <p:embeddedFontLst>
    <p:embeddedFont>
      <p:font typeface="Roboto Slab" pitchFamily="2" charset="0"/>
      <p:regular r:id="rId48"/>
      <p:bold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73E1DD-A226-4068-B005-F43E291ECDF0}">
  <a:tblStyle styleId="{C573E1DD-A226-4068-B005-F43E291ECD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notesMaster" Target="notesMasters/notesMaster1.xml" /><Relationship Id="rId50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font" Target="fonts/font2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font" Target="fonts/font1.fntdata" /><Relationship Id="rId8" Type="http://schemas.openxmlformats.org/officeDocument/2006/relationships/slide" Target="slides/slide7.xml" /><Relationship Id="rId51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 /><Relationship Id="rId1" Type="http://schemas.openxmlformats.org/officeDocument/2006/relationships/notesMaster" Target="../notesMasters/notesMaster1.xml" 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1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1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2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2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2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3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3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7" name="Google Shape;297;p3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3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3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3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3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3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3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4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4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4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4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:notes"/>
          <p:cNvSpPr txBox="1"/>
          <p:nvPr/>
        </p:nvSpPr>
        <p:spPr>
          <a:xfrm>
            <a:off x="4144962" y="9121775"/>
            <a:ext cx="31701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4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8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994172"/>
            <a:ext cx="9144000" cy="34500"/>
          </a:xfrm>
          <a:prstGeom prst="rect">
            <a:avLst/>
          </a:prstGeom>
          <a:solidFill>
            <a:srgbClr val="018952"/>
          </a:solidFill>
          <a:ln w="22225" cap="flat" cmpd="sng">
            <a:solidFill>
              <a:srgbClr val="0189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610600" y="4800600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38200" y="1028700"/>
            <a:ext cx="75438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0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8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0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1.xml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1.xml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1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1.xml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1.xml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3.pn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1.xml" 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1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1.xml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7.png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1.xml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1.xml" 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 /><Relationship Id="rId2" Type="http://schemas.openxmlformats.org/officeDocument/2006/relationships/notesSlide" Target="../notesSlides/notesSlide43.xml" /><Relationship Id="rId1" Type="http://schemas.openxmlformats.org/officeDocument/2006/relationships/slideLayout" Target="../slideLayouts/slideLayout1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 /><Relationship Id="rId1" Type="http://schemas.openxmlformats.org/officeDocument/2006/relationships/slideLayout" Target="../slideLayouts/slideLayout1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/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CSE 101: Discrete Mathematics</a:t>
            </a:r>
            <a:endParaRPr sz="4000" b="0" i="0" u="none" strike="noStrike" cap="none">
              <a:solidFill>
                <a:srgbClr val="26262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800" y="1157813"/>
            <a:ext cx="1828800" cy="223123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1730100" y="3134456"/>
            <a:ext cx="5683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rgbClr val="AD010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AD0101"/>
                </a:solidFill>
                <a:latin typeface="Roboto Slab"/>
                <a:ea typeface="Roboto Slab"/>
                <a:cs typeface="Roboto Slab"/>
                <a:sym typeface="Roboto Slab"/>
              </a:rPr>
              <a:t>Department of Computer Science and Engineering(CSE)</a:t>
            </a:r>
            <a:endParaRPr sz="1300" b="0" i="0" u="none" strike="noStrike" cap="none">
              <a:solidFill>
                <a:srgbClr val="AD0101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AD0101"/>
                </a:solidFill>
                <a:latin typeface="Roboto Slab"/>
                <a:ea typeface="Roboto Slab"/>
                <a:cs typeface="Roboto Slab"/>
                <a:sym typeface="Roboto Slab"/>
              </a:rPr>
              <a:t>Green University of Bangladesh(GUB)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5;p3"/>
          <p:cNvSpPr txBox="1"/>
          <p:nvPr/>
        </p:nvSpPr>
        <p:spPr>
          <a:xfrm flipH="1">
            <a:off x="5039925" y="1157825"/>
            <a:ext cx="3776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Slide 06 Graph Tree</a:t>
            </a:r>
            <a:endParaRPr sz="4800" b="1" i="0" u="none" strike="noStrike" cap="non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</a:t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457200" y="1200150"/>
            <a:ext cx="82296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Graphs and graph theory can be used to model: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Computer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Social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Communications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Information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Software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Transportation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Biological networks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381000" y="1314450"/>
            <a:ext cx="8001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 = (V, E)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a </a:t>
            </a:r>
            <a:r>
              <a:rPr lang="en-US" sz="2400" b="0" i="1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nonempty set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of vertices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nodes) and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E of edges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Each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either one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two vertices associated with it, called its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endpoints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An edge is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said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 its endpoints.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1450" y="3288400"/>
            <a:ext cx="2235994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sp>
        <p:nvSpPr>
          <p:cNvPr id="46" name="Google Shape;46;p6"/>
          <p:cNvSpPr txBox="1"/>
          <p:nvPr/>
        </p:nvSpPr>
        <p:spPr>
          <a:xfrm>
            <a:off x="381000" y="1085850"/>
            <a:ext cx="8001000" cy="3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 graph 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connects two different vertices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two edges connect the same pair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vertices.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Multigraphs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have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multiple edges connecting the same two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When 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different edges connect the vertices u and v, we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 that {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u,v} is an edge of multiplicity m. 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An edge that connects a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to itself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a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2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</a:t>
            </a:r>
            <a:r>
              <a:rPr lang="en-US" sz="22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pseudograph</a:t>
            </a:r>
            <a:r>
              <a:rPr lang="en-US" sz="2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may include loops, as well as multiple edges </a:t>
            </a: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connecting the same pair of vertices.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3775" y="1535225"/>
            <a:ext cx="800100" cy="470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4912" y="3248944"/>
            <a:ext cx="1248965" cy="754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55" name="Google Shape;55;p7"/>
          <p:cNvSpPr txBox="1"/>
          <p:nvPr/>
        </p:nvSpPr>
        <p:spPr>
          <a:xfrm>
            <a:off x="381000" y="1085850"/>
            <a:ext cx="80010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directed graph (or digraph)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 = (V, E)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nonempty set V of vertices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nodes) and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set E of directed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(or arcs). Each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associated with an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ordered pair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 vertices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directed edge associated with the ordered pair (u,v) is said 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start at u and end at v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Remark: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Graphs where the endpoints of an edge are not ordered are said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be undirected graphs.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2375" y="2507682"/>
            <a:ext cx="2701275" cy="14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381000" y="1085850"/>
            <a:ext cx="66348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simple directed graph has no loops and no multiple edges.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directed multigraph may have multiple directed edges.</a:t>
            </a:r>
            <a:r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there are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directed edges from the vertex u to the</a:t>
            </a:r>
            <a:r>
              <a:rPr lang="en-US" sz="2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v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we say that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(u,v) 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edge of multiplicity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multiplicity of (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a,b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?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and the multiplicity of (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b,c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?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0650" y="1325125"/>
            <a:ext cx="1728788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9875" y="3460650"/>
            <a:ext cx="18669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/>
        </p:nvSpPr>
        <p:spPr>
          <a:xfrm>
            <a:off x="3685550" y="3885375"/>
            <a:ext cx="46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4632713" y="4203450"/>
            <a:ext cx="466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381000" y="1085850"/>
            <a:ext cx="82296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directed graph G = (V, E) consists of V,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nonempty set of vertices (or nodes), and E, a set of directed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arcs. Each edge is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 ordered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vertices. The directed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(u,v) is said to start at u and end at 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(u,v) be an edge in G. Then u is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vertex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edge and is adjacent to v and v is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terminal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end)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this edge and is adjacent from u.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 and terminal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 of a loop are the same.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81" name="Google Shape;81;p10"/>
          <p:cNvSpPr txBox="1"/>
          <p:nvPr/>
        </p:nvSpPr>
        <p:spPr>
          <a:xfrm>
            <a:off x="222025" y="1085850"/>
            <a:ext cx="85626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1.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 u, v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undirected graph G are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(or neighbors) in G if there is an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u and v. Such an edge e is called 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incident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the vertices u and v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e is said to connect u and 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2.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of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 neighbors of a vertex v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G = (V, E),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by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N(v)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called the neighborhood of v. If A is a subset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V, we denote by N(A) the set of all vertices in G that are adjacent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at least one vertex in 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 3.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degree of a vertex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undirected graph is the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incident with it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except that a loop at a vertex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contributes two to the degree of that vertex. The degree of the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v is denoted by deg(v).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381000" y="1085850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are the degrees and neighborhoods of the vertices in the graphs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2550" y="2096050"/>
            <a:ext cx="2607469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/>
        </p:nvSpPr>
        <p:spPr>
          <a:xfrm>
            <a:off x="449800" y="1849750"/>
            <a:ext cx="8382000" cy="30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G: deg(a)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deg(b) = deg(c) = deg(f )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deg(d )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deg(g)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N(a) = {b, f }, N(b) = {a, c, e, f }, N(c) = {b, d, e, f },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N(d) = {c}, N(e) = {b, c , f }, N(f) = {a, b, c, e}, N(g) =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Ø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97" name="Google Shape;97;p12"/>
          <p:cNvSpPr txBox="1"/>
          <p:nvPr/>
        </p:nvSpPr>
        <p:spPr>
          <a:xfrm>
            <a:off x="381000" y="1085850"/>
            <a:ext cx="8229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What are the degrees and neighborhoods of the vertices in the graphs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81000" y="3044175"/>
            <a:ext cx="83820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H: deg(a) = 4, deg(b) = deg(e) = 6, deg(c) = 1, deg(d) = 5.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N(a) = {b, d, e}, N(b) = {a, b, c, d, e}, N(c) = {b},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N(d) = {a, b, e}, N(e) = {a, b ,d}.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1725" y="1569675"/>
            <a:ext cx="3131075" cy="17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381000" y="1085850"/>
            <a:ext cx="82296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 1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If G = (V,E) is an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undirected graph with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 edges, then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 contributes twice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the degree count of all vertices.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Hence, both the left-hand and right-hand sides of this equation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equal twice the number of edges.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6600" y="1714500"/>
            <a:ext cx="1447800" cy="51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81000" y="1085850"/>
            <a:ext cx="822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 2: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undirected graph has an even number of vertices of odd degree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 Let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the vertices of even degree and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 the vertices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odd degree in an undirected graph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(V, E) with m edges.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4450" y="3038400"/>
            <a:ext cx="3638548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3551800" y="3676200"/>
            <a:ext cx="1143000" cy="101580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be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since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deg(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v) 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∈ V</a:t>
            </a:r>
            <a:r>
              <a:rPr lang="en-US" sz="12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4953000" y="3543300"/>
            <a:ext cx="3124200" cy="138540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sum must be even because 2</a:t>
            </a:r>
            <a:r>
              <a:rPr lang="en-US" sz="12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even and the sum of the degrees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vertices of even degrees 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even. Because this is the sum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degrees of all vertices of odd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 in the graph, there must be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even number of such vertices.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057650"/>
            <a:ext cx="2607469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81000" y="1085850"/>
            <a:ext cx="85368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in-degree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v, denoted deg</a:t>
            </a:r>
            <a:r>
              <a:rPr lang="en-US" sz="20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(v), is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which terminate at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out-degree of v,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0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(v),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with v as their initial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Note that a loop at a vertex contributes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indegree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out-degree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vertex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graph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825" y="2871450"/>
            <a:ext cx="3657600" cy="21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905650" y="2888088"/>
            <a:ext cx="5105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(a)=2,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(b)=2,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(c)=3,       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3905650" y="3929750"/>
            <a:ext cx="483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381000" y="1085850"/>
            <a:ext cx="82296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in-degree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v, denoted deg</a:t>
            </a:r>
            <a:r>
              <a:rPr lang="en-US" sz="20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(v), is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which terminate at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out-degree of v,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denoted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0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(v),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edges with v as their initial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Note that a loop at a vertex contributes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indegree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out-degree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vertex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graph 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00" y="3157775"/>
            <a:ext cx="3027618" cy="19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839075" y="3299394"/>
            <a:ext cx="510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(a)=4,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(b)=1,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(c)=2,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766975" y="4026000"/>
            <a:ext cx="488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deg</a:t>
            </a:r>
            <a:r>
              <a:rPr lang="en-US" sz="24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(f)=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Directed graph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381000" y="1085850"/>
            <a:ext cx="8229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= (V, E) be a graph with directed edges. Then: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Proof: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sum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counts the number of outgoing edges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all vertices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second sum counts the number of incoming edges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vertices. It follows that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both sums equal the number of edges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7200" y="1733550"/>
            <a:ext cx="27622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24175" y="1809875"/>
            <a:ext cx="17430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graph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complete graph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n vertices, denoted by K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the simple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graph that contains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exactly one edge between each pair of distinct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vertices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2400300"/>
            <a:ext cx="6361509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Cycle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381000" y="1085850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n ≥ 3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 of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vertices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,⋯ 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}, {v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,⋯ , {v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}, {v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00300"/>
            <a:ext cx="5606653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N-dimensional hypercube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381000" y="1085850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n-dimensional hypercube, or n-cube,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lang="en-US" sz="20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a graph with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 baseline="30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representing all bit strings of length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where there is 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between two vertices that differ in exactly one bit position.</a:t>
            </a:r>
            <a:endParaRPr sz="20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0375" y="2298125"/>
            <a:ext cx="5197450" cy="20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Representation: Adjacency List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304800" y="1085850"/>
            <a:ext cx="82296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to represent a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with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multiple edges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specifying the vertices that are adjacent to each vertex of the graph.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800" y="2655750"/>
            <a:ext cx="2779900" cy="2333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" name="Google Shape;186;p21"/>
          <p:cNvGraphicFramePr/>
          <p:nvPr/>
        </p:nvGraphicFramePr>
        <p:xfrm>
          <a:off x="3778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{C573E1DD-A226-4068-B005-F43E291ECDF0}</a:tableStyleId>
              </a:tblPr>
              <a:tblGrid>
                <a:gridCol w="11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7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adjacency list for a simple graph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vertex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Adjacent vertex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d, 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c, 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c, d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Representation: Adjacency List</a:t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304800" y="1085850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used to represent a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graph with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multiple edges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specifying the vertices that are adjacent to each vertex of the graph.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p22"/>
          <p:cNvGraphicFramePr/>
          <p:nvPr/>
        </p:nvGraphicFramePr>
        <p:xfrm>
          <a:off x="3956075" y="246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{C573E1DD-A226-4068-B005-F43E291ECDF0}</a:tableStyleId>
              </a:tblPr>
              <a:tblGrid>
                <a:gridCol w="110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adjacency list for a directed graph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vertex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Adjacent vertex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d, 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d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a, c, 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b, c, d</a:t>
                      </a:r>
                      <a:endParaRPr sz="1100" u="none" strike="noStrike" cap="none"/>
                    </a:p>
                  </a:txBody>
                  <a:tcPr marL="91450" marR="91450" marT="34300" marB="34300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E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95" name="Google Shape;19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6225" y="2407300"/>
            <a:ext cx="3425150" cy="25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304800" y="1085850"/>
            <a:ext cx="8531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Suppose that G = (V, E) is a simple graph where |V| = n. Arbitrarily list the vertices of G as v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 , v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adjacency matrix A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G, with respect to the listing of vertices, is the n × n zero-one matrix with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(i, j)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entry when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100" b="0" i="0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1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adjacent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</a:t>
            </a: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(i, j)</a:t>
            </a: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 entry when they are not adjacent.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1250" y="2948600"/>
            <a:ext cx="2443578" cy="20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1325" y="2571750"/>
            <a:ext cx="2375651" cy="240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3048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matrices can also be used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 represent graphs with loops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multiple edges.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adjacency matrix of the pseudograph shown here using the ordering of vertices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c, 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7343" y="2409450"/>
            <a:ext cx="2512975" cy="25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50" y="2409450"/>
            <a:ext cx="3341025" cy="25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304800" y="1085850"/>
            <a:ext cx="861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is a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connected undirected graph with no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simple circuits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23283"/>
          <a:stretch/>
        </p:blipFill>
        <p:spPr>
          <a:xfrm>
            <a:off x="1919800" y="1599950"/>
            <a:ext cx="6596000" cy="263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2405250" y="4370125"/>
            <a:ext cx="806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endParaRPr sz="2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3907600" y="4370125"/>
            <a:ext cx="806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</a:t>
            </a:r>
            <a:endParaRPr sz="2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184875" y="4370125"/>
            <a:ext cx="1461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Tree</a:t>
            </a:r>
            <a:endParaRPr sz="2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6682875" y="4370125"/>
            <a:ext cx="1461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Tree</a:t>
            </a:r>
            <a:endParaRPr sz="25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forest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graph that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 no simple circuit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but is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connected components in a forest is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tree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6150" y="1826325"/>
            <a:ext cx="7588029" cy="33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Theorem: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undirected graph is a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tree if and only if there is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unique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simple path between any two of its vertices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5925" y="1834975"/>
            <a:ext cx="5779921" cy="33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304800" y="1085850"/>
            <a:ext cx="86106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rooted tree is a tree in which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vertex has been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designated as 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root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every edge is directed away from the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unrooted tree can be converted into different rooted trees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one of the vertices is chosen as the root.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475" y="2717550"/>
            <a:ext cx="6980666" cy="24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is a vertex of a rooted tree other than the root, the parent of v 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unique vertex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such that there is a directed edge from u to v.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 is a parent of v, v is called a child of u. Vertices with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parent are called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siblings.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375" y="2409450"/>
            <a:ext cx="3103731" cy="273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9"/>
          <p:cNvSpPr txBox="1"/>
          <p:nvPr/>
        </p:nvSpPr>
        <p:spPr>
          <a:xfrm>
            <a:off x="4343400" y="2800350"/>
            <a:ext cx="2667000" cy="1200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 of g: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Children of g: h,i,j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Sibling: b, f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222025" y="1085850"/>
            <a:ext cx="8792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ancestors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vertex are the vertices on the path from the root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this vertex, excluding the vertex itself and including the root.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descendants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a vertex v are those vertices that have v as an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ancestor.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0"/>
          <p:cNvSpPr txBox="1"/>
          <p:nvPr/>
        </p:nvSpPr>
        <p:spPr>
          <a:xfrm>
            <a:off x="4191000" y="2800350"/>
            <a:ext cx="2667000" cy="831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Ancestor j: g, a  descendant  j: l, 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175" y="2134700"/>
            <a:ext cx="3501587" cy="30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74" name="Google Shape;274;p31"/>
          <p:cNvSpPr txBox="1"/>
          <p:nvPr/>
        </p:nvSpPr>
        <p:spPr>
          <a:xfrm>
            <a:off x="304800" y="1085850"/>
            <a:ext cx="861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vertex of a rooted tree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no children is called a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leaf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Vertices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have children are called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vertices.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4191000" y="2800350"/>
            <a:ext cx="4953000" cy="1200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Leafs: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d, e, k, l, m, f, 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 of internal nodes: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b, g, h, c, j,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600" y="1826725"/>
            <a:ext cx="3703407" cy="33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83" name="Google Shape;283;p32"/>
          <p:cNvSpPr txBox="1"/>
          <p:nvPr/>
        </p:nvSpPr>
        <p:spPr>
          <a:xfrm>
            <a:off x="5972350" y="1094900"/>
            <a:ext cx="2671800" cy="3509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 is B.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 of D: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Children of D: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Siblings of D: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Ancestor D: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Descendant  D: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nodes: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75" y="1094900"/>
            <a:ext cx="5820000" cy="40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Rooted Tree Terminology</a:t>
            </a:r>
            <a:endParaRPr/>
          </a:p>
        </p:txBody>
      </p:sp>
      <p:sp>
        <p:nvSpPr>
          <p:cNvPr id="291" name="Google Shape;291;p33"/>
          <p:cNvSpPr txBox="1"/>
          <p:nvPr/>
        </p:nvSpPr>
        <p:spPr>
          <a:xfrm>
            <a:off x="304800" y="1085850"/>
            <a:ext cx="8610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vertex in a tree,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subtree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its root is the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the tree consisting of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and its descendants and all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edges incident to these descendants.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2057400"/>
            <a:ext cx="2680096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/>
          <p:nvPr/>
        </p:nvSpPr>
        <p:spPr>
          <a:xfrm>
            <a:off x="4343400" y="2743200"/>
            <a:ext cx="1905000" cy="1714500"/>
          </a:xfrm>
          <a:prstGeom prst="rect">
            <a:avLst/>
          </a:prstGeom>
          <a:noFill/>
          <a:ln w="222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Binary Tree</a:t>
            </a:r>
            <a:endParaRPr/>
          </a:p>
        </p:txBody>
      </p:sp>
      <p:sp>
        <p:nvSpPr>
          <p:cNvPr id="300" name="Google Shape;300;p34"/>
          <p:cNvSpPr txBox="1"/>
          <p:nvPr/>
        </p:nvSpPr>
        <p:spPr>
          <a:xfrm>
            <a:off x="304800" y="1085850"/>
            <a:ext cx="8610600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binary tree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ordered rooted where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each internal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has at most two children.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an internal vertex of a binary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has two children, the first is called 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child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second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right child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tree rooted at the left child of a vertex is called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left subtree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vertex, and the tree rooted at the right child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 vertex is called the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right subtree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this vertex.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7413" y="2717550"/>
            <a:ext cx="5845375" cy="23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1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M-ary Tree</a:t>
            </a:r>
            <a:endParaRPr/>
          </a:p>
        </p:txBody>
      </p:sp>
      <p:sp>
        <p:nvSpPr>
          <p:cNvPr id="308" name="Google Shape;308;p35"/>
          <p:cNvSpPr txBox="1"/>
          <p:nvPr/>
        </p:nvSpPr>
        <p:spPr>
          <a:xfrm>
            <a:off x="304800" y="1085850"/>
            <a:ext cx="8610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rooted tree is called an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m-ary tree if every internal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has no more than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children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tree is called a full m-ary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 if every internal vertex has exactly m children.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 m-ary tree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 = 2 is called a binary tree.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425" y="2452500"/>
            <a:ext cx="8352124" cy="22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16" name="Google Shape;316;p36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 A simple graph 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is bipartite if V can be partitioned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 </a:t>
            </a: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disjoint subsets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every edge connects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vertex in 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and a vertex in V</a:t>
            </a:r>
            <a:r>
              <a:rPr lang="en-US" sz="20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In other words, there are no edges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connect two vertices in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in V</a:t>
            </a:r>
            <a:r>
              <a:rPr lang="en-US" sz="20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6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5313" y="2528150"/>
            <a:ext cx="4093375" cy="2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25" name="Google Shape;325;p37"/>
          <p:cNvSpPr txBox="1"/>
          <p:nvPr/>
        </p:nvSpPr>
        <p:spPr>
          <a:xfrm>
            <a:off x="381000" y="1085850"/>
            <a:ext cx="822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 = {A, C}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V2 = {B,D}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3581400" y="3257550"/>
            <a:ext cx="365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1471" y="2571750"/>
            <a:ext cx="4748655" cy="24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34" name="Google Shape;334;p38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bipartite.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325" y="1820410"/>
            <a:ext cx="2212621" cy="167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8"/>
          <p:cNvSpPr txBox="1"/>
          <p:nvPr/>
        </p:nvSpPr>
        <p:spPr>
          <a:xfrm>
            <a:off x="371475" y="3804050"/>
            <a:ext cx="78486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can partition the vertex set into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{v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every edge of C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connects a vertex in 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5375" y="1840588"/>
            <a:ext cx="3340850" cy="16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Bipartite Graph </a:t>
            </a:r>
            <a:endParaRPr/>
          </a:p>
        </p:txBody>
      </p:sp>
      <p:sp>
        <p:nvSpPr>
          <p:cNvPr id="344" name="Google Shape;344;p39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that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not bipartite.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360775" y="2971800"/>
            <a:ext cx="7848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we divide the vertex set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into two nonempty sets,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 of the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two must contain two vertices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But in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every vertex is connected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every other vertex. Therefore, the two vertices in the same partition are connected. Hence,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is not bipartite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55925" y="1685925"/>
            <a:ext cx="2032152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Bipartite Graph </a:t>
            </a:r>
            <a:endParaRPr/>
          </a:p>
        </p:txBody>
      </p:sp>
      <p:sp>
        <p:nvSpPr>
          <p:cNvPr id="353" name="Google Shape;353;p40"/>
          <p:cNvSpPr txBox="1"/>
          <p:nvPr/>
        </p:nvSpPr>
        <p:spPr>
          <a:xfrm>
            <a:off x="304800" y="1085850"/>
            <a:ext cx="82296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bipartite graph K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m,n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graph that has its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set partitioned into two subsets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size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size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such that there is an edge from every vertex in 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every vertex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Complete Bipartite Graph </a:t>
            </a:r>
            <a:endParaRPr/>
          </a:p>
        </p:txBody>
      </p:sp>
      <p:sp>
        <p:nvSpPr>
          <p:cNvPr id="360" name="Google Shape;360;p41"/>
          <p:cNvSpPr txBox="1"/>
          <p:nvPr/>
        </p:nvSpPr>
        <p:spPr>
          <a:xfrm>
            <a:off x="304800" y="108585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 display four complete bipartite graphs here.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41"/>
          <p:cNvPicPr preferRelativeResize="0"/>
          <p:nvPr/>
        </p:nvPicPr>
        <p:blipFill rotWithShape="1">
          <a:blip r:embed="rId3">
            <a:alphaModFix/>
          </a:blip>
          <a:srcRect b="9697"/>
          <a:stretch/>
        </p:blipFill>
        <p:spPr>
          <a:xfrm>
            <a:off x="1094250" y="1635675"/>
            <a:ext cx="6650701" cy="32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endParaRPr/>
          </a:p>
        </p:txBody>
      </p:sp>
      <p:sp>
        <p:nvSpPr>
          <p:cNvPr id="368" name="Google Shape;368;p42"/>
          <p:cNvSpPr txBox="1"/>
          <p:nvPr/>
        </p:nvSpPr>
        <p:spPr>
          <a:xfrm>
            <a:off x="304800" y="1085850"/>
            <a:ext cx="85035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 of a graph G = (V,E) is a graph (W,F),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 ⊂ V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 ⊂ E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A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subgraph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 of G is a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proper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subgraph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 if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 ≠ G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000" y="3310425"/>
            <a:ext cx="3618309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2"/>
          <p:cNvSpPr txBox="1"/>
          <p:nvPr/>
        </p:nvSpPr>
        <p:spPr>
          <a:xfrm>
            <a:off x="375050" y="2298275"/>
            <a:ext cx="473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one of its subgraphs.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4407600" y="2298275"/>
            <a:ext cx="4736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subgraph induced by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 = {a,b,c,e}.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2" name="Google Shape;372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475" y="3281850"/>
            <a:ext cx="3626644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Union of Graph</a:t>
            </a:r>
            <a:endParaRPr/>
          </a:p>
        </p:txBody>
      </p:sp>
      <p:sp>
        <p:nvSpPr>
          <p:cNvPr id="379" name="Google Shape;379;p43"/>
          <p:cNvSpPr txBox="1"/>
          <p:nvPr/>
        </p:nvSpPr>
        <p:spPr>
          <a:xfrm>
            <a:off x="304800" y="1085850"/>
            <a:ext cx="82296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union of two simple graphs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is the simple graph with vertex set 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V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edge set E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E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 union of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denoted by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⋃ G</a:t>
            </a:r>
            <a:r>
              <a:rPr lang="en-US" sz="24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000" y="3394650"/>
            <a:ext cx="5657849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387" name="Google Shape;387;p44"/>
          <p:cNvSpPr txBox="1"/>
          <p:nvPr/>
        </p:nvSpPr>
        <p:spPr>
          <a:xfrm>
            <a:off x="139300" y="1085850"/>
            <a:ext cx="8754900" cy="20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Definition: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simple graphs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(V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G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(V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are isomorphic if there is a </a:t>
            </a:r>
            <a:r>
              <a:rPr lang="en-US" sz="18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one-to-one and onto function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from V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property </a:t>
            </a:r>
            <a:r>
              <a:rPr lang="en-US" sz="18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that a and b are adjacent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and only if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f(a) and f(b) are adjacent in G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, for all a and b in V</a:t>
            </a:r>
            <a:r>
              <a:rPr lang="en-US" sz="18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Such a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is called an isomorphism. Two simple graphs that are not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isomorphic are called </a:t>
            </a:r>
            <a:r>
              <a:rPr lang="en-US" sz="18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isomorphic.</a:t>
            </a:r>
            <a:endParaRPr sz="2000" b="0" i="1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one-to-one correspondence between vertices of the two graphs that preserves the adjacency relationship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292078"/>
            <a:ext cx="1223962" cy="167997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4"/>
          <p:cNvSpPr txBox="1"/>
          <p:nvPr/>
        </p:nvSpPr>
        <p:spPr>
          <a:xfrm>
            <a:off x="1906175" y="3204000"/>
            <a:ext cx="45720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the two graph isomorphic?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v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v</a:t>
            </a:r>
            <a:r>
              <a:rPr lang="en-US" sz="2400" b="0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4"/>
          <p:cNvSpPr txBox="1"/>
          <p:nvPr/>
        </p:nvSpPr>
        <p:spPr>
          <a:xfrm>
            <a:off x="3870725" y="4250525"/>
            <a:ext cx="4926900" cy="831000"/>
          </a:xfrm>
          <a:prstGeom prst="rect">
            <a:avLst/>
          </a:prstGeom>
          <a:solidFill>
            <a:srgbClr val="01EA8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endParaRPr sz="16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 (u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6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v</a:t>
            </a:r>
            <a:r>
              <a:rPr lang="en-US" sz="16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Graph Isomorphism</a:t>
            </a:r>
            <a:endParaRPr/>
          </a:p>
        </p:txBody>
      </p:sp>
      <p:sp>
        <p:nvSpPr>
          <p:cNvPr id="397" name="Google Shape;397;p45"/>
          <p:cNvSpPr txBox="1"/>
          <p:nvPr/>
        </p:nvSpPr>
        <p:spPr>
          <a:xfrm>
            <a:off x="304800" y="1085850"/>
            <a:ext cx="8229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graphs G1 and G2 are said to be isomorphic if −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Their number of components (vertices and edges) are same.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 sequences of G1 and G2 are same.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8" name="Google Shape;3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971800"/>
            <a:ext cx="1428750" cy="1960959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5"/>
          <p:cNvSpPr txBox="1"/>
          <p:nvPr/>
        </p:nvSpPr>
        <p:spPr>
          <a:xfrm>
            <a:off x="2591975" y="2444700"/>
            <a:ext cx="4572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 the two graph isomorphic?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5"/>
          <p:cNvSpPr txBox="1"/>
          <p:nvPr/>
        </p:nvSpPr>
        <p:spPr>
          <a:xfrm>
            <a:off x="2643200" y="3220650"/>
            <a:ext cx="5179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G1 and G2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Nodes = 4, Edges = 4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 sequences = 2,2,2,2.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Book References</a:t>
            </a:r>
            <a:endParaRPr/>
          </a:p>
        </p:txBody>
      </p:sp>
      <p:sp>
        <p:nvSpPr>
          <p:cNvPr id="407" name="Google Shape;407;p46"/>
          <p:cNvSpPr txBox="1"/>
          <p:nvPr/>
        </p:nvSpPr>
        <p:spPr>
          <a:xfrm>
            <a:off x="1217575" y="1112544"/>
            <a:ext cx="5832900" cy="3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➔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Chapter 10.1(Page 641)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◆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(1-10) (Page-649)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➔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10.2(Page 651)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◆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(1-58) (Page-665)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➔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10.3(Page 668)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◆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(1-18) (Page-675)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➔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11.1(Page 745)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Arial"/>
              <a:buChar char="◆"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(1-33) (Page-755)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>
            <a:spLocks noGrp="1"/>
          </p:cNvSpPr>
          <p:nvPr>
            <p:ph type="title"/>
          </p:nvPr>
        </p:nvSpPr>
        <p:spPr>
          <a:xfrm>
            <a:off x="0" y="1771650"/>
            <a:ext cx="91440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0" i="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wsPrint">
  <a:themeElements>
    <a:clrScheme name="NewsPrint">
      <a:dk1>
        <a:srgbClr val="000000"/>
      </a:dk1>
      <a:lt1>
        <a:srgbClr val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45</Slides>
  <Notes>45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1_NewsPrint</vt:lpstr>
      <vt:lpstr>PowerPoint Presentation</vt:lpstr>
      <vt:lpstr>Graph</vt:lpstr>
      <vt:lpstr>Graph </vt:lpstr>
      <vt:lpstr>Terminology</vt:lpstr>
      <vt:lpstr>Directed graph</vt:lpstr>
      <vt:lpstr>Directed graph</vt:lpstr>
      <vt:lpstr>Directed graph</vt:lpstr>
      <vt:lpstr>Undirected graph</vt:lpstr>
      <vt:lpstr>Undirected graph</vt:lpstr>
      <vt:lpstr>Undirected graph</vt:lpstr>
      <vt:lpstr>Undirected graph</vt:lpstr>
      <vt:lpstr>Undirected graph</vt:lpstr>
      <vt:lpstr>Directed graph</vt:lpstr>
      <vt:lpstr>Directed graph</vt:lpstr>
      <vt:lpstr>Directed graph</vt:lpstr>
      <vt:lpstr>Complete graph</vt:lpstr>
      <vt:lpstr>A Cycle</vt:lpstr>
      <vt:lpstr>N-dimensional hypercube</vt:lpstr>
      <vt:lpstr>Representation: Adjacency List</vt:lpstr>
      <vt:lpstr>Representation: Adjacency List</vt:lpstr>
      <vt:lpstr>Adjacency Matrix</vt:lpstr>
      <vt:lpstr>Adjacency Matrix</vt:lpstr>
      <vt:lpstr>Tree</vt:lpstr>
      <vt:lpstr>Tree</vt:lpstr>
      <vt:lpstr>Tree</vt:lpstr>
      <vt:lpstr>Rooted Tree</vt:lpstr>
      <vt:lpstr>Rooted Tree Terminology</vt:lpstr>
      <vt:lpstr>Rooted Tree Terminology</vt:lpstr>
      <vt:lpstr>Rooted Tree Terminology</vt:lpstr>
      <vt:lpstr>Rooted Tree Terminology</vt:lpstr>
      <vt:lpstr>Rooted Tree Terminology</vt:lpstr>
      <vt:lpstr>Binary Tree</vt:lpstr>
      <vt:lpstr>M-ary Tree</vt:lpstr>
      <vt:lpstr>Bipartite Graph </vt:lpstr>
      <vt:lpstr>Bipartite Graph </vt:lpstr>
      <vt:lpstr>Bipartite Graph </vt:lpstr>
      <vt:lpstr>Bipartite Graph </vt:lpstr>
      <vt:lpstr>Complete Bipartite Graph </vt:lpstr>
      <vt:lpstr>Complete Bipartite Graph </vt:lpstr>
      <vt:lpstr>Subgraph</vt:lpstr>
      <vt:lpstr>Union of Graph</vt:lpstr>
      <vt:lpstr>Graph Isomorphism</vt:lpstr>
      <vt:lpstr>Graph Isomorphism</vt:lpstr>
      <vt:lpstr>Book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Sagor Ahmed Saron</cp:lastModifiedBy>
  <cp:revision>1</cp:revision>
  <dcterms:modified xsi:type="dcterms:W3CDTF">2024-02-12T16:39:48Z</dcterms:modified>
</cp:coreProperties>
</file>