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6" r:id="rId3"/>
    <p:sldId id="265" r:id="rId4"/>
    <p:sldId id="266" r:id="rId5"/>
    <p:sldId id="257" r:id="rId6"/>
    <p:sldId id="262" r:id="rId7"/>
    <p:sldId id="259" r:id="rId8"/>
    <p:sldId id="260" r:id="rId9"/>
    <p:sldId id="258" r:id="rId10"/>
    <p:sldId id="264" r:id="rId11"/>
    <p:sldId id="263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text and numbers">
            <a:extLst>
              <a:ext uri="{FF2B5EF4-FFF2-40B4-BE49-F238E27FC236}">
                <a16:creationId xmlns:a16="http://schemas.microsoft.com/office/drawing/2014/main" id="{2C4740C3-8771-2E61-B67B-CC4594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13" y="1096763"/>
            <a:ext cx="10922666" cy="466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2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F5EEAC-B813-53E4-8039-18F0EADC6786}"/>
              </a:ext>
            </a:extLst>
          </p:cNvPr>
          <p:cNvSpPr txBox="1"/>
          <p:nvPr/>
        </p:nvSpPr>
        <p:spPr>
          <a:xfrm>
            <a:off x="2436649" y="2653872"/>
            <a:ext cx="79765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latin typeface="Georgia Pro"/>
                <a:cs typeface="Calibri"/>
              </a:rPr>
              <a:t>Discrete Mathematics</a:t>
            </a:r>
            <a:endParaRPr lang="en-US" sz="5400" b="1">
              <a:solidFill>
                <a:srgbClr val="00B050"/>
              </a:solidFill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black screen with text&#10;&#10;Description automatically generated">
            <a:extLst>
              <a:ext uri="{FF2B5EF4-FFF2-40B4-BE49-F238E27FC236}">
                <a16:creationId xmlns:a16="http://schemas.microsoft.com/office/drawing/2014/main" id="{12B15310-E8BB-1570-AA6D-88BDA1FAD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58" y="237692"/>
            <a:ext cx="10363199" cy="59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screen with text&#10;&#10;Description automatically generated">
            <a:extLst>
              <a:ext uri="{FF2B5EF4-FFF2-40B4-BE49-F238E27FC236}">
                <a16:creationId xmlns:a16="http://schemas.microsoft.com/office/drawing/2014/main" id="{D0AB9486-797B-02A2-123B-9132EF952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71" y="576419"/>
            <a:ext cx="10283587" cy="544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54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a cartoon of a monkey smoking a pipe&#10;&#10;Description automatically generated">
            <a:extLst>
              <a:ext uri="{FF2B5EF4-FFF2-40B4-BE49-F238E27FC236}">
                <a16:creationId xmlns:a16="http://schemas.microsoft.com/office/drawing/2014/main" id="{E612024E-70AC-FE86-10E7-B3A8F30A0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38" y="1007949"/>
            <a:ext cx="5992483" cy="48370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DD6046-5975-D76B-C14B-7D601690162D}"/>
              </a:ext>
            </a:extLst>
          </p:cNvPr>
          <p:cNvSpPr txBox="1"/>
          <p:nvPr/>
        </p:nvSpPr>
        <p:spPr>
          <a:xfrm>
            <a:off x="2527110" y="610509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05AD6-A36A-42F9-97CA-22C267ABE9EB}"/>
              </a:ext>
            </a:extLst>
          </p:cNvPr>
          <p:cNvSpPr txBox="1"/>
          <p:nvPr/>
        </p:nvSpPr>
        <p:spPr>
          <a:xfrm>
            <a:off x="7370928" y="2025554"/>
            <a:ext cx="4403677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Discrete</a:t>
            </a:r>
            <a:endParaRPr lang="en-US" sz="4400" b="1">
              <a:solidFill>
                <a:srgbClr val="FF0000"/>
              </a:solidFill>
              <a:latin typeface="Georgia Pro"/>
            </a:endParaRPr>
          </a:p>
          <a:p>
            <a:pPr algn="ctr"/>
            <a:r>
              <a:rPr lang="en-US" sz="4400" b="1" dirty="0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 or </a:t>
            </a:r>
          </a:p>
          <a:p>
            <a:pPr algn="ctr"/>
            <a:r>
              <a:rPr lang="en-US" sz="4400" b="1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Continuous ???</a:t>
            </a:r>
            <a:endParaRPr lang="en-US" sz="4400" b="1" dirty="0">
              <a:solidFill>
                <a:srgbClr val="FF0000"/>
              </a:solidFill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099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white numbers&#10;&#10;Description automatically generated">
            <a:extLst>
              <a:ext uri="{FF2B5EF4-FFF2-40B4-BE49-F238E27FC236}">
                <a16:creationId xmlns:a16="http://schemas.microsoft.com/office/drawing/2014/main" id="{1C39549E-9CEC-A71B-E105-2E5F9165C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16" y="1135140"/>
            <a:ext cx="6527021" cy="4693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E9D036-F4C0-52CD-00D6-E807C293401F}"/>
              </a:ext>
            </a:extLst>
          </p:cNvPr>
          <p:cNvSpPr txBox="1"/>
          <p:nvPr/>
        </p:nvSpPr>
        <p:spPr>
          <a:xfrm>
            <a:off x="7370928" y="2025554"/>
            <a:ext cx="4403677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Discrete</a:t>
            </a:r>
            <a:endParaRPr lang="en-US" sz="4400" b="1">
              <a:solidFill>
                <a:srgbClr val="FF0000"/>
              </a:solidFill>
              <a:latin typeface="Georgia Pro"/>
            </a:endParaRPr>
          </a:p>
          <a:p>
            <a:pPr algn="ctr"/>
            <a:r>
              <a:rPr lang="en-US" sz="4400" b="1" dirty="0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 or </a:t>
            </a:r>
          </a:p>
          <a:p>
            <a:pPr algn="ctr"/>
            <a:r>
              <a:rPr lang="en-US" sz="4400" b="1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Continuous ???</a:t>
            </a:r>
            <a:endParaRPr lang="en-US" sz="4400" b="1" dirty="0">
              <a:solidFill>
                <a:srgbClr val="FF0000"/>
              </a:solidFill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047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1F7788-8C19-B91F-1652-1488133FBCDB}"/>
              </a:ext>
            </a:extLst>
          </p:cNvPr>
          <p:cNvSpPr txBox="1"/>
          <p:nvPr/>
        </p:nvSpPr>
        <p:spPr>
          <a:xfrm>
            <a:off x="948518" y="709683"/>
            <a:ext cx="10526972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374151"/>
                </a:solidFill>
                <a:latin typeface="Georgia Pro"/>
                <a:ea typeface="Calibri"/>
                <a:cs typeface="Calibri"/>
              </a:rPr>
              <a:t>Discrete Data</a:t>
            </a:r>
            <a:endParaRPr lang="en-US"/>
          </a:p>
          <a:p>
            <a:pPr marL="342900" indent="-342900">
              <a:buFont typeface="Wingdings"/>
              <a:buChar char="q"/>
            </a:pPr>
            <a:r>
              <a:rPr lang="en-US" sz="2400">
                <a:solidFill>
                  <a:srgbClr val="374151"/>
                </a:solidFill>
                <a:latin typeface="Georgia Pro"/>
                <a:ea typeface="Calibri"/>
                <a:cs typeface="Calibri"/>
              </a:rPr>
              <a:t>specific</a:t>
            </a:r>
            <a:r>
              <a:rPr lang="en-US" sz="240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, distinct </a:t>
            </a: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values,</a:t>
            </a:r>
            <a:endParaRPr lang="en-US" sz="2400">
              <a:latin typeface="Georgia Pro"/>
              <a:ea typeface="Calibri"/>
              <a:cs typeface="Calibri"/>
            </a:endParaRPr>
          </a:p>
          <a:p>
            <a:pPr marL="342900" indent="-342900">
              <a:buFont typeface="Wingdings"/>
              <a:buChar char="q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can be counted</a:t>
            </a:r>
          </a:p>
          <a:p>
            <a:pPr marL="342900" indent="-342900">
              <a:buFont typeface="Wingdings"/>
              <a:buChar char="q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the number of students in a classroom</a:t>
            </a:r>
          </a:p>
          <a:p>
            <a:pPr marL="342900" indent="-342900">
              <a:buFont typeface="Wingdings"/>
              <a:buChar char="q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the number of cars in a parking lot</a:t>
            </a:r>
            <a:endParaRPr lang="en-US" sz="2400" dirty="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q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 the results of rolling a die (1, 2, 3, 4, 5, or 6)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320A5-0649-0314-02D2-8F21809216C0}"/>
              </a:ext>
            </a:extLst>
          </p:cNvPr>
          <p:cNvSpPr txBox="1"/>
          <p:nvPr/>
        </p:nvSpPr>
        <p:spPr>
          <a:xfrm>
            <a:off x="942832" y="3966949"/>
            <a:ext cx="10533797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374151"/>
                </a:solidFill>
                <a:latin typeface="Georgia Pro"/>
                <a:cs typeface="Arial"/>
              </a:rPr>
              <a:t>Continuous Data</a:t>
            </a:r>
            <a:endParaRPr lang="en-US"/>
          </a:p>
          <a:p>
            <a:pPr marL="342900" indent="-342900">
              <a:buFont typeface="Wingdings,Sans-Serif"/>
              <a:buChar char="v"/>
            </a:pPr>
            <a:r>
              <a:rPr lang="en-US" sz="2400" dirty="0">
                <a:solidFill>
                  <a:srgbClr val="374151"/>
                </a:solidFill>
                <a:latin typeface="Arial"/>
                <a:cs typeface="Arial"/>
              </a:rPr>
              <a:t>can take on an infinite number of values within a given range</a:t>
            </a:r>
            <a:endParaRPr lang="en-US" dirty="0"/>
          </a:p>
          <a:p>
            <a:pPr marL="342900" indent="-342900">
              <a:buFont typeface="Wingdings,Sans-Serif"/>
              <a:buChar char="v"/>
            </a:pPr>
            <a:r>
              <a:rPr lang="en-US" sz="2400" dirty="0">
                <a:solidFill>
                  <a:srgbClr val="374151"/>
                </a:solidFill>
                <a:latin typeface="Arial"/>
                <a:cs typeface="Arial"/>
              </a:rPr>
              <a:t>can be further divided into smaller and smaller increments</a:t>
            </a:r>
          </a:p>
          <a:p>
            <a:pPr marL="342900" indent="-342900">
              <a:buFont typeface="Wingdings,Sans-Serif"/>
              <a:buChar char="v"/>
            </a:pPr>
            <a:r>
              <a:rPr lang="en-US" sz="2400" dirty="0">
                <a:solidFill>
                  <a:srgbClr val="374151"/>
                </a:solidFill>
                <a:latin typeface="Arial"/>
                <a:cs typeface="Arial"/>
              </a:rPr>
              <a:t>there are no gaps or discontinuities between values</a:t>
            </a:r>
          </a:p>
          <a:p>
            <a:pPr marL="342900" indent="-342900">
              <a:buFont typeface="Wingdings,Sans-Serif"/>
              <a:buChar char="v"/>
            </a:pPr>
            <a:r>
              <a:rPr lang="en-US" sz="2400" dirty="0">
                <a:solidFill>
                  <a:srgbClr val="374151"/>
                </a:solidFill>
                <a:latin typeface="Arial"/>
                <a:cs typeface="Arial"/>
              </a:rPr>
              <a:t>height, weight, temperature,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71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82EA6E-EB91-418D-CDE6-DCA3387056F5}"/>
              </a:ext>
            </a:extLst>
          </p:cNvPr>
          <p:cNvSpPr txBox="1"/>
          <p:nvPr/>
        </p:nvSpPr>
        <p:spPr>
          <a:xfrm>
            <a:off x="2759123" y="4932528"/>
            <a:ext cx="778149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Georgia Pro"/>
                <a:ea typeface="Calibri"/>
                <a:cs typeface="Calibri"/>
              </a:rPr>
              <a:t>How many Natural Numbers in between 1 and 4 ???</a:t>
            </a:r>
          </a:p>
          <a:p>
            <a:r>
              <a:rPr lang="en-US" sz="2000" dirty="0">
                <a:latin typeface="Georgia Pro"/>
                <a:ea typeface="Calibri"/>
                <a:cs typeface="Calibri"/>
              </a:rPr>
              <a:t>How many Natural Numbers in between 1 and 2 ???</a:t>
            </a:r>
          </a:p>
          <a:p>
            <a:r>
              <a:rPr lang="en-US" sz="2000" dirty="0">
                <a:latin typeface="Georgia Pro"/>
                <a:ea typeface="Calibri"/>
                <a:cs typeface="Calibri"/>
              </a:rPr>
              <a:t>How many Real Numbers in between 1 and 4 ???</a:t>
            </a:r>
          </a:p>
          <a:p>
            <a:endParaRPr lang="en-US" sz="2000" dirty="0">
              <a:latin typeface="Georgia Pro"/>
              <a:ea typeface="Calibri"/>
              <a:cs typeface="Calibri"/>
            </a:endParaRPr>
          </a:p>
          <a:p>
            <a:endParaRPr lang="en-US" sz="2000" dirty="0">
              <a:latin typeface="Georgia Pro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E7241-BA7A-C283-0F76-AEA10C1CA15F}"/>
              </a:ext>
            </a:extLst>
          </p:cNvPr>
          <p:cNvSpPr txBox="1"/>
          <p:nvPr/>
        </p:nvSpPr>
        <p:spPr>
          <a:xfrm>
            <a:off x="263857" y="574344"/>
            <a:ext cx="10272214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                   Natural Number</a:t>
            </a:r>
          </a:p>
          <a:p>
            <a:pPr marL="342900" indent="-342900">
              <a:buFont typeface="Wingdings"/>
              <a:buChar char="v"/>
            </a:pPr>
            <a:r>
              <a:rPr lang="en-US" sz="20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a set of positive counting numbers.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v"/>
            </a:pPr>
            <a:r>
              <a:rPr lang="en-US" sz="20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start from 1 and continue indefinitely: 1, 2, 3, 4, 5, ...</a:t>
            </a:r>
            <a:endParaRPr lang="en-US" sz="2000" dirty="0">
              <a:latin typeface="Georgia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8B7EB-48DF-B15B-5995-C04CFEBADBCC}"/>
              </a:ext>
            </a:extLst>
          </p:cNvPr>
          <p:cNvSpPr txBox="1"/>
          <p:nvPr/>
        </p:nvSpPr>
        <p:spPr>
          <a:xfrm>
            <a:off x="142164" y="2299647"/>
            <a:ext cx="1190994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Real Numbers</a:t>
            </a:r>
            <a:endParaRPr lang="en-US" sz="2800">
              <a:solidFill>
                <a:srgbClr val="374151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include natural numbers, whole numbers, integers, fractions, decimals, and all other numbers that can be represented.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both finite and infinite decimal expansions.</a:t>
            </a:r>
            <a:endParaRPr lang="en-US" sz="2000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921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id with blue dots and numbers&#10;&#10;Description automatically generated">
            <a:extLst>
              <a:ext uri="{FF2B5EF4-FFF2-40B4-BE49-F238E27FC236}">
                <a16:creationId xmlns:a16="http://schemas.microsoft.com/office/drawing/2014/main" id="{FD81A0C6-5947-2EC6-0773-75551C28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94" y="1019121"/>
            <a:ext cx="4571700" cy="4697873"/>
          </a:xfrm>
          <a:prstGeom prst="rect">
            <a:avLst/>
          </a:prstGeom>
        </p:spPr>
      </p:pic>
      <p:pic>
        <p:nvPicPr>
          <p:cNvPr id="6" name="Picture 5" descr="A graph on a graph paper&#10;&#10;Description automatically generated">
            <a:extLst>
              <a:ext uri="{FF2B5EF4-FFF2-40B4-BE49-F238E27FC236}">
                <a16:creationId xmlns:a16="http://schemas.microsoft.com/office/drawing/2014/main" id="{51159E76-8F01-9CCC-052B-4A6DD5FA3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210" y="1014799"/>
            <a:ext cx="4796373" cy="4689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37C889-608D-1AA4-918D-FA27AC76C44E}"/>
              </a:ext>
            </a:extLst>
          </p:cNvPr>
          <p:cNvSpPr txBox="1"/>
          <p:nvPr/>
        </p:nvSpPr>
        <p:spPr>
          <a:xfrm>
            <a:off x="1398667" y="5913260"/>
            <a:ext cx="386463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Georgia Pro"/>
                <a:cs typeface="Calibri"/>
              </a:rPr>
              <a:t>Discrete Graph</a:t>
            </a:r>
            <a:endParaRPr lang="en-US" sz="3200" b="1">
              <a:latin typeface="Georgia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9AE1A-99AB-A19B-2A41-F407EC42E936}"/>
              </a:ext>
            </a:extLst>
          </p:cNvPr>
          <p:cNvSpPr txBox="1"/>
          <p:nvPr/>
        </p:nvSpPr>
        <p:spPr>
          <a:xfrm>
            <a:off x="6706911" y="5963929"/>
            <a:ext cx="433908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Georgia Pro"/>
                <a:cs typeface="Calibri"/>
              </a:rPr>
              <a:t>Continuous 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17524-CDA4-9EE9-30B7-2F158F48ED3F}"/>
              </a:ext>
            </a:extLst>
          </p:cNvPr>
          <p:cNvSpPr txBox="1"/>
          <p:nvPr/>
        </p:nvSpPr>
        <p:spPr>
          <a:xfrm>
            <a:off x="1240810" y="300251"/>
            <a:ext cx="41762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Georgia Pro"/>
                <a:cs typeface="Calibri"/>
              </a:rPr>
              <a:t>For Natural Number : 1, 2, 3, 4, ...</a:t>
            </a:r>
            <a:endParaRPr lang="en-US" b="1">
              <a:solidFill>
                <a:srgbClr val="00B050"/>
              </a:solidFill>
              <a:latin typeface="Georgia Pr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EE2FA-97C0-FEDA-2A07-262163827909}"/>
              </a:ext>
            </a:extLst>
          </p:cNvPr>
          <p:cNvSpPr txBox="1"/>
          <p:nvPr/>
        </p:nvSpPr>
        <p:spPr>
          <a:xfrm>
            <a:off x="6235891" y="163773"/>
            <a:ext cx="57684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Georgia Pro"/>
                <a:ea typeface="Calibri"/>
                <a:cs typeface="Calibri"/>
              </a:rPr>
              <a:t>For Real Numbers: 0.001,0.0001, 0.00001 … , 1, …, 1.001, 1.0001</a:t>
            </a:r>
            <a:endParaRPr lang="en-US" b="1">
              <a:solidFill>
                <a:srgbClr val="00B050"/>
              </a:solidFill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286859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3FF56-F1FC-B860-CC0F-BA5FC66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424" y="376498"/>
            <a:ext cx="9150824" cy="13369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latin typeface="Georgia Pro"/>
                <a:ea typeface="Calibri Light"/>
                <a:cs typeface="Calibri Light"/>
              </a:rPr>
              <a:t>What is Discrete Mathemetics ?</a:t>
            </a:r>
            <a:endParaRPr lang="en-US" sz="4800" b="1">
              <a:latin typeface="Georgia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2C815-C8D1-BA2A-DF81-B924B43DF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514" y="2121326"/>
            <a:ext cx="10515600" cy="3202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ü"/>
            </a:pPr>
            <a:r>
              <a:rPr lang="en-US" dirty="0">
                <a:solidFill>
                  <a:srgbClr val="374151"/>
                </a:solidFill>
                <a:latin typeface="Georgia Pro"/>
                <a:cs typeface="Segoe UI"/>
              </a:rPr>
              <a:t>it deals with discrete, distinct, or separate objects and structures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ü"/>
            </a:pPr>
            <a:r>
              <a:rPr lang="en-US" dirty="0">
                <a:solidFill>
                  <a:srgbClr val="374151"/>
                </a:solidFill>
                <a:latin typeface="Georgia Pro"/>
                <a:cs typeface="Segoe UI"/>
              </a:rPr>
              <a:t>the concepts of discrete mathematics are not continuous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ü"/>
            </a:pPr>
            <a:r>
              <a:rPr lang="en-US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focuses on concepts like integers, sets, graphs, logic, and combinatorics</a:t>
            </a:r>
            <a:endParaRPr lang="en-US" dirty="0">
              <a:solidFill>
                <a:srgbClr val="374151"/>
              </a:solidFill>
              <a:latin typeface="Georgia Pro"/>
              <a:cs typeface="Segoe U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ü"/>
            </a:pPr>
            <a:r>
              <a:rPr lang="en-US" dirty="0">
                <a:solidFill>
                  <a:srgbClr val="374151"/>
                </a:solidFill>
                <a:latin typeface="Georgia Pro"/>
                <a:cs typeface="Segoe UI"/>
              </a:rPr>
              <a:t>continuous mathematics that deals with real numbers, calculus, and functions.</a:t>
            </a:r>
          </a:p>
          <a:p>
            <a:pPr marL="0" indent="0">
              <a:buNone/>
            </a:pPr>
            <a:endParaRPr lang="en-US" dirty="0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834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0610-FBB5-842C-C0C7-D21AF1EF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738" y="1183991"/>
            <a:ext cx="12016852" cy="4487294"/>
          </a:xfrm>
        </p:spPr>
        <p:txBody>
          <a:bodyPr>
            <a:noAutofit/>
          </a:bodyPr>
          <a:lstStyle/>
          <a:p>
            <a:r>
              <a:rPr lang="en-US" b="1" dirty="0">
                <a:latin typeface="Georgia Pro"/>
                <a:ea typeface="Calibri Light"/>
                <a:cs typeface="Calibri Light"/>
              </a:rPr>
              <a:t>Why we call it 'Discrete Mathematics' ? </a:t>
            </a:r>
            <a:endParaRPr lang="en-US" b="1" dirty="0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188522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D65DE0-A9B9-E3B3-74CF-48E45164172C}"/>
              </a:ext>
            </a:extLst>
          </p:cNvPr>
          <p:cNvSpPr txBox="1"/>
          <p:nvPr/>
        </p:nvSpPr>
        <p:spPr>
          <a:xfrm>
            <a:off x="313898" y="270680"/>
            <a:ext cx="11606283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200" dirty="0">
              <a:solidFill>
                <a:srgbClr val="374151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b="1" u="sng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few key reasons</a:t>
            </a: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:</a:t>
            </a:r>
            <a:endParaRPr lang="en-US" sz="2200" dirty="0">
              <a:latin typeface="Georgia Pro"/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b="1" dirty="0">
                <a:latin typeface="Georgia Pro"/>
                <a:ea typeface="+mn-lt"/>
                <a:cs typeface="+mn-lt"/>
              </a:rPr>
              <a:t>Countable Objects</a:t>
            </a: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: 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focuses on countable objects.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For example, we can count 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the elements in a set, 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the vertices in a graph, 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or the integers between two values.</a:t>
            </a:r>
            <a:endParaRPr lang="en-US" sz="2200" dirty="0">
              <a:latin typeface="Georgia Pro"/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b="1" dirty="0">
                <a:latin typeface="Georgia Pro"/>
                <a:ea typeface="+mn-lt"/>
                <a:cs typeface="+mn-lt"/>
              </a:rPr>
              <a:t>Distinctness</a:t>
            </a: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: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each element or object is distinct and separate from others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 For example, when dealing with sets, each element within the set is considered a distinct entity.</a:t>
            </a:r>
            <a:endParaRPr lang="en-US" sz="2200" dirty="0">
              <a:latin typeface="Georgia Pro"/>
              <a:ea typeface="Calibri"/>
              <a:cs typeface="Calibri"/>
            </a:endParaRPr>
          </a:p>
          <a:p>
            <a:pPr marL="342900" indent="-342900">
              <a:buFont typeface="Wingdings"/>
              <a:buChar char="Ø"/>
            </a:pPr>
            <a:endParaRPr lang="en-US" sz="2200" dirty="0">
              <a:solidFill>
                <a:srgbClr val="374151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v"/>
            </a:pPr>
            <a:r>
              <a:rPr lang="en-US" sz="2200" b="1" dirty="0">
                <a:latin typeface="Georgia Pro"/>
                <a:ea typeface="+mn-lt"/>
                <a:cs typeface="+mn-lt"/>
              </a:rPr>
              <a:t>Discrete Decision Making</a:t>
            </a: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: 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Logic and Boolean algebra involve discrete decision making,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2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Decisions can be either true or false, with no intermediate values.</a:t>
            </a:r>
            <a:endParaRPr lang="en-US" sz="2200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endParaRPr lang="en-US" sz="2200" dirty="0">
              <a:solidFill>
                <a:srgbClr val="374151"/>
              </a:solidFill>
              <a:latin typeface="Georgia Pro"/>
              <a:ea typeface="Calibri"/>
              <a:cs typeface="Calibri"/>
            </a:endParaRPr>
          </a:p>
          <a:p>
            <a:pPr algn="l"/>
            <a:endParaRPr lang="en-US" sz="2200" dirty="0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085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Discrete Mathemetics ?</vt:lpstr>
      <vt:lpstr>Why we call it 'Discrete Mathematics' ?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Sagor Ahmed Saron</cp:lastModifiedBy>
  <cp:revision>282</cp:revision>
  <dcterms:created xsi:type="dcterms:W3CDTF">2023-09-21T09:15:03Z</dcterms:created>
  <dcterms:modified xsi:type="dcterms:W3CDTF">2024-02-12T16:43:44Z</dcterms:modified>
</cp:coreProperties>
</file>