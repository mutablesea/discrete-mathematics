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7315200" cy="9601200"/>
  <p:embeddedFontLs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Slab" pitchFamily="2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141649-D9F8-46C3-A28F-7FEF8898A008}">
  <a:tblStyle styleId="{0C141649-D9F8-46C3-A28F-7FEF8898A0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font" Target="fonts/font2.fntdata" /><Relationship Id="rId42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font" Target="fonts/font1.fntdata" /><Relationship Id="rId38" Type="http://schemas.openxmlformats.org/officeDocument/2006/relationships/font" Target="fonts/font6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notesMaster" Target="notesMasters/notesMaster1.xml" /><Relationship Id="rId37" Type="http://schemas.openxmlformats.org/officeDocument/2006/relationships/font" Target="fonts/font5.fntdata" /><Relationship Id="rId40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Book typically starts with </a:t>
            </a:r>
            <a:r>
              <a:rPr lang="en-US" i="1"/>
              <a:t>n</a:t>
            </a:r>
            <a:r>
              <a:rPr lang="en-US"/>
              <a:t>=1 instead of </a:t>
            </a:r>
            <a:r>
              <a:rPr lang="en-US" i="1"/>
              <a:t>n</a:t>
            </a:r>
            <a:r>
              <a:rPr lang="en-US"/>
              <a:t>=0.  Starting point is arbitrary.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5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/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CSE 101: Discrete Mathematics</a:t>
            </a:r>
            <a:endParaRPr sz="4000" b="0" i="0" u="none" strike="noStrike" cap="none">
              <a:solidFill>
                <a:srgbClr val="26262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800" y="1157813"/>
            <a:ext cx="1828800" cy="223123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1730100" y="3134456"/>
            <a:ext cx="5683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AD010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AD0101"/>
                </a:solidFill>
                <a:latin typeface="Roboto Slab"/>
                <a:ea typeface="Roboto Slab"/>
                <a:cs typeface="Roboto Slab"/>
                <a:sym typeface="Roboto Slab"/>
              </a:rPr>
              <a:t>Department of Computer Science and Engineering(CSE)</a:t>
            </a:r>
            <a:endParaRPr sz="1300" b="0" i="0" u="none" strike="noStrike" cap="none">
              <a:solidFill>
                <a:srgbClr val="AD010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AD0101"/>
                </a:solidFill>
                <a:latin typeface="Roboto Slab"/>
                <a:ea typeface="Roboto Slab"/>
                <a:cs typeface="Roboto Slab"/>
                <a:sym typeface="Roboto Slab"/>
              </a:rPr>
              <a:t>Green University of Bangladesh(GUB)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3"/>
          <p:cNvSpPr txBox="1"/>
          <p:nvPr/>
        </p:nvSpPr>
        <p:spPr>
          <a:xfrm flipH="1">
            <a:off x="2220225" y="1157825"/>
            <a:ext cx="6595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07 </a:t>
            </a:r>
            <a:endParaRPr sz="48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Induction</a:t>
            </a:r>
            <a:endParaRPr sz="48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31" name="Google Shape;31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17650" y="626325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sequence of propositions is a sequence of dominos.</a:t>
            </a:r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6400" y="1771400"/>
            <a:ext cx="3787700" cy="28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38" name="Google Shape;38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sequence of propositions is a sequence of dominos.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07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/>
        </p:nvSpPr>
        <p:spPr>
          <a:xfrm>
            <a:off x="6119812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9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1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32766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73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/>
        </p:nvSpPr>
        <p:spPr>
          <a:xfrm>
            <a:off x="18288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5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/>
        </p:nvSpPr>
        <p:spPr>
          <a:xfrm>
            <a:off x="3810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56" name="Google Shape;56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sp>
        <p:nvSpPr>
          <p:cNvPr id="57" name="Google Shape;57;p6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07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6119812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29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1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32766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73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/>
        </p:nvSpPr>
        <p:spPr>
          <a:xfrm>
            <a:off x="18288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6" descr="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/>
        </p:nvSpPr>
        <p:spPr>
          <a:xfrm>
            <a:off x="3810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74" name="Google Shape;74;p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can conclude that all the </a:t>
            </a:r>
            <a:r>
              <a:rPr lang="en-US"/>
              <a:t>dominos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fall!</a:t>
            </a:r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7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/>
        </p:nvSpPr>
        <p:spPr>
          <a:xfrm>
            <a:off x="14541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7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7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07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 txBox="1"/>
          <p:nvPr/>
        </p:nvSpPr>
        <p:spPr>
          <a:xfrm>
            <a:off x="6119812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7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 descr="fallingDomi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5000" y="2403871"/>
            <a:ext cx="858440" cy="136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51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/>
          <p:nvPr/>
        </p:nvSpPr>
        <p:spPr>
          <a:xfrm>
            <a:off x="32766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22098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92" name="Google Shape;92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8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/>
        </p:nvSpPr>
        <p:spPr>
          <a:xfrm>
            <a:off x="14541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8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3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29019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8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8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07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/>
          <p:nvPr/>
        </p:nvSpPr>
        <p:spPr>
          <a:xfrm>
            <a:off x="6119812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8" descr="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descr="fallingDomi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2403871"/>
            <a:ext cx="858440" cy="136802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/>
        </p:nvSpPr>
        <p:spPr>
          <a:xfrm>
            <a:off x="3733800" y="2559844"/>
            <a:ext cx="73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110" name="Google Shape;110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pic>
        <p:nvPicPr>
          <p:cNvPr id="111" name="Google Shape;111;p9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63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 txBox="1"/>
          <p:nvPr/>
        </p:nvSpPr>
        <p:spPr>
          <a:xfrm>
            <a:off x="4313237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9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 txBox="1"/>
          <p:nvPr/>
        </p:nvSpPr>
        <p:spPr>
          <a:xfrm>
            <a:off x="14541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9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3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 txBox="1"/>
          <p:nvPr/>
        </p:nvSpPr>
        <p:spPr>
          <a:xfrm>
            <a:off x="29019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9" descr="falling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9012" y="2403871"/>
            <a:ext cx="858440" cy="136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9" descr="domi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9" descr="domi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07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/>
        </p:nvSpPr>
        <p:spPr>
          <a:xfrm>
            <a:off x="6119812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128" name="Google Shape;128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pic>
        <p:nvPicPr>
          <p:cNvPr id="129" name="Google Shape;129;p10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63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 txBox="1"/>
          <p:nvPr/>
        </p:nvSpPr>
        <p:spPr>
          <a:xfrm>
            <a:off x="4313237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0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143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0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0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 txBox="1"/>
          <p:nvPr/>
        </p:nvSpPr>
        <p:spPr>
          <a:xfrm>
            <a:off x="14541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0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3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/>
        </p:nvSpPr>
        <p:spPr>
          <a:xfrm>
            <a:off x="29019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0" descr="falling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6812" y="2403871"/>
            <a:ext cx="858440" cy="136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0" descr="domi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48575" y="2494359"/>
            <a:ext cx="492919" cy="127754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/>
        </p:nvSpPr>
        <p:spPr>
          <a:xfrm>
            <a:off x="7467600" y="25717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6553200" y="2571750"/>
            <a:ext cx="7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146" name="Google Shape;146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pic>
        <p:nvPicPr>
          <p:cNvPr id="147" name="Google Shape;147;p11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63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/>
        </p:nvSpPr>
        <p:spPr>
          <a:xfrm>
            <a:off x="4313237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1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143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/>
        </p:nvSpPr>
        <p:spPr>
          <a:xfrm>
            <a:off x="576103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1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45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 txBox="1"/>
          <p:nvPr/>
        </p:nvSpPr>
        <p:spPr>
          <a:xfrm>
            <a:off x="14541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1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3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 txBox="1"/>
          <p:nvPr/>
        </p:nvSpPr>
        <p:spPr>
          <a:xfrm>
            <a:off x="290195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1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/>
        </p:nvSpPr>
        <p:spPr>
          <a:xfrm>
            <a:off x="7162800" y="3028950"/>
            <a:ext cx="738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1" descr="fallingDomi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0" y="2403871"/>
            <a:ext cx="858440" cy="1368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7854950" y="24574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164" name="Google Shape;164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085850"/>
            <a:ext cx="77724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can conclude that all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dominos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fall!</a:t>
            </a:r>
            <a:endParaRPr/>
          </a:p>
        </p:txBody>
      </p:sp>
      <p:pic>
        <p:nvPicPr>
          <p:cNvPr id="165" name="Google Shape;165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388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 txBox="1"/>
          <p:nvPr/>
        </p:nvSpPr>
        <p:spPr>
          <a:xfrm>
            <a:off x="3773487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1687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 txBox="1"/>
          <p:nvPr/>
        </p:nvSpPr>
        <p:spPr>
          <a:xfrm>
            <a:off x="5221287" y="3028950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 txBox="1"/>
          <p:nvPr/>
        </p:nvSpPr>
        <p:spPr>
          <a:xfrm>
            <a:off x="91440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2362200" y="3028950"/>
            <a:ext cx="735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34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/>
        </p:nvSpPr>
        <p:spPr>
          <a:xfrm>
            <a:off x="6623050" y="3028950"/>
            <a:ext cx="738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2" descr="fallenDomi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250" y="2914650"/>
            <a:ext cx="1222772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 txBox="1"/>
          <p:nvPr/>
        </p:nvSpPr>
        <p:spPr>
          <a:xfrm>
            <a:off x="8070850" y="3028950"/>
            <a:ext cx="1060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0" y="1332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Proof Technique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47375" y="1298425"/>
            <a:ext cx="8028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★"/>
            </a:pPr>
            <a:r>
              <a:rPr lang="en-US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Mathematical induction </a:t>
            </a:r>
            <a:r>
              <a:rPr lang="en-US" b="1" i="0" u="none">
                <a:solidFill>
                  <a:srgbClr val="00682F"/>
                </a:solidFill>
                <a:latin typeface="Roboto"/>
                <a:ea typeface="Roboto"/>
                <a:cs typeface="Roboto"/>
                <a:sym typeface="Roboto"/>
              </a:rPr>
              <a:t>is a technique that can be applied to </a:t>
            </a:r>
            <a:r>
              <a:rPr lang="en-US" i="0" u="none">
                <a:solidFill>
                  <a:srgbClr val="00682F"/>
                </a:solidFill>
                <a:latin typeface="Roboto"/>
                <a:ea typeface="Roboto"/>
                <a:cs typeface="Roboto"/>
                <a:sym typeface="Roboto"/>
              </a:rPr>
              <a:t>prove the universal statements 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sets of </a:t>
            </a:r>
            <a:r>
              <a:rPr lang="en-US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positive integers or their associated sequences</a:t>
            </a:r>
            <a:r>
              <a:rPr lang="en-US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title"/>
          </p:nvPr>
        </p:nvSpPr>
        <p:spPr>
          <a:xfrm>
            <a:off x="0" y="1628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Mathematical Induction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261750" y="1066975"/>
            <a:ext cx="8620500" cy="13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➔"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Step 1 (Basis Step):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Show that P(a) is true.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➔"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Step 2 (Induction Step):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Show that for all integers k&gt;=a,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if P(k) is true then P(k+1) is true.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71500" y="2647575"/>
            <a:ext cx="8001000" cy="2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Used to prove statements of the form                 where x ϵ Z+</a:t>
            </a: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Mathematical induction proofs consists of two steps:</a:t>
            </a:r>
            <a:endParaRPr sz="18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Basis Step: 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proposition P(1) is true.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Inductive Step: 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implication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P(n)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P(n+1), is true for all positive n.</a:t>
            </a: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Therefore we conclude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7400" y="4403225"/>
            <a:ext cx="736551" cy="2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2400" y="2692078"/>
            <a:ext cx="827375" cy="30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0" y="1628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Mathematical Induction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252875" y="1143000"/>
            <a:ext cx="86205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 b="1" i="1" u="sng">
                <a:latin typeface="Roboto"/>
                <a:ea typeface="Roboto"/>
                <a:cs typeface="Roboto"/>
                <a:sym typeface="Roboto"/>
              </a:rPr>
              <a:t>Example:</a:t>
            </a:r>
            <a:r>
              <a:rPr lang="en-US" sz="1500" b="1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-US" sz="15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Prove that, 1+2+3+....+n = n(n+1)/2   , for n belongs to Z, n&gt;=1</a:t>
            </a:r>
            <a:endParaRPr sz="150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 b="1" i="1" u="sng">
                <a:latin typeface="Roboto"/>
                <a:ea typeface="Roboto"/>
                <a:cs typeface="Roboto"/>
                <a:sym typeface="Roboto"/>
              </a:rPr>
              <a:t>Solution:</a:t>
            </a:r>
            <a:endParaRPr sz="1500" b="1" i="1" u="sng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 b="1">
                <a:latin typeface="Roboto"/>
                <a:ea typeface="Roboto"/>
                <a:cs typeface="Roboto"/>
                <a:sym typeface="Roboto"/>
              </a:rPr>
              <a:t>Step 1 (Basis Step):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P(1) is true as 1 = 1(1+1)/2 = 1.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 b="1">
                <a:latin typeface="Roboto"/>
                <a:ea typeface="Roboto"/>
                <a:cs typeface="Roboto"/>
                <a:sym typeface="Roboto"/>
              </a:rPr>
              <a:t>Step 2 (Induction Step):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Assume, 1 + 2 + 3 + … + k = k(k+1)/2 is true. </a:t>
            </a:r>
            <a:r>
              <a:rPr lang="en-US" sz="1500" b="1">
                <a:latin typeface="Roboto"/>
                <a:ea typeface="Roboto"/>
                <a:cs typeface="Roboto"/>
                <a:sym typeface="Roboto"/>
              </a:rPr>
              <a:t>(Induction Hypothesis)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Now, We need to prove,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1 + 2 + 3 + … + (k+1)		= 	(k+1)(k+2)/2. (replacing n with k +1)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1 + 2 + 3 + … + k + (k+1) 	= 	(k+1)(k+2)/2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k(k+1)/2 + (k+1) 		= 	(k+1)(k+2)/2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(k</a:t>
            </a:r>
            <a:r>
              <a:rPr lang="en-US" sz="15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+ k)/2 + k + 1 		= 	(k</a:t>
            </a:r>
            <a:r>
              <a:rPr lang="en-US" sz="15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+ 2k + k + 2)/2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➔"/>
            </a:pP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(k</a:t>
            </a:r>
            <a:r>
              <a:rPr lang="en-US" sz="15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+ 2k + k + 2)/2 		= 	(k</a:t>
            </a:r>
            <a:r>
              <a:rPr lang="en-US" sz="1500" baseline="300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500">
                <a:latin typeface="Roboto"/>
                <a:ea typeface="Roboto"/>
                <a:cs typeface="Roboto"/>
                <a:sym typeface="Roboto"/>
              </a:rPr>
              <a:t> + 2k + k + 2)/2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None/>
            </a:pPr>
            <a:r>
              <a:rPr lang="en-US" sz="1500" b="1">
                <a:latin typeface="Roboto"/>
                <a:ea typeface="Roboto"/>
                <a:cs typeface="Roboto"/>
                <a:sym typeface="Roboto"/>
              </a:rPr>
              <a:t>PROVED</a:t>
            </a:r>
            <a:endParaRPr sz="15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0" y="114925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Mathematical Induction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0010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Prove the sum of first n odd integers is n</a:t>
            </a:r>
            <a:r>
              <a:rPr lang="en-US" sz="18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i.e.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 + 3 + 5 + 7 + ... + (2n - 1) = n</a:t>
            </a:r>
            <a:r>
              <a:rPr lang="en-US" sz="1800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all positive integers.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120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P(n)?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P(n): 1 + 3 + 5 + 7 + ... + (2n - 1) = n</a:t>
            </a:r>
            <a:r>
              <a:rPr lang="en-US" sz="1800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120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1800" i="0" u="none" baseline="30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13" name="Google Shape;213;p1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p17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20" name="Google Shape;220;p1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273050" lvl="0" indent="-95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1" name="Google Shape;221;p18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27" name="Google Shape;227;p1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19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34" name="Google Shape;234;p2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1+3+5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273050" lvl="0" indent="-120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20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41" name="Google Shape;241;p2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1+3+5+7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273050" lvl="0" indent="-1206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48" name="Google Shape;248;p2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1+3+5+7+9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p22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55" name="Google Shape;255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85800" y="1028700"/>
            <a:ext cx="7772400" cy="16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1+3+5+7+9 +11</a:t>
            </a:r>
            <a:endParaRPr/>
          </a:p>
          <a:p>
            <a:pPr marL="273050" lvl="0" indent="-952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6" name="Google Shape;256;p23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62" name="Google Shape;262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028700"/>
            <a:ext cx="77724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1+3+5+7+9 +11+13</a:t>
            </a:r>
            <a:endParaRPr/>
          </a:p>
        </p:txBody>
      </p:sp>
      <p:graphicFrame>
        <p:nvGraphicFramePr>
          <p:cNvPr id="263" name="Google Shape;263;p24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 Example.</a:t>
            </a:r>
            <a:endParaRPr/>
          </a:p>
        </p:txBody>
      </p:sp>
      <p:sp>
        <p:nvSpPr>
          <p:cNvPr id="269" name="Google Shape;269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7724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interpretation.  To get next square, need to add next odd number:</a:t>
            </a:r>
            <a:endParaRPr/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1+3+5+7+9+11+13=7</a:t>
            </a:r>
            <a:r>
              <a:rPr lang="en-US" sz="2800" b="0" i="0" u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graphicFrame>
        <p:nvGraphicFramePr>
          <p:cNvPr id="270" name="Google Shape;270;p25"/>
          <p:cNvGraphicFramePr/>
          <p:nvPr/>
        </p:nvGraphicFramePr>
        <p:xfrm>
          <a:off x="23622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{0C141649-D9F8-46C3-A28F-7FEF8898A008}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02C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6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277" name="Google Shape;277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610600" cy="3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Step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P(1) is true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= 1</a:t>
            </a:r>
            <a:r>
              <a:rPr lang="en-US" sz="18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Inductive Step 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lang="en-US" sz="1800" b="1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P(</a:t>
            </a:r>
            <a:r>
              <a:rPr lang="en-US" sz="1800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1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) is true then P(</a:t>
            </a:r>
            <a:r>
              <a:rPr lang="en-US" sz="1800" b="1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1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+1) is true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all n.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true, </a:t>
            </a:r>
            <a:r>
              <a:rPr lang="en-US" sz="1800"/>
              <a:t>   </a:t>
            </a:r>
            <a:endParaRPr sz="1800"/>
          </a:p>
          <a:p>
            <a:pPr marL="137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    1 + 3 + 5 + 7 + ... + (2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- 1) =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1 + 3 + 5 + 7 + ... + (2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- 1) + (2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+ 1) = (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follows: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+ 3 + 5 + 7 + ... + (2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- 1)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+ 1)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r>
              <a:rPr lang="en-US" sz="1800"/>
              <a:t>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+1)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27"/>
          <p:cNvCxnSpPr/>
          <p:nvPr/>
        </p:nvCxnSpPr>
        <p:spPr>
          <a:xfrm rot="10800000">
            <a:off x="4000525" y="4492525"/>
            <a:ext cx="1017000" cy="224100"/>
          </a:xfrm>
          <a:prstGeom prst="straightConnector1">
            <a:avLst/>
          </a:prstGeom>
          <a:noFill/>
          <a:ln w="76200" cap="flat" cmpd="sng">
            <a:solidFill>
              <a:srgbClr val="01EA89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84" name="Google Shape;284;p27"/>
          <p:cNvCxnSpPr/>
          <p:nvPr/>
        </p:nvCxnSpPr>
        <p:spPr>
          <a:xfrm rot="10800000" flipH="1">
            <a:off x="2162375" y="4505500"/>
            <a:ext cx="854700" cy="260100"/>
          </a:xfrm>
          <a:prstGeom prst="straightConnector1">
            <a:avLst/>
          </a:prstGeom>
          <a:noFill/>
          <a:ln w="76200" cap="flat" cmpd="sng">
            <a:solidFill>
              <a:srgbClr val="01EA89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286" name="Google Shape;286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610600" cy="3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Prove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1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n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divisible by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all positive integers.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P(n):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n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divisible by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Step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P(1):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1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- 1 = 0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divisible by 3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Inductive Step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00" b="1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P(n) is true then P(n+1) is true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</a:t>
            </a:r>
            <a:r>
              <a:rPr lang="en-US" sz="1800"/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 integer.</a:t>
            </a:r>
            <a:endParaRPr sz="1800" b="1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P(n):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n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divisible by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true.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P(n+1):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(n+1)</a:t>
            </a:r>
            <a:r>
              <a:rPr lang="en-US" sz="1800" b="0" i="0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- (n+1)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divisible by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(n+1)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(n+1) 	= 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+ 3n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+ 3n + 1 - n - 1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	= (n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n) + 3n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+ 3n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	= (n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n) +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</a:t>
            </a:r>
            <a:r>
              <a:rPr lang="en-US" sz="1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n)</a:t>
            </a: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533400" y="4686150"/>
            <a:ext cx="1676400" cy="384900"/>
          </a:xfrm>
          <a:prstGeom prst="rect">
            <a:avLst/>
          </a:prstGeom>
          <a:solidFill>
            <a:srgbClr val="01EA8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Divisible by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4765600" y="4609350"/>
            <a:ext cx="1602600" cy="369300"/>
          </a:xfrm>
          <a:prstGeom prst="rect">
            <a:avLst/>
          </a:prstGeom>
          <a:solidFill>
            <a:srgbClr val="01EA8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Divisible by 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Mathematical Induction</a:t>
            </a:r>
            <a:endParaRPr/>
          </a:p>
        </p:txBody>
      </p:sp>
      <p:sp>
        <p:nvSpPr>
          <p:cNvPr id="295" name="Google Shape;295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84582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30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Prove </a:t>
            </a:r>
            <a:r>
              <a:rPr lang="en-US" sz="1800" b="1"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&lt; n!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for all  </a:t>
            </a:r>
            <a:r>
              <a:rPr lang="en-US" sz="18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≥ 4.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1800" b="1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Roboto"/>
              <a:buAutoNum type="arabicPeriod"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Basis Step: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P(4) = 2</a:t>
            </a:r>
            <a:r>
              <a:rPr lang="en-US" sz="1800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4! =16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24      (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Roboto"/>
              <a:buAutoNum type="arabicPeriod"/>
            </a:pP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Inductive Step: 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 P(n)  is true then P(n+1) is also true: We 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need to show: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="1" baseline="30000">
                <a:latin typeface="Roboto"/>
                <a:ea typeface="Roboto"/>
                <a:cs typeface="Roboto"/>
                <a:sym typeface="Roboto"/>
              </a:rPr>
              <a:t>n+1</a:t>
            </a:r>
            <a:r>
              <a:rPr lang="en-US" sz="1800" b="1">
                <a:latin typeface="Roboto"/>
                <a:ea typeface="Roboto"/>
                <a:cs typeface="Roboto"/>
                <a:sym typeface="Roboto"/>
              </a:rPr>
              <a:t> &lt; (n+1)!</a:t>
            </a:r>
            <a:endParaRPr sz="1800" b="1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n+1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2 . 2</a:t>
            </a:r>
            <a:r>
              <a:rPr lang="en-US" sz="1800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n+1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2 . 2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2. n!              (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we assumed 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 &lt; n! 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n+1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2 . 2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(n+1)n!          (2&lt;n+1)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n+1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2 . 2</a:t>
            </a:r>
            <a:r>
              <a:rPr lang="en-US" sz="1800" baseline="30000"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(n+1)!</a:t>
            </a: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PROVED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18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-US" sz="1800" b="1" i="0" u="none" baseline="30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Strong Induction</a:t>
            </a:r>
            <a:endParaRPr/>
          </a:p>
        </p:txBody>
      </p:sp>
      <p:sp>
        <p:nvSpPr>
          <p:cNvPr id="302" name="Google Shape;302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86106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regular induction: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– 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step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P(1) and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inductive step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P(n-1)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P(n)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Strong induction uses: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–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step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P(1) and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–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inductive step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P(1)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P(2) … P(n-2)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P(n-1) </a:t>
            </a: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P(n)</a:t>
            </a:r>
            <a:endParaRPr sz="1800"/>
          </a:p>
          <a:p>
            <a:pPr marL="273050" lvl="0" indent="-2730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 that a positive integer greater than 1 can be written as a product of primes.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Strong Induction</a:t>
            </a:r>
            <a:endParaRPr/>
          </a:p>
        </p:txBody>
      </p:sp>
      <p:sp>
        <p:nvSpPr>
          <p:cNvPr id="309" name="Google Shape;309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217487" y="1045369"/>
            <a:ext cx="86106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 that a positive integer greater than 1 can be written as a product of primes.</a:t>
            </a:r>
            <a:endParaRPr sz="18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Impact"/>
              <a:buAutoNum type="arabicPeriod"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step: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P(2) is true</a:t>
            </a:r>
            <a:endParaRPr sz="1800"/>
          </a:p>
          <a:p>
            <a:pPr marL="457200" lvl="0" indent="-4191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Impact"/>
              <a:buAutoNum type="arabicPeriod"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Inductive step: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true for P(2), P(3), … P(n)</a:t>
            </a:r>
            <a:endParaRPr sz="1800"/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Show that P(n+1) is true as well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Cases: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n+1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prime then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P(n+1)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trivially true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n+1 is a composite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it can be written as a product of two integers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(n+1) = a*b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that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1&lt; a ,b &lt; n+1</a:t>
            </a:r>
            <a:endParaRPr sz="1800"/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assumption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P(a)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P(b)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holds.</a:t>
            </a:r>
            <a:endParaRPr sz="1800"/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Thus,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n+1 can be written as a product of primes</a:t>
            </a:r>
            <a:endParaRPr sz="1800"/>
          </a:p>
          <a:p>
            <a:pPr marL="4572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of proof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Book References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421850" y="1112550"/>
            <a:ext cx="8636700" cy="9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 5 (Page 311)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Char char="◆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(3, 4, 5, 7, 12, 13, 15, 16, 17, 18) (Page-329)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>
            <a:spLocks noGrp="1"/>
          </p:cNvSpPr>
          <p:nvPr>
            <p:ph type="title"/>
          </p:nvPr>
        </p:nvSpPr>
        <p:spPr>
          <a:xfrm>
            <a:off x="0" y="17716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1_NewsPrint</vt:lpstr>
      <vt:lpstr>PowerPoint Presentation</vt:lpstr>
      <vt:lpstr>Mathematical Induction</vt:lpstr>
      <vt:lpstr>Mathematical Induction</vt:lpstr>
      <vt:lpstr>Mathematical Induction</vt:lpstr>
      <vt:lpstr>Mathematical Induction</vt:lpstr>
      <vt:lpstr>Mathematical Induction</vt:lpstr>
      <vt:lpstr>Mathematical Induction</vt:lpstr>
      <vt:lpstr>Mathematical Induction</vt:lpstr>
      <vt:lpstr>Mathematical Induction</vt:lpstr>
      <vt:lpstr>Mathematical Induction</vt:lpstr>
      <vt:lpstr>Proof Technique</vt:lpstr>
      <vt:lpstr>Mathematical Induction</vt:lpstr>
      <vt:lpstr>Mathematical Induction</vt:lpstr>
      <vt:lpstr>Mathematical Induction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 Example.</vt:lpstr>
      <vt:lpstr>Mathematical Induction</vt:lpstr>
      <vt:lpstr>Mathematical Induction</vt:lpstr>
      <vt:lpstr>Mathematical Induction</vt:lpstr>
      <vt:lpstr>Strong Induction</vt:lpstr>
      <vt:lpstr>Strong Induction</vt:lpstr>
      <vt:lpstr>Book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Sagor Ahmed Saron</cp:lastModifiedBy>
  <cp:revision>1</cp:revision>
  <dcterms:modified xsi:type="dcterms:W3CDTF">2024-02-12T16:40:14Z</dcterms:modified>
</cp:coreProperties>
</file>