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81ED97-3EF7-7EC1-2017-9334FD8D20B9}"/>
              </a:ext>
            </a:extLst>
          </p:cNvPr>
          <p:cNvSpPr txBox="1"/>
          <p:nvPr/>
        </p:nvSpPr>
        <p:spPr>
          <a:xfrm>
            <a:off x="319367" y="391084"/>
            <a:ext cx="11688855" cy="7109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US" sz="2400" dirty="0">
                <a:latin typeface="Georgia Pro"/>
              </a:rPr>
            </a:br>
            <a:r>
              <a:rPr lang="en-US" sz="2400" dirty="0">
                <a:latin typeface="Georgia Pro"/>
                <a:cs typeface="Arial"/>
              </a:rPr>
              <a:t>﻿</a:t>
            </a:r>
            <a:r>
              <a:rPr lang="en-US" sz="2400" dirty="0">
                <a:solidFill>
                  <a:srgbClr val="0070C0"/>
                </a:solidFill>
                <a:latin typeface="Georgia Pro"/>
                <a:cs typeface="Arial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Georgia Pro"/>
                <a:cs typeface="Arial"/>
              </a:rPr>
              <a:t>Propositional Logic</a:t>
            </a:r>
            <a:r>
              <a:rPr lang="en-US" sz="2400" dirty="0">
                <a:latin typeface="Georgia Pro"/>
                <a:cs typeface="Arial"/>
              </a:rPr>
              <a:t>: Proposition &amp; Logic</a:t>
            </a:r>
            <a:endParaRPr lang="en-US" sz="2400" dirty="0">
              <a:latin typeface="Georgia Pro"/>
              <a:ea typeface="Calibri"/>
              <a:cs typeface="Calibri"/>
            </a:endParaRPr>
          </a:p>
          <a:p>
            <a:endParaRPr lang="en-US" sz="2400" dirty="0">
              <a:latin typeface="Georgia Pro"/>
              <a:cs typeface="Arial"/>
            </a:endParaRPr>
          </a:p>
          <a:p>
            <a:pPr algn="ctr"/>
            <a:r>
              <a:rPr lang="en-US" sz="2400" dirty="0">
                <a:latin typeface="Georgia Pro"/>
                <a:cs typeface="Arial"/>
              </a:rPr>
              <a:t> </a:t>
            </a:r>
            <a:r>
              <a:rPr lang="en-US" sz="2400" b="1" dirty="0">
                <a:solidFill>
                  <a:srgbClr val="0070C0"/>
                </a:solidFill>
                <a:latin typeface="Georgia Pro"/>
                <a:cs typeface="Arial"/>
              </a:rPr>
              <a:t>What is Logic? </a:t>
            </a:r>
            <a:endParaRPr lang="en-US" sz="2400" b="1" dirty="0">
              <a:solidFill>
                <a:srgbClr val="0070C0"/>
              </a:solidFill>
              <a:latin typeface="Georgia Pro"/>
              <a:ea typeface="Calibri"/>
              <a:cs typeface="Calibri"/>
            </a:endParaRPr>
          </a:p>
          <a:p>
            <a:pPr marL="342900" indent="-342900" algn="ctr">
              <a:buFont typeface="Wingdings"/>
              <a:buChar char="v"/>
            </a:pPr>
            <a:r>
              <a:rPr lang="en-US" sz="2400" dirty="0">
                <a:latin typeface="Georgia Pro"/>
                <a:cs typeface="Arial"/>
              </a:rPr>
              <a:t> Logic is the science of reasoning (</a:t>
            </a:r>
            <a:r>
              <a:rPr lang="en-US" sz="2400" dirty="0">
                <a:solidFill>
                  <a:srgbClr val="000000"/>
                </a:solidFill>
                <a:latin typeface="Georgia Pro"/>
                <a:cs typeface="Arial"/>
              </a:rPr>
              <a:t> </a:t>
            </a:r>
            <a:r>
              <a:rPr lang="en-US" sz="2400" dirty="0" err="1">
                <a:solidFill>
                  <a:srgbClr val="202124"/>
                </a:solidFill>
                <a:latin typeface="Georgia Pro"/>
                <a:cs typeface="Arial"/>
              </a:rPr>
              <a:t>যুক্তি</a:t>
            </a:r>
            <a:r>
              <a:rPr lang="en-US" sz="2400" dirty="0">
                <a:solidFill>
                  <a:srgbClr val="202124"/>
                </a:solidFill>
                <a:latin typeface="Georgia Pro"/>
                <a:cs typeface="Arial"/>
              </a:rPr>
              <a:t> )</a:t>
            </a:r>
            <a:r>
              <a:rPr lang="en-US" sz="2400" dirty="0">
                <a:latin typeface="Georgia Pro"/>
                <a:cs typeface="Arial"/>
              </a:rPr>
              <a:t>.  </a:t>
            </a:r>
            <a:endParaRPr lang="en-US" sz="2400" dirty="0">
              <a:latin typeface="Georgia Pro"/>
              <a:ea typeface="Calibri"/>
              <a:cs typeface="Arial"/>
            </a:endParaRPr>
          </a:p>
          <a:p>
            <a:pPr marL="342900" indent="-342900" algn="ctr">
              <a:buFont typeface="Wingdings"/>
              <a:buChar char="v"/>
            </a:pPr>
            <a:r>
              <a:rPr lang="en-US" sz="2400" dirty="0">
                <a:latin typeface="Georgia Pro"/>
                <a:cs typeface="Arial"/>
              </a:rPr>
              <a:t> understand and reason about mathematical statements. </a:t>
            </a:r>
            <a:endParaRPr lang="en-US" sz="2400" dirty="0">
              <a:latin typeface="Georgia Pro"/>
              <a:ea typeface="Calibri"/>
              <a:cs typeface="Calibri"/>
            </a:endParaRPr>
          </a:p>
          <a:p>
            <a:endParaRPr lang="en-US" sz="2400" b="1" dirty="0">
              <a:solidFill>
                <a:srgbClr val="0070C0"/>
              </a:solidFill>
              <a:latin typeface="Georgia Pro"/>
              <a:cs typeface="Arial"/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Georgia Pro"/>
                <a:cs typeface="Arial"/>
              </a:rPr>
              <a:t> With rules of logic:</a:t>
            </a:r>
            <a:endParaRPr lang="en-US" sz="2400" b="1" dirty="0">
              <a:solidFill>
                <a:srgbClr val="0070C0"/>
              </a:solidFill>
              <a:latin typeface="Georgia Pro"/>
              <a:ea typeface="Calibri"/>
              <a:cs typeface="Calibri"/>
            </a:endParaRPr>
          </a:p>
          <a:p>
            <a:pPr marL="342900" indent="-342900" algn="ctr">
              <a:buFont typeface="Wingdings"/>
              <a:buChar char="q"/>
            </a:pPr>
            <a:r>
              <a:rPr lang="en-US" sz="2400" dirty="0">
                <a:latin typeface="Georgia Pro"/>
                <a:cs typeface="Arial"/>
              </a:rPr>
              <a:t>we would be able to think about mathematical statements </a:t>
            </a:r>
            <a:endParaRPr lang="en-US" sz="2400" dirty="0">
              <a:latin typeface="Georgia Pro"/>
              <a:ea typeface="Calibri"/>
              <a:cs typeface="Calibri"/>
            </a:endParaRPr>
          </a:p>
          <a:p>
            <a:pPr marL="342900" indent="-342900" algn="ctr">
              <a:buFont typeface="Wingdings"/>
              <a:buChar char="q"/>
            </a:pPr>
            <a:r>
              <a:rPr lang="en-US" sz="2400" dirty="0">
                <a:latin typeface="Georgia Pro"/>
                <a:cs typeface="Arial"/>
              </a:rPr>
              <a:t>finally we would be able to prove or disprove those mathematical statements precisely.</a:t>
            </a:r>
            <a:endParaRPr lang="en-US" sz="2400" dirty="0">
              <a:latin typeface="Georgia Pro"/>
              <a:ea typeface="Calibri"/>
              <a:cs typeface="Calibri"/>
            </a:endParaRPr>
          </a:p>
          <a:p>
            <a:pPr algn="ctr"/>
            <a:endParaRPr lang="en-US" sz="2400" dirty="0">
              <a:latin typeface="Georgia Pro"/>
              <a:ea typeface="Calibri"/>
              <a:cs typeface="Arial"/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Georgia Pro"/>
                <a:ea typeface="Calibri"/>
                <a:cs typeface="Calibri"/>
              </a:rPr>
              <a:t>Purpose of logic:</a:t>
            </a:r>
          </a:p>
          <a:p>
            <a:pPr marL="342900" indent="-342900" algn="ctr">
              <a:buFont typeface="Wingdings"/>
              <a:buChar char="Ø"/>
            </a:pPr>
            <a:r>
              <a:rPr lang="en-US" sz="2400" dirty="0">
                <a:latin typeface="Georgia Pro"/>
                <a:ea typeface="Calibri"/>
                <a:cs typeface="Calibri"/>
              </a:rPr>
              <a:t> to construct valid arguments (or proofs). </a:t>
            </a:r>
          </a:p>
          <a:p>
            <a:pPr marL="342900" indent="-342900" algn="ctr">
              <a:buFont typeface="Wingdings"/>
              <a:buChar char="Ø"/>
            </a:pPr>
            <a:r>
              <a:rPr lang="en-US" sz="2400" dirty="0">
                <a:latin typeface="Georgia Pro"/>
                <a:ea typeface="Calibri"/>
                <a:cs typeface="Calibri"/>
              </a:rPr>
              <a:t>after proving a mathematical statement is TRUE then we call it a Theorem</a:t>
            </a:r>
          </a:p>
          <a:p>
            <a:pPr marL="342900" indent="-342900" algn="ctr">
              <a:buFont typeface="Wingdings"/>
              <a:buChar char="Ø"/>
            </a:pPr>
            <a:r>
              <a:rPr lang="en-US" sz="2400" dirty="0">
                <a:latin typeface="Georgia Pro"/>
                <a:ea typeface="Calibri"/>
                <a:cs typeface="Calibri"/>
              </a:rPr>
              <a:t> this is the basis of whole mathematics.</a:t>
            </a:r>
          </a:p>
          <a:p>
            <a:pPr marL="342900" indent="-342900" algn="ctr">
              <a:buFont typeface="Wingdings"/>
              <a:buChar char="Ø"/>
            </a:pPr>
            <a:endParaRPr lang="en-US" sz="2400" dirty="0">
              <a:latin typeface="Georgia Pro"/>
              <a:cs typeface="Arial"/>
            </a:endParaRPr>
          </a:p>
          <a:p>
            <a:endParaRPr lang="en-US" sz="2400" dirty="0">
              <a:latin typeface="Georgia Pro"/>
              <a:cs typeface="Arial"/>
            </a:endParaRPr>
          </a:p>
          <a:p>
            <a:pPr algn="ctr"/>
            <a:endParaRPr lang="en-US" sz="2400" dirty="0">
              <a:latin typeface="Georgia Pro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772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EE9914-3DB4-06D7-E77E-7B0B3DFC8353}"/>
              </a:ext>
            </a:extLst>
          </p:cNvPr>
          <p:cNvSpPr txBox="1"/>
          <p:nvPr/>
        </p:nvSpPr>
        <p:spPr>
          <a:xfrm>
            <a:off x="953620" y="1876985"/>
            <a:ext cx="10280276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Segoe UI"/>
                <a:ea typeface="+mn-lt"/>
                <a:cs typeface="Segoe UI"/>
              </a:rPr>
              <a:t>For example:</a:t>
            </a:r>
            <a:r>
              <a:rPr lang="en-US" sz="2400" dirty="0">
                <a:latin typeface="Segoe UI"/>
                <a:ea typeface="+mn-lt"/>
                <a:cs typeface="Segoe UI"/>
              </a:rPr>
              <a:t> </a:t>
            </a:r>
          </a:p>
          <a:p>
            <a:pPr algn="ctr"/>
            <a:r>
              <a:rPr lang="en-US" sz="2400" dirty="0">
                <a:latin typeface="Segoe UI"/>
                <a:ea typeface="+mn-lt"/>
                <a:cs typeface="Segoe UI"/>
              </a:rPr>
              <a:t>Rules of logic enable us to reason about the mathematical statements like:</a:t>
            </a:r>
          </a:p>
          <a:p>
            <a:pPr algn="ctr"/>
            <a:endParaRPr lang="en-US" sz="2400" dirty="0">
              <a:latin typeface="Segoe UI"/>
              <a:ea typeface="+mn-lt"/>
              <a:cs typeface="Segoe UI"/>
            </a:endParaRPr>
          </a:p>
          <a:p>
            <a:pPr algn="ctr"/>
            <a:r>
              <a:rPr lang="en-US" sz="2400" dirty="0">
                <a:latin typeface="Segoe UI"/>
                <a:ea typeface="+mn-lt"/>
                <a:cs typeface="Segoe UI"/>
              </a:rPr>
              <a:t> </a:t>
            </a:r>
            <a:r>
              <a:rPr lang="en-US" sz="2400" i="1" dirty="0">
                <a:latin typeface="Segoe UI"/>
                <a:ea typeface="+mn-lt"/>
                <a:cs typeface="Segoe UI"/>
              </a:rPr>
              <a:t>"For every positive integer n, the sum of positive integers not exceeding n is n(n+1)/2"</a:t>
            </a:r>
            <a:r>
              <a:rPr lang="en-US" sz="2400" dirty="0">
                <a:latin typeface="Segoe UI"/>
                <a:ea typeface="+mn-lt"/>
                <a:cs typeface="Segoe UI"/>
              </a:rPr>
              <a:t>.</a:t>
            </a:r>
          </a:p>
          <a:p>
            <a:pPr algn="ctr"/>
            <a:endParaRPr lang="en-US" sz="2400" dirty="0">
              <a:latin typeface="Segoe UI"/>
              <a:ea typeface="+mn-lt"/>
              <a:cs typeface="Segoe UI"/>
            </a:endParaRPr>
          </a:p>
          <a:p>
            <a:pPr algn="ctr"/>
            <a:r>
              <a:rPr lang="en-US" sz="2400" dirty="0">
                <a:latin typeface="Segoe UI"/>
                <a:ea typeface="+mn-lt"/>
                <a:cs typeface="Segoe UI"/>
              </a:rPr>
              <a:t> Either it is a valid mathematical argument or invalid argument. </a:t>
            </a:r>
          </a:p>
          <a:p>
            <a:br>
              <a:rPr lang="en-US" dirty="0">
                <a:ea typeface="+mn-lt"/>
                <a:cs typeface="+mn-lt"/>
              </a:rPr>
            </a:b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77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65AE96-C1E4-6404-AEA3-0A4E432B7735}"/>
              </a:ext>
            </a:extLst>
          </p:cNvPr>
          <p:cNvSpPr txBox="1"/>
          <p:nvPr/>
        </p:nvSpPr>
        <p:spPr>
          <a:xfrm>
            <a:off x="-2241" y="216273"/>
            <a:ext cx="12090025" cy="7109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Georgia Pro"/>
                <a:ea typeface="+mn-lt"/>
                <a:cs typeface="Arial"/>
              </a:rPr>
              <a:t>What is proposition?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a declarative sentence which can be either TRUE or FALSE but cannot be both. </a:t>
            </a:r>
          </a:p>
          <a:p>
            <a:pPr algn="ctr"/>
            <a:endParaRPr lang="en-US" sz="2400" b="1" dirty="0">
              <a:solidFill>
                <a:srgbClr val="C00000"/>
              </a:solidFill>
              <a:latin typeface="Georgia Pro"/>
              <a:ea typeface="+mn-lt"/>
              <a:cs typeface="+mn-lt"/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Georgia Pro"/>
                <a:ea typeface="+mn-lt"/>
                <a:cs typeface="+mn-lt"/>
              </a:rPr>
              <a:t>Declarative Sentence</a:t>
            </a:r>
            <a:endParaRPr lang="en-US" b="1" dirty="0">
              <a:solidFill>
                <a:srgbClr val="C00000"/>
              </a:solidFill>
              <a:latin typeface="Georgia Pro"/>
              <a:ea typeface="Calibri"/>
              <a:cs typeface="Calibri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a sentence that is declaring a fact or stating an argument</a:t>
            </a:r>
            <a:endParaRPr lang="en-US">
              <a:latin typeface="Georgia Pro"/>
            </a:endParaRPr>
          </a:p>
          <a:p>
            <a:pPr algn="ctr"/>
            <a:r>
              <a:rPr lang="en-US" sz="2400" b="1" i="1" dirty="0">
                <a:solidFill>
                  <a:srgbClr val="C00000"/>
                </a:solidFill>
                <a:latin typeface="Georgia Pro"/>
                <a:ea typeface="+mn-lt"/>
                <a:cs typeface="Arial"/>
              </a:rPr>
              <a:t>For example:</a:t>
            </a:r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(1) Delhi is the capital of India.</a:t>
            </a:r>
            <a:endParaRPr lang="en-US">
              <a:latin typeface="Georgia Pro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(2) Water Froze this morning.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(3) 1 + 1 = 2</a:t>
            </a:r>
          </a:p>
          <a:p>
            <a:pPr algn="ctr"/>
            <a:endParaRPr lang="en-US" sz="2400" dirty="0">
              <a:solidFill>
                <a:srgbClr val="000000"/>
              </a:solidFill>
              <a:latin typeface="Georgia Pro"/>
              <a:ea typeface="+mn-lt"/>
              <a:cs typeface="Arial"/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Georgia Pro"/>
                <a:ea typeface="+mn-lt"/>
                <a:cs typeface="Arial"/>
              </a:rPr>
              <a:t>Sentences which are not propositions:</a:t>
            </a:r>
            <a:endParaRPr lang="en-US" b="1">
              <a:solidFill>
                <a:srgbClr val="C00000"/>
              </a:solidFill>
              <a:latin typeface="Georgia Pro"/>
              <a:ea typeface="Calibri"/>
              <a:cs typeface="Calibri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(1) What time is it? 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(2) x + 1 = 2 (can be both TRUE or FALSE)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(3) Send us your resume before 11 PM.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(4) I request you to please allow me a day off.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Georgia Pro"/>
                <a:ea typeface="+mn-lt"/>
                <a:cs typeface="Arial"/>
              </a:rPr>
              <a:t> (5) Fetch my umbrella! </a:t>
            </a:r>
            <a:endParaRPr lang="en-US" sz="2400" dirty="0">
              <a:latin typeface="Georgia Pro"/>
            </a:endParaRPr>
          </a:p>
          <a:p>
            <a:endParaRPr lang="en-US" sz="2400" dirty="0">
              <a:latin typeface="Georgia Pro"/>
            </a:endParaRPr>
          </a:p>
          <a:p>
            <a:endParaRPr lang="en-US" sz="2400" dirty="0">
              <a:solidFill>
                <a:srgbClr val="374151"/>
              </a:solidFill>
              <a:latin typeface="Georgia Pro"/>
              <a:ea typeface="+mn-lt"/>
              <a:cs typeface="+mn-lt"/>
            </a:endParaRPr>
          </a:p>
          <a:p>
            <a:endParaRPr lang="en-US" sz="2400" dirty="0">
              <a:solidFill>
                <a:srgbClr val="374151"/>
              </a:solidFill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496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7D7D1-1235-7EC9-1983-65CB11F94D33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7F2F8-5A30-53F6-2EE6-C6D2417EA2DE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2BE61-366B-2A7B-3EDE-FA555B8F06B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B6F97-FF9F-D056-C357-003C9E5D3BC5}"/>
              </a:ext>
            </a:extLst>
          </p:cNvPr>
          <p:cNvSpPr txBox="1"/>
          <p:nvPr/>
        </p:nvSpPr>
        <p:spPr>
          <a:xfrm>
            <a:off x="1213981" y="591854"/>
            <a:ext cx="10207668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cs typeface="Arial"/>
              </a:rPr>
              <a:t>The simplest logic</a:t>
            </a:r>
            <a:endParaRPr lang="en-US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</a:t>
            </a:r>
            <a:r>
              <a:rPr lang="en-US" sz="2400" b="1" dirty="0">
                <a:latin typeface="Georgia Pro"/>
                <a:cs typeface="Arial"/>
              </a:rPr>
              <a:t>Definition: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</a:t>
            </a:r>
            <a:r>
              <a:rPr lang="en-US" sz="2400" b="1" dirty="0">
                <a:latin typeface="Georgia Pro"/>
                <a:cs typeface="Arial"/>
              </a:rPr>
              <a:t>A proposition is a statement that is either true or false.</a:t>
            </a:r>
            <a:endParaRPr lang="en-US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</a:t>
            </a:r>
            <a:r>
              <a:rPr lang="en-US" sz="2400" b="1" dirty="0">
                <a:latin typeface="Georgia Pro"/>
                <a:cs typeface="Arial"/>
              </a:rPr>
              <a:t>Examples: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Airport is located in the North Part of Dhaka City.</a:t>
            </a:r>
            <a:endParaRPr lang="en-US">
              <a:latin typeface="Georgia Pro"/>
            </a:endParaRPr>
          </a:p>
          <a:p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•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(T)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5 + 2 = 8.</a:t>
            </a:r>
            <a:endParaRPr lang="en-US">
              <a:latin typeface="Georgia Pro"/>
            </a:endParaRPr>
          </a:p>
          <a:p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•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(F)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It is raining today.</a:t>
            </a:r>
            <a:endParaRPr lang="en-US">
              <a:latin typeface="Georgia Pro"/>
            </a:endParaRPr>
          </a:p>
          <a:p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•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(either T or F)</a:t>
            </a:r>
            <a:endParaRPr lang="en-US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75585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AC6-B272-1B66-D7D7-4BDCB6DE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5390"/>
            <a:ext cx="10515600" cy="556157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Georgia Pro"/>
                <a:ea typeface="Calibri" panose="020F0502020204030204"/>
                <a:cs typeface="Arial"/>
              </a:rPr>
              <a:t>– How are you?</a:t>
            </a:r>
            <a:endParaRPr lang="en-US" sz="2400" dirty="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• </a:t>
            </a:r>
            <a:r>
              <a:rPr lang="en-US" sz="2400" b="1" dirty="0">
                <a:latin typeface="Georgia Pro"/>
                <a:ea typeface="Calibri" panose="020F0502020204030204"/>
                <a:cs typeface="Arial"/>
              </a:rPr>
              <a:t>a question is not a proposition</a:t>
            </a:r>
            <a:endParaRPr lang="en-US" sz="2400">
              <a:latin typeface="Georgia Pro"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Georgia Pro"/>
                <a:ea typeface="Calibri" panose="020F0502020204030204"/>
                <a:cs typeface="Arial"/>
              </a:rPr>
              <a:t>– x + 5 = 3</a:t>
            </a: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• </a:t>
            </a:r>
            <a:r>
              <a:rPr lang="en-US" sz="2400" b="1" dirty="0">
                <a:latin typeface="Georgia Pro"/>
                <a:ea typeface="Calibri" panose="020F0502020204030204"/>
                <a:cs typeface="Arial"/>
              </a:rPr>
              <a:t>since x is not specified, neither true nor false</a:t>
            </a:r>
            <a:br>
              <a:rPr lang="en-US" dirty="0"/>
            </a:b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– </a:t>
            </a:r>
            <a:r>
              <a:rPr lang="en-US" sz="2400" dirty="0">
                <a:solidFill>
                  <a:srgbClr val="FF0000"/>
                </a:solidFill>
                <a:latin typeface="Georgia Pro"/>
                <a:ea typeface="Calibri" panose="020F0502020204030204"/>
                <a:cs typeface="Arial"/>
              </a:rPr>
              <a:t>2 is a prime number.</a:t>
            </a: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• </a:t>
            </a:r>
            <a:r>
              <a:rPr lang="en-US" sz="2400" b="1" dirty="0">
                <a:latin typeface="Georgia Pro"/>
                <a:ea typeface="Calibri" panose="020F0502020204030204"/>
                <a:cs typeface="Arial"/>
              </a:rPr>
              <a:t>(T)</a:t>
            </a:r>
            <a:br>
              <a:rPr lang="en-US" dirty="0"/>
            </a:b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– </a:t>
            </a:r>
            <a:r>
              <a:rPr lang="en-US" sz="2400" dirty="0">
                <a:solidFill>
                  <a:srgbClr val="FF0000"/>
                </a:solidFill>
                <a:latin typeface="Georgia Pro"/>
                <a:ea typeface="Calibri" panose="020F0502020204030204"/>
                <a:cs typeface="Arial"/>
              </a:rPr>
              <a:t>She is very talented.</a:t>
            </a: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• </a:t>
            </a:r>
            <a:r>
              <a:rPr lang="en-US" sz="2400" b="1" dirty="0">
                <a:latin typeface="Georgia Pro"/>
                <a:ea typeface="Calibri" panose="020F0502020204030204"/>
                <a:cs typeface="Arial"/>
              </a:rPr>
              <a:t>since she is not specified, neither true nor false</a:t>
            </a:r>
            <a:endParaRPr lang="en-US" sz="2400">
              <a:latin typeface="Georgia Pro"/>
            </a:endParaRPr>
          </a:p>
          <a:p>
            <a:pPr>
              <a:buNone/>
            </a:pPr>
            <a:br>
              <a:rPr lang="en-US" dirty="0"/>
            </a:b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– </a:t>
            </a:r>
            <a:r>
              <a:rPr lang="en-US" sz="2400" dirty="0">
                <a:solidFill>
                  <a:srgbClr val="FF0000"/>
                </a:solidFill>
                <a:latin typeface="Georgia Pro"/>
                <a:ea typeface="Calibri" panose="020F0502020204030204"/>
                <a:cs typeface="Arial"/>
              </a:rPr>
              <a:t>There are other life forms on other planets in the universe.</a:t>
            </a:r>
            <a:endParaRPr lang="en-US" sz="2400">
              <a:latin typeface="Georgia Pro"/>
            </a:endParaRPr>
          </a:p>
          <a:p>
            <a:pPr>
              <a:buNone/>
            </a:pPr>
            <a:r>
              <a:rPr lang="en-US" sz="2400" dirty="0">
                <a:latin typeface="Georgia Pro"/>
                <a:ea typeface="Calibri" panose="020F0502020204030204"/>
                <a:cs typeface="Arial"/>
              </a:rPr>
              <a:t>• </a:t>
            </a:r>
            <a:r>
              <a:rPr lang="en-US" sz="2400" b="1" dirty="0">
                <a:latin typeface="Georgia Pro"/>
                <a:ea typeface="Calibri" panose="020F0502020204030204"/>
                <a:cs typeface="Arial"/>
              </a:rPr>
              <a:t>either T or F</a:t>
            </a:r>
            <a:endParaRPr lang="en-US" sz="2400">
              <a:latin typeface="Georgia Pro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2400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63606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5C96-D2EB-9EAF-A8AC-6EA38D3D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906" y="2550272"/>
            <a:ext cx="6537512" cy="1325563"/>
          </a:xfrm>
        </p:spPr>
        <p:txBody>
          <a:bodyPr/>
          <a:lstStyle/>
          <a:p>
            <a:r>
              <a:rPr lang="en-US" b="1" dirty="0">
                <a:latin typeface="Georgia Pro"/>
                <a:ea typeface="Calibri Light"/>
                <a:cs typeface="Calibri Light"/>
              </a:rPr>
              <a:t>Propositional Logic</a:t>
            </a:r>
            <a:endParaRPr lang="en-US" b="1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98032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1CA471-8F21-8D9F-91DC-812499F21C15}"/>
              </a:ext>
            </a:extLst>
          </p:cNvPr>
          <p:cNvSpPr txBox="1"/>
          <p:nvPr/>
        </p:nvSpPr>
        <p:spPr>
          <a:xfrm>
            <a:off x="2056065" y="1392430"/>
            <a:ext cx="9022976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sentential logic or propositional logic</a:t>
            </a:r>
            <a:endParaRPr lang="en-US">
              <a:latin typeface="Georgia Pro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a branch of formal logic </a:t>
            </a:r>
            <a:endParaRPr lang="en-US">
              <a:solidFill>
                <a:srgbClr val="000000"/>
              </a:solidFill>
              <a:latin typeface="Georgia Pro"/>
              <a:ea typeface="+mn-lt"/>
              <a:cs typeface="+mn-lt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+mn-lt"/>
                <a:cs typeface="+mn-lt"/>
              </a:rPr>
              <a:t>deals with propositions (statements or assertions) and the logical relationships between them</a:t>
            </a:r>
            <a:endParaRPr lang="en-US" sz="2400" dirty="0">
              <a:solidFill>
                <a:srgbClr val="374151"/>
              </a:solidFill>
              <a:latin typeface="Georgia Pro"/>
              <a:ea typeface="Calibri"/>
              <a:cs typeface="Calibri"/>
            </a:endParaRPr>
          </a:p>
          <a:p>
            <a:endParaRPr lang="en-US" sz="2400" dirty="0">
              <a:solidFill>
                <a:srgbClr val="374151"/>
              </a:solidFill>
              <a:latin typeface="Georgia Pro"/>
              <a:ea typeface="Calibri"/>
              <a:cs typeface="Calibri"/>
            </a:endParaRPr>
          </a:p>
          <a:p>
            <a:pPr>
              <a:buFont typeface="Wingdings"/>
            </a:pPr>
            <a:r>
              <a:rPr lang="en-US" sz="2400" dirty="0">
                <a:solidFill>
                  <a:srgbClr val="374151"/>
                </a:solidFill>
                <a:latin typeface="Georgia Pro"/>
                <a:ea typeface="Calibri"/>
                <a:cs typeface="Calibri"/>
              </a:rPr>
              <a:t>So:</a:t>
            </a:r>
          </a:p>
          <a:p>
            <a:r>
              <a:rPr lang="en-US" sz="2200" b="1" dirty="0">
                <a:solidFill>
                  <a:srgbClr val="000000"/>
                </a:solidFill>
                <a:latin typeface="Georgia Pro"/>
                <a:ea typeface="Calibri"/>
                <a:cs typeface="Segoe UI"/>
              </a:rPr>
              <a:t> Propositional logic:</a:t>
            </a:r>
            <a:endParaRPr lang="en-US" sz="2200">
              <a:solidFill>
                <a:srgbClr val="000000"/>
              </a:solidFill>
              <a:latin typeface="Georgia Pro"/>
              <a:ea typeface="Calibri"/>
              <a:cs typeface="Segoe UI"/>
            </a:endParaRPr>
          </a:p>
          <a:p>
            <a:r>
              <a:rPr lang="en-US" sz="2200" dirty="0">
                <a:solidFill>
                  <a:srgbClr val="000000"/>
                </a:solidFill>
                <a:latin typeface="Georgia Pro"/>
                <a:ea typeface="Calibri"/>
                <a:cs typeface="Segoe UI"/>
              </a:rPr>
              <a:t>area of logic that studies ways of joining and/or modifying propositions to form more complicated propositions and it also studies the logical relationships and properties derived from these combined/altered propositions. </a:t>
            </a:r>
            <a:endParaRPr lang="en-US">
              <a:latin typeface="Georgia Pro"/>
            </a:endParaRPr>
          </a:p>
          <a:p>
            <a:endParaRPr lang="en-US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978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EDCFB-7F93-B400-9128-2E6E9B27F1FF}"/>
              </a:ext>
            </a:extLst>
          </p:cNvPr>
          <p:cNvSpPr txBox="1"/>
          <p:nvPr/>
        </p:nvSpPr>
        <p:spPr>
          <a:xfrm>
            <a:off x="98611" y="877420"/>
            <a:ext cx="1200822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Georgia Pro"/>
                <a:cs typeface="Arial"/>
              </a:rPr>
              <a:t>Composite Proposition:</a:t>
            </a:r>
            <a:r>
              <a:rPr lang="en-US" sz="2200" dirty="0">
                <a:latin typeface="Georgia Pro"/>
                <a:cs typeface="Arial"/>
              </a:rPr>
              <a:t> More complex propositional statements can be built from</a:t>
            </a:r>
            <a:endParaRPr lang="en-US" sz="2200" b="1" dirty="0">
              <a:latin typeface="Georgia Pro"/>
              <a:cs typeface="Arial"/>
            </a:endParaRPr>
          </a:p>
          <a:p>
            <a:r>
              <a:rPr lang="en-US" sz="2200" dirty="0">
                <a:latin typeface="Georgia Pro"/>
                <a:cs typeface="Arial"/>
              </a:rPr>
              <a:t>elementary statements using </a:t>
            </a:r>
            <a:r>
              <a:rPr lang="en-US" sz="2200" dirty="0">
                <a:solidFill>
                  <a:srgbClr val="000000"/>
                </a:solidFill>
                <a:latin typeface="Georgia Pro"/>
                <a:cs typeface="Arial"/>
              </a:rPr>
              <a:t>logical connectives</a:t>
            </a:r>
            <a:r>
              <a:rPr lang="en-US" sz="2200" dirty="0">
                <a:latin typeface="Georgia Pro"/>
                <a:cs typeface="Arial"/>
              </a:rPr>
              <a:t>.</a:t>
            </a:r>
            <a:endParaRPr lang="en-US" sz="2400">
              <a:latin typeface="Arial"/>
              <a:cs typeface="Arial"/>
            </a:endParaRPr>
          </a:p>
          <a:p>
            <a:endParaRPr lang="en-US" sz="2200" dirty="0">
              <a:latin typeface="Georgia Pro"/>
              <a:cs typeface="Arial"/>
            </a:endParaRPr>
          </a:p>
          <a:p>
            <a:r>
              <a:rPr lang="en-US" sz="2200" dirty="0">
                <a:latin typeface="Georgia Pro"/>
                <a:cs typeface="Arial"/>
              </a:rPr>
              <a:t>What does this definition really mean?</a:t>
            </a:r>
          </a:p>
          <a:p>
            <a:endParaRPr lang="en-US" sz="2200" dirty="0">
              <a:latin typeface="Georgia Pro"/>
              <a:cs typeface="Arial"/>
            </a:endParaRPr>
          </a:p>
          <a:p>
            <a:r>
              <a:rPr lang="en-US" sz="2200" dirty="0">
                <a:latin typeface="Georgia Pro"/>
                <a:cs typeface="Arial"/>
              </a:rPr>
              <a:t>Statement 1 - "Adam is good in playing football" </a:t>
            </a:r>
          </a:p>
          <a:p>
            <a:r>
              <a:rPr lang="en-US" sz="2200" dirty="0">
                <a:latin typeface="Georgia Pro"/>
                <a:cs typeface="Arial"/>
              </a:rPr>
              <a:t>Statement 2 - "This time Adam is representing his college at National level in Football."   </a:t>
            </a:r>
          </a:p>
        </p:txBody>
      </p:sp>
      <p:pic>
        <p:nvPicPr>
          <p:cNvPr id="8" name="Picture 7" descr="A red rectangle with black text&#10;&#10;Description automatically generated">
            <a:extLst>
              <a:ext uri="{FF2B5EF4-FFF2-40B4-BE49-F238E27FC236}">
                <a16:creationId xmlns:a16="http://schemas.microsoft.com/office/drawing/2014/main" id="{96518439-2667-18C9-5E7C-3083ABCA2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3" y="3790717"/>
            <a:ext cx="12112546" cy="11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6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79FC64-C331-822F-93D1-EF79E2ABAE90}"/>
              </a:ext>
            </a:extLst>
          </p:cNvPr>
          <p:cNvSpPr txBox="1"/>
          <p:nvPr/>
        </p:nvSpPr>
        <p:spPr>
          <a:xfrm>
            <a:off x="1079326" y="206679"/>
            <a:ext cx="10196186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Georgia Pro"/>
                <a:cs typeface="Arial"/>
              </a:rPr>
              <a:t>Example:</a:t>
            </a:r>
            <a:endParaRPr lang="en-US">
              <a:latin typeface="Georgia Pro"/>
            </a:endParaRPr>
          </a:p>
          <a:p>
            <a:r>
              <a:rPr lang="en-US" sz="2000" dirty="0">
                <a:latin typeface="Georgia Pro"/>
                <a:cs typeface="Arial"/>
              </a:rPr>
              <a:t>• Proposition A: </a:t>
            </a:r>
            <a:r>
              <a:rPr lang="en-US" sz="2000" dirty="0">
                <a:solidFill>
                  <a:srgbClr val="FF0000"/>
                </a:solidFill>
                <a:latin typeface="Georgia Pro"/>
                <a:cs typeface="Arial"/>
              </a:rPr>
              <a:t>It rains outside</a:t>
            </a:r>
            <a:endParaRPr lang="en-US">
              <a:latin typeface="Georgia Pro"/>
            </a:endParaRPr>
          </a:p>
          <a:p>
            <a:r>
              <a:rPr lang="en-US" sz="2000" dirty="0">
                <a:latin typeface="Georgia Pro"/>
                <a:cs typeface="Arial"/>
              </a:rPr>
              <a:t>• Proposition B: </a:t>
            </a:r>
            <a:r>
              <a:rPr lang="en-US" sz="2000" dirty="0">
                <a:solidFill>
                  <a:srgbClr val="FF0000"/>
                </a:solidFill>
                <a:latin typeface="Georgia Pro"/>
                <a:cs typeface="Arial"/>
              </a:rPr>
              <a:t>We will see a movie</a:t>
            </a:r>
            <a:endParaRPr lang="en-US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000" dirty="0">
                <a:latin typeface="Georgia Pro"/>
                <a:cs typeface="Arial"/>
              </a:rPr>
              <a:t>• A new (combined) proposition:</a:t>
            </a:r>
            <a:endParaRPr lang="en-US">
              <a:latin typeface="Georgia Pro"/>
            </a:endParaRPr>
          </a:p>
          <a:p>
            <a:r>
              <a:rPr lang="en-US" sz="2000" dirty="0">
                <a:latin typeface="Georgia Pro"/>
                <a:cs typeface="Arial"/>
              </a:rPr>
              <a:t>If</a:t>
            </a:r>
            <a:r>
              <a:rPr lang="en-US" sz="2000" dirty="0">
                <a:solidFill>
                  <a:srgbClr val="FF0000"/>
                </a:solidFill>
                <a:latin typeface="Georgia Pro"/>
                <a:cs typeface="Arial"/>
              </a:rPr>
              <a:t> it rains outside </a:t>
            </a:r>
            <a:r>
              <a:rPr lang="en-US" sz="2000" dirty="0">
                <a:latin typeface="Georgia Pro"/>
                <a:cs typeface="Arial"/>
              </a:rPr>
              <a:t>then </a:t>
            </a:r>
            <a:r>
              <a:rPr lang="en-US" sz="2000" dirty="0">
                <a:solidFill>
                  <a:srgbClr val="FF0000"/>
                </a:solidFill>
                <a:latin typeface="Georgia Pro"/>
                <a:cs typeface="Arial"/>
              </a:rPr>
              <a:t>we will see a movie</a:t>
            </a:r>
            <a:endParaRPr lang="en-US">
              <a:latin typeface="Georgia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BDCBC-DC72-92BE-51A8-F600066A5C53}"/>
              </a:ext>
            </a:extLst>
          </p:cNvPr>
          <p:cNvSpPr txBox="1"/>
          <p:nvPr/>
        </p:nvSpPr>
        <p:spPr>
          <a:xfrm>
            <a:off x="1308969" y="2973887"/>
            <a:ext cx="7865301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Logical connectives: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Negation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Conjunction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Disjunction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Exclusive or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Implication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</a:t>
            </a:r>
            <a:r>
              <a:rPr lang="en-US" sz="2400" err="1">
                <a:latin typeface="Georgia Pro"/>
                <a:cs typeface="Arial"/>
              </a:rPr>
              <a:t>Biconditiona</a:t>
            </a:r>
            <a:endParaRPr lang="en-US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50304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4B808-2F6F-F32D-3CE3-DCF2BBD8E13D}"/>
              </a:ext>
            </a:extLst>
          </p:cNvPr>
          <p:cNvSpPr txBox="1"/>
          <p:nvPr/>
        </p:nvSpPr>
        <p:spPr>
          <a:xfrm>
            <a:off x="596029" y="72024"/>
            <a:ext cx="109884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Arial"/>
                <a:cs typeface="Arial"/>
              </a:rPr>
              <a:t>Logical connectives: Negation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D739B-787A-C68C-572D-7229B0FDF787}"/>
              </a:ext>
            </a:extLst>
          </p:cNvPr>
          <p:cNvSpPr txBox="1"/>
          <p:nvPr/>
        </p:nvSpPr>
        <p:spPr>
          <a:xfrm>
            <a:off x="932145" y="853857"/>
            <a:ext cx="10655474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cs typeface="Arial"/>
              </a:rPr>
              <a:t>Definition: Let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</a:t>
            </a:r>
            <a:r>
              <a:rPr lang="en-US" sz="2400" b="1" dirty="0">
                <a:latin typeface="Georgia Pro"/>
                <a:cs typeface="Arial"/>
              </a:rPr>
              <a:t> be a proposition. The statement "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It is not the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case that p</a:t>
            </a:r>
            <a:r>
              <a:rPr lang="en-US" sz="2400" dirty="0">
                <a:latin typeface="Georgia Pro"/>
                <a:cs typeface="Arial"/>
              </a:rPr>
              <a:t>." is another proposition, called the </a:t>
            </a:r>
            <a:r>
              <a:rPr lang="en-US" sz="2400" b="1" dirty="0">
                <a:latin typeface="Georgia Pro"/>
                <a:cs typeface="Arial"/>
              </a:rPr>
              <a:t>negation of p. The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negation of p </a:t>
            </a:r>
            <a:r>
              <a:rPr lang="en-US" sz="2400" dirty="0">
                <a:latin typeface="Georgia Pro"/>
                <a:cs typeface="Arial"/>
              </a:rPr>
              <a:t>is denoted by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¬ p</a:t>
            </a:r>
            <a:r>
              <a:rPr lang="en-US" sz="2400" dirty="0">
                <a:latin typeface="Georgia Pro"/>
                <a:cs typeface="Arial"/>
              </a:rPr>
              <a:t> and read as "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not p</a:t>
            </a:r>
            <a:r>
              <a:rPr lang="en-US" sz="2400" dirty="0">
                <a:latin typeface="Georgia Pro"/>
                <a:cs typeface="Arial"/>
              </a:rPr>
              <a:t>."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b="1" dirty="0">
                <a:latin typeface="Georgia Pro"/>
                <a:cs typeface="Arial"/>
              </a:rPr>
              <a:t>Example:</a:t>
            </a:r>
            <a:endParaRPr lang="en-US" dirty="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Airport is located in the North Part of Dhaka City.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It is not the case that </a:t>
            </a:r>
            <a:r>
              <a:rPr lang="en-US" sz="2400" dirty="0">
                <a:latin typeface="Georgia Pro"/>
                <a:cs typeface="Arial"/>
              </a:rPr>
              <a:t>Airport is located in the North Part of Dhaka City. 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b="1" dirty="0">
                <a:latin typeface="Georgia Pro"/>
                <a:cs typeface="Arial"/>
              </a:rPr>
              <a:t>Other examples:</a:t>
            </a:r>
            <a:endParaRPr lang="en-US" dirty="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5 + 2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≠</a:t>
            </a:r>
            <a:r>
              <a:rPr lang="en-US" sz="2400" dirty="0">
                <a:latin typeface="Georgia Pro"/>
                <a:cs typeface="Arial"/>
              </a:rPr>
              <a:t> 8.</a:t>
            </a:r>
            <a:endParaRPr lang="en-US" dirty="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10 is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not</a:t>
            </a:r>
            <a:r>
              <a:rPr lang="en-US" sz="2400" dirty="0">
                <a:latin typeface="Georgia Pro"/>
                <a:cs typeface="Arial"/>
              </a:rPr>
              <a:t> a prime number.</a:t>
            </a:r>
            <a:endParaRPr lang="en-US" dirty="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It is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not the case that </a:t>
            </a:r>
            <a:r>
              <a:rPr lang="en-US" sz="2400" dirty="0">
                <a:latin typeface="Georgia Pro"/>
                <a:cs typeface="Arial"/>
              </a:rPr>
              <a:t>buses stop running at 9:00pm.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394108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32771-D295-D5ED-D598-E8DDFC85890D}"/>
              </a:ext>
            </a:extLst>
          </p:cNvPr>
          <p:cNvSpPr txBox="1"/>
          <p:nvPr/>
        </p:nvSpPr>
        <p:spPr>
          <a:xfrm>
            <a:off x="914400" y="1441076"/>
            <a:ext cx="1075540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cs typeface="Arial"/>
              </a:rPr>
              <a:t>Negate the following propositions:</a:t>
            </a:r>
            <a:br>
              <a:rPr lang="en-US" sz="2400" dirty="0">
                <a:latin typeface="Georgia Pro"/>
              </a:rPr>
            </a:br>
            <a:r>
              <a:rPr lang="en-US" sz="2400" dirty="0">
                <a:latin typeface="Georgia Pro"/>
                <a:cs typeface="Arial"/>
              </a:rPr>
              <a:t>– It is raining today.</a:t>
            </a:r>
          </a:p>
          <a:p>
            <a:r>
              <a:rPr lang="en-US" sz="2400" dirty="0">
                <a:latin typeface="Georgia Pro"/>
                <a:cs typeface="Arial"/>
              </a:rPr>
              <a:t>• It is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not</a:t>
            </a:r>
            <a:r>
              <a:rPr lang="en-US" sz="2400" dirty="0">
                <a:latin typeface="Georgia Pro"/>
                <a:cs typeface="Arial"/>
              </a:rPr>
              <a:t> raining today.</a:t>
            </a:r>
          </a:p>
          <a:p>
            <a:br>
              <a:rPr lang="en-US" sz="2400" dirty="0">
                <a:latin typeface="Georgia Pro"/>
              </a:rPr>
            </a:br>
            <a:r>
              <a:rPr lang="en-US" sz="2400" dirty="0">
                <a:latin typeface="Georgia Pro"/>
                <a:cs typeface="Arial"/>
              </a:rPr>
              <a:t>– 2 is a prime number.</a:t>
            </a:r>
          </a:p>
          <a:p>
            <a:r>
              <a:rPr lang="en-US" sz="2400" dirty="0">
                <a:latin typeface="Georgia Pro"/>
                <a:cs typeface="Arial"/>
              </a:rPr>
              <a:t>• 2 is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not</a:t>
            </a:r>
            <a:r>
              <a:rPr lang="en-US" sz="2400" dirty="0">
                <a:latin typeface="Georgia Pro"/>
                <a:cs typeface="Arial"/>
              </a:rPr>
              <a:t> a prime number</a:t>
            </a:r>
          </a:p>
          <a:p>
            <a:br>
              <a:rPr lang="en-US" sz="2400" dirty="0">
                <a:latin typeface="Georgia Pro"/>
              </a:rPr>
            </a:br>
            <a:r>
              <a:rPr lang="en-US" sz="2400" dirty="0">
                <a:latin typeface="Georgia Pro"/>
                <a:cs typeface="Arial"/>
              </a:rPr>
              <a:t>– There are other life forms on other planets in the universe.</a:t>
            </a:r>
          </a:p>
          <a:p>
            <a:r>
              <a:rPr lang="en-US" sz="2400" dirty="0">
                <a:latin typeface="Georgia Pro"/>
                <a:cs typeface="Arial"/>
              </a:rPr>
              <a:t>• 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It is not the case that </a:t>
            </a:r>
            <a:r>
              <a:rPr lang="en-US" sz="2400" dirty="0">
                <a:latin typeface="Georgia Pro"/>
                <a:cs typeface="Arial"/>
              </a:rPr>
              <a:t>there are other life forms on other planets in the universe.</a:t>
            </a:r>
            <a:endParaRPr lang="en-US" sz="2400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776395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0A8461-87C4-4F61-127B-DEF7D53786B0}"/>
              </a:ext>
            </a:extLst>
          </p:cNvPr>
          <p:cNvSpPr txBox="1"/>
          <p:nvPr/>
        </p:nvSpPr>
        <p:spPr>
          <a:xfrm>
            <a:off x="321860" y="452650"/>
            <a:ext cx="1165063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Georgia Pro"/>
                <a:cs typeface="Arial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truth table </a:t>
            </a:r>
            <a:r>
              <a:rPr lang="en-US" sz="2400" b="1" dirty="0">
                <a:latin typeface="Georgia Pro"/>
                <a:cs typeface="Arial"/>
              </a:rPr>
              <a:t>displays the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relationships between truth values</a:t>
            </a:r>
            <a:r>
              <a:rPr lang="en-US" sz="2400" b="1" dirty="0">
                <a:latin typeface="Georgia Pro"/>
                <a:cs typeface="Arial"/>
              </a:rPr>
              <a:t> (T or F) of different propositions.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CA63C8-081A-DBC7-9EFD-0E261DEB6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654193"/>
              </p:ext>
            </p:extLst>
          </p:nvPr>
        </p:nvGraphicFramePr>
        <p:xfrm>
          <a:off x="2139863" y="2546959"/>
          <a:ext cx="8152794" cy="1318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397">
                  <a:extLst>
                    <a:ext uri="{9D8B030D-6E8A-4147-A177-3AD203B41FA5}">
                      <a16:colId xmlns:a16="http://schemas.microsoft.com/office/drawing/2014/main" val="308370729"/>
                    </a:ext>
                  </a:extLst>
                </a:gridCol>
                <a:gridCol w="4076397">
                  <a:extLst>
                    <a:ext uri="{9D8B030D-6E8A-4147-A177-3AD203B41FA5}">
                      <a16:colId xmlns:a16="http://schemas.microsoft.com/office/drawing/2014/main" val="3881882821"/>
                    </a:ext>
                  </a:extLst>
                </a:gridCol>
              </a:tblGrid>
              <a:tr h="4393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P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¬ p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07535"/>
                  </a:ext>
                </a:extLst>
              </a:tr>
              <a:tr h="4393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T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F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553392"/>
                  </a:ext>
                </a:extLst>
              </a:tr>
              <a:tr h="4393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F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T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6137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6AD26E-FAF9-F633-531B-CFFAFFAA89B6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E1FB2-9773-791B-A03E-FAE40E5833D6}"/>
              </a:ext>
            </a:extLst>
          </p:cNvPr>
          <p:cNvSpPr txBox="1"/>
          <p:nvPr/>
        </p:nvSpPr>
        <p:spPr>
          <a:xfrm>
            <a:off x="949138" y="406773"/>
            <a:ext cx="106747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latin typeface="Georgia Pro"/>
                <a:ea typeface="Arial"/>
                <a:cs typeface="Arial"/>
              </a:rPr>
              <a:t>Logical connectives: Conjunction</a:t>
            </a:r>
            <a:endParaRPr lang="en-US" dirty="0">
              <a:latin typeface="Georgia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F3079-1685-EA61-F45E-FBA71198247A}"/>
              </a:ext>
            </a:extLst>
          </p:cNvPr>
          <p:cNvSpPr txBox="1"/>
          <p:nvPr/>
        </p:nvSpPr>
        <p:spPr>
          <a:xfrm>
            <a:off x="240926" y="1511674"/>
            <a:ext cx="11365006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cs typeface="Arial"/>
              </a:rPr>
              <a:t>Definition: </a:t>
            </a:r>
            <a:endParaRPr lang="en-US" sz="2400">
              <a:latin typeface="Georgia Pro"/>
              <a:cs typeface="Arial"/>
            </a:endParaRPr>
          </a:p>
          <a:p>
            <a:r>
              <a:rPr lang="en-US" sz="2400" b="1" dirty="0">
                <a:latin typeface="Georgia Pro"/>
                <a:cs typeface="Arial"/>
              </a:rPr>
              <a:t>Let p and q be propositions. </a:t>
            </a:r>
            <a:endParaRPr lang="en-US" sz="2400" dirty="0">
              <a:latin typeface="Georgia Pro"/>
              <a:cs typeface="Arial"/>
            </a:endParaRPr>
          </a:p>
          <a:p>
            <a:r>
              <a:rPr lang="en-US" sz="2400" b="1" dirty="0">
                <a:latin typeface="Georgia Pro"/>
                <a:cs typeface="Arial"/>
              </a:rPr>
              <a:t>The proposition “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and q</a:t>
            </a:r>
            <a:r>
              <a:rPr lang="en-US" sz="2400" b="1" dirty="0">
                <a:latin typeface="Georgia Pro"/>
                <a:cs typeface="Arial"/>
              </a:rPr>
              <a:t>" denoted by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˄ q</a:t>
            </a:r>
            <a:r>
              <a:rPr lang="en-US" sz="2400" b="1" dirty="0">
                <a:latin typeface="Georgia Pro"/>
                <a:cs typeface="Arial"/>
              </a:rPr>
              <a:t>, is true when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both p and q are true </a:t>
            </a:r>
            <a:r>
              <a:rPr lang="en-US" sz="2400" dirty="0">
                <a:latin typeface="Georgia Pro"/>
                <a:cs typeface="Arial"/>
              </a:rPr>
              <a:t>and is false otherwise. </a:t>
            </a:r>
            <a:endParaRPr lang="en-US" sz="2400">
              <a:latin typeface="Georgia Pro"/>
              <a:cs typeface="Arial"/>
            </a:endParaRPr>
          </a:p>
          <a:p>
            <a:r>
              <a:rPr lang="en-US" sz="2400" dirty="0">
                <a:latin typeface="Georgia Pro"/>
                <a:cs typeface="Arial"/>
              </a:rPr>
              <a:t>The proposition p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˄</a:t>
            </a:r>
            <a:r>
              <a:rPr lang="en-US" sz="2400" dirty="0">
                <a:latin typeface="Georgia Pro"/>
                <a:cs typeface="Arial"/>
              </a:rPr>
              <a:t> q is called the </a:t>
            </a:r>
            <a:r>
              <a:rPr lang="en-US" sz="2400" b="1" dirty="0">
                <a:latin typeface="Georgia Pro"/>
                <a:cs typeface="Arial"/>
              </a:rPr>
              <a:t>conjunction of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and q</a:t>
            </a:r>
            <a:r>
              <a:rPr lang="en-US" sz="2400" b="1" dirty="0">
                <a:latin typeface="Georgia Pro"/>
                <a:cs typeface="Arial"/>
              </a:rPr>
              <a:t>.</a:t>
            </a:r>
            <a:endParaRPr lang="en-US" sz="2400">
              <a:latin typeface="Georgia Pro"/>
            </a:endParaRPr>
          </a:p>
          <a:p>
            <a:br>
              <a:rPr lang="en-US" dirty="0"/>
            </a:b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</a:t>
            </a:r>
            <a:r>
              <a:rPr lang="en-US" sz="2400" b="1" dirty="0">
                <a:latin typeface="Georgia Pro"/>
                <a:cs typeface="Arial"/>
              </a:rPr>
              <a:t>Examples:</a:t>
            </a: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It is raining today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and</a:t>
            </a:r>
            <a:r>
              <a:rPr lang="en-US" sz="2400" dirty="0">
                <a:latin typeface="Georgia Pro"/>
                <a:cs typeface="Arial"/>
              </a:rPr>
              <a:t> 2 is a prime number.</a:t>
            </a: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2 is a prime number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and</a:t>
            </a:r>
            <a:r>
              <a:rPr lang="en-US" sz="2400" dirty="0">
                <a:latin typeface="Georgia Pro"/>
                <a:cs typeface="Arial"/>
              </a:rPr>
              <a:t> 5 + 2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≠ </a:t>
            </a:r>
            <a:r>
              <a:rPr lang="en-US" sz="2400" dirty="0">
                <a:latin typeface="Georgia Pro"/>
                <a:cs typeface="Arial"/>
              </a:rPr>
              <a:t>8.</a:t>
            </a: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13 is a perfect square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and</a:t>
            </a:r>
            <a:r>
              <a:rPr lang="en-US" sz="2400" dirty="0">
                <a:latin typeface="Georgia Pro"/>
                <a:cs typeface="Arial"/>
              </a:rPr>
              <a:t> 9 is prime.</a:t>
            </a:r>
            <a:endParaRPr lang="en-US" sz="2400">
              <a:latin typeface="Georgia Pro"/>
            </a:endParaRPr>
          </a:p>
          <a:p>
            <a:br>
              <a:rPr lang="en-US" dirty="0"/>
            </a:br>
            <a:br>
              <a:rPr lang="en-US" dirty="0"/>
            </a:br>
            <a:endParaRPr lang="en-US" sz="2400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13188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C133D4-7486-5A5A-C7CC-5F12076C6F82}"/>
              </a:ext>
            </a:extLst>
          </p:cNvPr>
          <p:cNvSpPr txBox="1"/>
          <p:nvPr/>
        </p:nvSpPr>
        <p:spPr>
          <a:xfrm>
            <a:off x="1118346" y="208428"/>
            <a:ext cx="10292603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Georgia Pro"/>
                <a:cs typeface="Arial"/>
              </a:rPr>
              <a:t>Logical connectives: Disjunction</a:t>
            </a:r>
            <a:endParaRPr lang="en-US" dirty="0">
              <a:latin typeface="Georgia Pro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07672-DA39-2079-E815-221160D982FB}"/>
              </a:ext>
            </a:extLst>
          </p:cNvPr>
          <p:cNvSpPr txBox="1"/>
          <p:nvPr/>
        </p:nvSpPr>
        <p:spPr>
          <a:xfrm>
            <a:off x="262999" y="1259540"/>
            <a:ext cx="1184573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cs typeface="Arial"/>
              </a:rPr>
              <a:t>Definition: </a:t>
            </a:r>
            <a:endParaRPr lang="en-US">
              <a:latin typeface="Georgia Pro"/>
              <a:ea typeface="Calibri" panose="020F0502020204030204"/>
              <a:cs typeface="Calibri" panose="020F0502020204030204"/>
            </a:endParaRPr>
          </a:p>
          <a:p>
            <a:r>
              <a:rPr lang="en-US" sz="2400" b="1" dirty="0">
                <a:latin typeface="Georgia Pro"/>
                <a:cs typeface="Arial"/>
              </a:rPr>
              <a:t>Let p and q be propositions. </a:t>
            </a:r>
            <a:endParaRPr lang="en-US" dirty="0">
              <a:latin typeface="Georgia Pro"/>
              <a:ea typeface="Calibri"/>
              <a:cs typeface="Calibri"/>
            </a:endParaRPr>
          </a:p>
          <a:p>
            <a:r>
              <a:rPr lang="en-US" sz="2400" b="1" dirty="0">
                <a:latin typeface="Georgia Pro"/>
                <a:cs typeface="Arial"/>
              </a:rPr>
              <a:t>The proposition “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or q</a:t>
            </a:r>
            <a:r>
              <a:rPr lang="en-US" sz="2400" b="1" dirty="0">
                <a:latin typeface="Georgia Pro"/>
                <a:cs typeface="Arial"/>
              </a:rPr>
              <a:t>" denoted by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˅ q</a:t>
            </a:r>
            <a:r>
              <a:rPr lang="en-US" sz="2400" b="1" dirty="0">
                <a:latin typeface="Georgia Pro"/>
                <a:cs typeface="Arial"/>
              </a:rPr>
              <a:t>, is false when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both p and q are false </a:t>
            </a:r>
            <a:r>
              <a:rPr lang="en-US" sz="2400" dirty="0">
                <a:latin typeface="Georgia Pro"/>
                <a:cs typeface="Arial"/>
              </a:rPr>
              <a:t>and is true otherwise. </a:t>
            </a:r>
            <a:endParaRPr lang="en-US">
              <a:latin typeface="Georgia Pro"/>
              <a:ea typeface="Calibri"/>
              <a:cs typeface="Calibri"/>
            </a:endParaRPr>
          </a:p>
          <a:p>
            <a:r>
              <a:rPr lang="en-US" sz="2400" dirty="0">
                <a:latin typeface="Georgia Pro"/>
                <a:cs typeface="Arial"/>
              </a:rPr>
              <a:t>The proposition p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˅</a:t>
            </a:r>
            <a:r>
              <a:rPr lang="en-US" sz="2400" dirty="0">
                <a:latin typeface="Georgia Pro"/>
                <a:cs typeface="Arial"/>
              </a:rPr>
              <a:t> q is called the </a:t>
            </a:r>
            <a:r>
              <a:rPr lang="en-US" sz="2400" b="1" dirty="0">
                <a:latin typeface="Georgia Pro"/>
                <a:cs typeface="Arial"/>
              </a:rPr>
              <a:t>disjunction of </a:t>
            </a:r>
            <a:r>
              <a:rPr lang="en-US" sz="2400" b="1" dirty="0">
                <a:solidFill>
                  <a:srgbClr val="FF0000"/>
                </a:solidFill>
                <a:latin typeface="Georgia Pro"/>
                <a:cs typeface="Arial"/>
              </a:rPr>
              <a:t>p or q</a:t>
            </a:r>
            <a:r>
              <a:rPr lang="en-US" sz="2400" b="1" dirty="0">
                <a:latin typeface="Georgia Pro"/>
                <a:cs typeface="Arial"/>
              </a:rPr>
              <a:t>.</a:t>
            </a:r>
            <a:endParaRPr lang="en-US">
              <a:latin typeface="Georgia Pro"/>
              <a:ea typeface="Calibri"/>
              <a:cs typeface="Calibri"/>
            </a:endParaRPr>
          </a:p>
          <a:p>
            <a:br>
              <a:rPr lang="en-US" dirty="0"/>
            </a:b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• </a:t>
            </a:r>
            <a:r>
              <a:rPr lang="en-US" sz="2400" b="1" dirty="0">
                <a:latin typeface="Georgia Pro"/>
                <a:cs typeface="Arial"/>
              </a:rPr>
              <a:t>Examples: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It is raining today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or</a:t>
            </a:r>
            <a:r>
              <a:rPr lang="en-US" sz="2400" dirty="0">
                <a:latin typeface="Georgia Pro"/>
                <a:cs typeface="Arial"/>
              </a:rPr>
              <a:t> 2 is a prime number.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2 is a prime number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or</a:t>
            </a:r>
            <a:r>
              <a:rPr lang="en-US" sz="2400" dirty="0">
                <a:latin typeface="Georgia Pro"/>
                <a:cs typeface="Arial"/>
              </a:rPr>
              <a:t> 5 + 2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≠ </a:t>
            </a:r>
            <a:r>
              <a:rPr lang="en-US" sz="2400" dirty="0">
                <a:latin typeface="Georgia Pro"/>
                <a:cs typeface="Arial"/>
              </a:rPr>
              <a:t>8.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cs typeface="Arial"/>
              </a:rPr>
              <a:t>– 13 is a perfect square </a:t>
            </a:r>
            <a:r>
              <a:rPr lang="en-US" sz="2400" dirty="0">
                <a:solidFill>
                  <a:srgbClr val="FF0000"/>
                </a:solidFill>
                <a:latin typeface="Georgia Pro"/>
                <a:cs typeface="Arial"/>
              </a:rPr>
              <a:t>or</a:t>
            </a:r>
            <a:r>
              <a:rPr lang="en-US" sz="2400" dirty="0">
                <a:latin typeface="Georgia Pro"/>
                <a:cs typeface="Arial"/>
              </a:rPr>
              <a:t> 9 is a prime.</a:t>
            </a:r>
            <a:endParaRPr lang="en-US">
              <a:latin typeface="Georgia Pro"/>
            </a:endParaRPr>
          </a:p>
          <a:p>
            <a:br>
              <a:rPr lang="en-US" dirty="0"/>
            </a:br>
            <a:br>
              <a:rPr lang="en-US" dirty="0"/>
            </a:br>
            <a:endParaRPr lang="en-US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93238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65AF7A-E70B-30B9-0916-A6A532545C77}"/>
              </a:ext>
            </a:extLst>
          </p:cNvPr>
          <p:cNvSpPr txBox="1"/>
          <p:nvPr/>
        </p:nvSpPr>
        <p:spPr>
          <a:xfrm>
            <a:off x="924485" y="640976"/>
            <a:ext cx="1084729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latin typeface="Georgia Pro"/>
                <a:ea typeface="Calibri"/>
                <a:cs typeface="Arial"/>
              </a:rPr>
              <a:t> Conjunction and disjunction</a:t>
            </a:r>
            <a:endParaRPr lang="en-US">
              <a:latin typeface="Georgia Pro"/>
            </a:endParaRPr>
          </a:p>
          <a:p>
            <a:r>
              <a:rPr lang="en-US" sz="2400" dirty="0">
                <a:latin typeface="Georgia Pro"/>
                <a:ea typeface="Calibri"/>
                <a:cs typeface="Arial"/>
              </a:rPr>
              <a:t>• Four different combinations of values for p and q</a:t>
            </a:r>
            <a:endParaRPr lang="en-US" dirty="0">
              <a:latin typeface="Georgia Pro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89B878-EBFE-0FBF-654C-DBA416A06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47062"/>
              </p:ext>
            </p:extLst>
          </p:nvPr>
        </p:nvGraphicFramePr>
        <p:xfrm>
          <a:off x="1479176" y="2319617"/>
          <a:ext cx="86788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718">
                  <a:extLst>
                    <a:ext uri="{9D8B030D-6E8A-4147-A177-3AD203B41FA5}">
                      <a16:colId xmlns:a16="http://schemas.microsoft.com/office/drawing/2014/main" val="1104946444"/>
                    </a:ext>
                  </a:extLst>
                </a:gridCol>
                <a:gridCol w="2169718">
                  <a:extLst>
                    <a:ext uri="{9D8B030D-6E8A-4147-A177-3AD203B41FA5}">
                      <a16:colId xmlns:a16="http://schemas.microsoft.com/office/drawing/2014/main" val="1735350448"/>
                    </a:ext>
                  </a:extLst>
                </a:gridCol>
                <a:gridCol w="2169718">
                  <a:extLst>
                    <a:ext uri="{9D8B030D-6E8A-4147-A177-3AD203B41FA5}">
                      <a16:colId xmlns:a16="http://schemas.microsoft.com/office/drawing/2014/main" val="4095187702"/>
                    </a:ext>
                  </a:extLst>
                </a:gridCol>
                <a:gridCol w="2169718">
                  <a:extLst>
                    <a:ext uri="{9D8B030D-6E8A-4147-A177-3AD203B41FA5}">
                      <a16:colId xmlns:a16="http://schemas.microsoft.com/office/drawing/2014/main" val="176464411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p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q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 p ˄ q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Georgia Pro"/>
                        </a:rPr>
                        <a:t>p ˅ q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23921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67684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05521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F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9449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Georgia Pro"/>
                        </a:rPr>
                        <a:t>T</a:t>
                      </a:r>
                      <a:endParaRPr lang="en-US" b="1">
                        <a:effectLst/>
                        <a:latin typeface="Georgia Pro"/>
                      </a:endParaRPr>
                    </a:p>
                  </a:txBody>
                  <a:tcPr marL="95250" marR="95250" marT="47625" marB="47625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7900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138905-DA0A-66CA-F1BD-B4075E25BD17}"/>
              </a:ext>
            </a:extLst>
          </p:cNvPr>
          <p:cNvSpPr txBox="1"/>
          <p:nvPr/>
        </p:nvSpPr>
        <p:spPr>
          <a:xfrm>
            <a:off x="4746812" y="306592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E5F8E-0C13-788A-870C-A09D0B8B510F}"/>
              </a:ext>
            </a:extLst>
          </p:cNvPr>
          <p:cNvSpPr txBox="1"/>
          <p:nvPr/>
        </p:nvSpPr>
        <p:spPr>
          <a:xfrm>
            <a:off x="875179" y="4770344"/>
            <a:ext cx="1048982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endParaRPr lang="en-US" sz="2400" dirty="0">
              <a:latin typeface="Georgia Pro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latin typeface="Georgia Pro"/>
                <a:cs typeface="Arial"/>
              </a:rPr>
              <a:t>p </a:t>
            </a:r>
            <a:r>
              <a:rPr lang="en-US" sz="2400" b="1" dirty="0">
                <a:latin typeface="Georgia Pro"/>
                <a:cs typeface="Arial"/>
              </a:rPr>
              <a:t>˅ </a:t>
            </a:r>
            <a:r>
              <a:rPr lang="en-US" sz="2400" dirty="0">
                <a:latin typeface="Georgia Pro"/>
                <a:cs typeface="Arial"/>
              </a:rPr>
              <a:t> q is true when either p or q or both are true.</a:t>
            </a:r>
            <a:endParaRPr lang="en-US" sz="2400">
              <a:latin typeface="Georgia Pro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latin typeface="Georgia Pro"/>
                <a:ea typeface="+mn-lt"/>
                <a:cs typeface="+mn-lt"/>
              </a:rPr>
              <a:t>p ^ q is true when both are true</a:t>
            </a:r>
            <a:endParaRPr lang="en-US" sz="2400">
              <a:latin typeface="Georgia Pro"/>
            </a:endParaRPr>
          </a:p>
          <a:p>
            <a:br>
              <a:rPr lang="en-US" dirty="0"/>
            </a:br>
            <a:endParaRPr lang="en-US" sz="2400">
              <a:latin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3077333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Propositional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Sagor Ahmed Saron</cp:lastModifiedBy>
  <cp:revision>293</cp:revision>
  <dcterms:created xsi:type="dcterms:W3CDTF">2013-07-15T20:26:40Z</dcterms:created>
  <dcterms:modified xsi:type="dcterms:W3CDTF">2024-02-12T16:43:11Z</dcterms:modified>
</cp:coreProperties>
</file>