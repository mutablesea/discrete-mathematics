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733" r:id="rId1"/>
  </p:sldMasterIdLst>
  <p:notesMasterIdLst>
    <p:notesMasterId r:id="rId45"/>
  </p:notesMasterIdLst>
  <p:sldIdLst>
    <p:sldId id="272" r:id="rId2"/>
    <p:sldId id="315" r:id="rId3"/>
    <p:sldId id="316" r:id="rId4"/>
    <p:sldId id="317" r:id="rId5"/>
    <p:sldId id="358" r:id="rId6"/>
    <p:sldId id="318" r:id="rId7"/>
    <p:sldId id="319" r:id="rId8"/>
    <p:sldId id="320" r:id="rId9"/>
    <p:sldId id="321" r:id="rId10"/>
    <p:sldId id="322" r:id="rId11"/>
    <p:sldId id="323" r:id="rId12"/>
    <p:sldId id="324" r:id="rId13"/>
    <p:sldId id="331" r:id="rId14"/>
    <p:sldId id="332" r:id="rId15"/>
    <p:sldId id="334" r:id="rId16"/>
    <p:sldId id="335" r:id="rId17"/>
    <p:sldId id="336" r:id="rId18"/>
    <p:sldId id="337" r:id="rId19"/>
    <p:sldId id="338" r:id="rId20"/>
    <p:sldId id="339" r:id="rId21"/>
    <p:sldId id="340" r:id="rId22"/>
    <p:sldId id="343" r:id="rId23"/>
    <p:sldId id="344" r:id="rId24"/>
    <p:sldId id="345" r:id="rId25"/>
    <p:sldId id="346" r:id="rId26"/>
    <p:sldId id="347" r:id="rId27"/>
    <p:sldId id="348" r:id="rId28"/>
    <p:sldId id="349" r:id="rId29"/>
    <p:sldId id="350" r:id="rId30"/>
    <p:sldId id="351" r:id="rId31"/>
    <p:sldId id="352" r:id="rId32"/>
    <p:sldId id="353" r:id="rId33"/>
    <p:sldId id="354" r:id="rId34"/>
    <p:sldId id="355" r:id="rId35"/>
    <p:sldId id="356" r:id="rId36"/>
    <p:sldId id="357" r:id="rId37"/>
    <p:sldId id="314" r:id="rId38"/>
    <p:sldId id="359" r:id="rId39"/>
    <p:sldId id="360" r:id="rId40"/>
    <p:sldId id="361" r:id="rId41"/>
    <p:sldId id="362" r:id="rId42"/>
    <p:sldId id="363" r:id="rId43"/>
    <p:sldId id="364" r:id="rId44"/>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01EA89"/>
    <a:srgbClr val="018952"/>
    <a:srgbClr val="7B5EC2"/>
    <a:srgbClr val="2FA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011" autoAdjust="0"/>
  </p:normalViewPr>
  <p:slideViewPr>
    <p:cSldViewPr>
      <p:cViewPr>
        <p:scale>
          <a:sx n="60" d="100"/>
          <a:sy n="60" d="100"/>
        </p:scale>
        <p:origin x="-1656" y="-2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theme" Target="theme/theme1.xml" /><Relationship Id="rId8" Type="http://schemas.openxmlformats.org/officeDocument/2006/relationships/slide" Target="slides/slide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07591883-E5CE-EF41-4CCD-EE848F4C7EA4}"/>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p:spPr>
        <p:txBody>
          <a:bodyPr vert="horz" wrap="square" lIns="96661" tIns="48331" rIns="96661" bIns="48331" numCol="1" anchor="t" anchorCtr="0" compatLnSpc="1">
            <a:prstTxWarp prst="textNoShape">
              <a:avLst/>
            </a:prstTxWarp>
          </a:bodyPr>
          <a:lstStyle>
            <a:lvl1pPr>
              <a:defRPr sz="1300">
                <a:latin typeface="Arial" charset="0"/>
                <a:ea typeface="ＭＳ Ｐゴシック" charset="0"/>
                <a:cs typeface="ＭＳ Ｐゴシック" charset="0"/>
              </a:defRPr>
            </a:lvl1pPr>
          </a:lstStyle>
          <a:p>
            <a:pPr>
              <a:defRPr/>
            </a:pPr>
            <a:endParaRPr lang="en-US"/>
          </a:p>
        </p:txBody>
      </p:sp>
      <p:sp>
        <p:nvSpPr>
          <p:cNvPr id="28675" name="Rectangle 3">
            <a:extLst>
              <a:ext uri="{FF2B5EF4-FFF2-40B4-BE49-F238E27FC236}">
                <a16:creationId xmlns:a16="http://schemas.microsoft.com/office/drawing/2014/main" id="{06C858F9-79BB-B7D5-CBA3-64AF10E04A34}"/>
              </a:ext>
            </a:extLst>
          </p:cNvPr>
          <p:cNvSpPr>
            <a:spLocks noGrp="1" noChangeArrowheads="1"/>
          </p:cNvSpPr>
          <p:nvPr>
            <p:ph type="dt" idx="1"/>
          </p:nvPr>
        </p:nvSpPr>
        <p:spPr bwMode="auto">
          <a:xfrm>
            <a:off x="4144963" y="0"/>
            <a:ext cx="3170237" cy="479425"/>
          </a:xfrm>
          <a:prstGeom prst="rect">
            <a:avLst/>
          </a:prstGeom>
          <a:noFill/>
          <a:ln w="9525">
            <a:noFill/>
            <a:miter lim="800000"/>
            <a:headEnd/>
            <a:tailEnd/>
          </a:ln>
        </p:spPr>
        <p:txBody>
          <a:bodyPr vert="horz" wrap="square" lIns="96661" tIns="48331" rIns="96661" bIns="48331" numCol="1" anchor="t" anchorCtr="0" compatLnSpc="1">
            <a:prstTxWarp prst="textNoShape">
              <a:avLst/>
            </a:prstTxWarp>
          </a:bodyPr>
          <a:lstStyle>
            <a:lvl1pPr algn="r">
              <a:defRPr sz="1300">
                <a:latin typeface="Arial" charset="0"/>
                <a:ea typeface="ＭＳ Ｐゴシック" charset="0"/>
                <a:cs typeface="ＭＳ Ｐゴシック" charset="0"/>
              </a:defRPr>
            </a:lvl1pPr>
          </a:lstStyle>
          <a:p>
            <a:pPr>
              <a:defRPr/>
            </a:pPr>
            <a:endParaRPr lang="en-US"/>
          </a:p>
        </p:txBody>
      </p:sp>
      <p:sp>
        <p:nvSpPr>
          <p:cNvPr id="47108" name="Rectangle 4">
            <a:extLst>
              <a:ext uri="{FF2B5EF4-FFF2-40B4-BE49-F238E27FC236}">
                <a16:creationId xmlns:a16="http://schemas.microsoft.com/office/drawing/2014/main" id="{5D9AD022-0732-59E7-D3C3-497344FBD7F5}"/>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7" name="Rectangle 5">
            <a:extLst>
              <a:ext uri="{FF2B5EF4-FFF2-40B4-BE49-F238E27FC236}">
                <a16:creationId xmlns:a16="http://schemas.microsoft.com/office/drawing/2014/main" id="{D814A11D-6DD3-9FF0-14A9-712A285D967A}"/>
              </a:ext>
            </a:extLst>
          </p:cNvPr>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678" name="Rectangle 6">
            <a:extLst>
              <a:ext uri="{FF2B5EF4-FFF2-40B4-BE49-F238E27FC236}">
                <a16:creationId xmlns:a16="http://schemas.microsoft.com/office/drawing/2014/main" id="{E8657BD3-87D7-30CD-1083-FF028E655302}"/>
              </a:ext>
            </a:extLst>
          </p:cNvPr>
          <p:cNvSpPr>
            <a:spLocks noGrp="1" noChangeArrowheads="1"/>
          </p:cNvSpPr>
          <p:nvPr>
            <p:ph type="ftr" sz="quarter" idx="4"/>
          </p:nvPr>
        </p:nvSpPr>
        <p:spPr bwMode="auto">
          <a:xfrm>
            <a:off x="0" y="9121775"/>
            <a:ext cx="3170238" cy="479425"/>
          </a:xfrm>
          <a:prstGeom prst="rect">
            <a:avLst/>
          </a:prstGeom>
          <a:noFill/>
          <a:ln w="9525">
            <a:noFill/>
            <a:miter lim="800000"/>
            <a:headEnd/>
            <a:tailEnd/>
          </a:ln>
        </p:spPr>
        <p:txBody>
          <a:bodyPr vert="horz" wrap="square" lIns="96661" tIns="48331" rIns="96661" bIns="48331" numCol="1" anchor="b" anchorCtr="0" compatLnSpc="1">
            <a:prstTxWarp prst="textNoShape">
              <a:avLst/>
            </a:prstTxWarp>
          </a:bodyPr>
          <a:lstStyle>
            <a:lvl1pPr>
              <a:defRPr sz="1300">
                <a:latin typeface="Arial" charset="0"/>
                <a:ea typeface="ＭＳ Ｐゴシック" charset="0"/>
                <a:cs typeface="ＭＳ Ｐゴシック" charset="0"/>
              </a:defRPr>
            </a:lvl1pPr>
          </a:lstStyle>
          <a:p>
            <a:pPr>
              <a:defRPr/>
            </a:pPr>
            <a:endParaRPr lang="en-US"/>
          </a:p>
        </p:txBody>
      </p:sp>
      <p:sp>
        <p:nvSpPr>
          <p:cNvPr id="28679" name="Rectangle 7">
            <a:extLst>
              <a:ext uri="{FF2B5EF4-FFF2-40B4-BE49-F238E27FC236}">
                <a16:creationId xmlns:a16="http://schemas.microsoft.com/office/drawing/2014/main" id="{C424BE99-9DE0-94C2-60F3-F0E6355BAFBA}"/>
              </a:ext>
            </a:extLst>
          </p:cNvPr>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p:spPr>
        <p:txBody>
          <a:bodyPr vert="horz" wrap="square" lIns="96661" tIns="48331" rIns="96661" bIns="48331" numCol="1" anchor="b" anchorCtr="0" compatLnSpc="1">
            <a:prstTxWarp prst="textNoShape">
              <a:avLst/>
            </a:prstTxWarp>
          </a:bodyPr>
          <a:lstStyle>
            <a:lvl1pPr algn="r">
              <a:defRPr sz="1300"/>
            </a:lvl1pPr>
          </a:lstStyle>
          <a:p>
            <a:fld id="{7EC5A345-385B-4044-B911-B383E70BDB62}"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8001822F-B7E9-0512-2365-3972132BA5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D170E6A9-A870-4B91-99B1-AA22281FA515}" type="slidenum">
              <a:rPr lang="en-US" altLang="en-US" sz="1300"/>
              <a:pPr/>
              <a:t>1</a:t>
            </a:fld>
            <a:endParaRPr lang="en-US" altLang="en-US" sz="1300"/>
          </a:p>
        </p:txBody>
      </p:sp>
      <p:sp>
        <p:nvSpPr>
          <p:cNvPr id="48131" name="Rectangle 2">
            <a:extLst>
              <a:ext uri="{FF2B5EF4-FFF2-40B4-BE49-F238E27FC236}">
                <a16:creationId xmlns:a16="http://schemas.microsoft.com/office/drawing/2014/main" id="{05138CB3-7BF8-C242-A9B7-A20325739FBE}"/>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B2AA8E36-CD54-CB35-4B14-B2011E5637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1EEA232F-1AC6-B767-EE2F-D8B0FBAE23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881B9B12-1A1D-4DFC-A1A3-2B3141A434F4}" type="slidenum">
              <a:rPr lang="en-US" altLang="en-US" sz="1300"/>
              <a:pPr/>
              <a:t>2</a:t>
            </a:fld>
            <a:endParaRPr lang="en-US" altLang="en-US" sz="1300"/>
          </a:p>
        </p:txBody>
      </p:sp>
      <p:sp>
        <p:nvSpPr>
          <p:cNvPr id="49155" name="Rectangle 2">
            <a:extLst>
              <a:ext uri="{FF2B5EF4-FFF2-40B4-BE49-F238E27FC236}">
                <a16:creationId xmlns:a16="http://schemas.microsoft.com/office/drawing/2014/main" id="{106FF153-2674-0745-EC8D-991BAB6000FD}"/>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323D31EC-E1ED-4063-8F46-041FB238D1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0C60B658-5C64-DF60-EE28-FBF4DE720C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84F8AE8-4D21-48BE-8A4A-78027954BF2A}" type="slidenum">
              <a:rPr lang="en-US" altLang="en-US" sz="1300"/>
              <a:pPr/>
              <a:t>3</a:t>
            </a:fld>
            <a:endParaRPr lang="en-US" altLang="en-US" sz="1300"/>
          </a:p>
        </p:txBody>
      </p:sp>
      <p:sp>
        <p:nvSpPr>
          <p:cNvPr id="50179" name="Rectangle 2">
            <a:extLst>
              <a:ext uri="{FF2B5EF4-FFF2-40B4-BE49-F238E27FC236}">
                <a16:creationId xmlns:a16="http://schemas.microsoft.com/office/drawing/2014/main" id="{7221E252-6A55-8DCE-0A7E-8D4271B55176}"/>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768D7360-8D33-792D-D4CB-467E85F1A9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52D64833-9626-C2D9-8AF8-5C3BBCFEEE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43E380D2-84AF-4839-9960-26A67C0CCCFA}" type="slidenum">
              <a:rPr lang="en-US" altLang="en-US" sz="1300"/>
              <a:pPr/>
              <a:t>4</a:t>
            </a:fld>
            <a:endParaRPr lang="en-US" altLang="en-US" sz="1300"/>
          </a:p>
        </p:txBody>
      </p:sp>
      <p:sp>
        <p:nvSpPr>
          <p:cNvPr id="51203" name="Rectangle 2">
            <a:extLst>
              <a:ext uri="{FF2B5EF4-FFF2-40B4-BE49-F238E27FC236}">
                <a16:creationId xmlns:a16="http://schemas.microsoft.com/office/drawing/2014/main" id="{8108D658-AA1E-6748-58FD-72F16D9F3395}"/>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434E17DD-851E-F06C-A720-8608945920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055254C9-5812-1341-D7D0-FB2D1B06D3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BED199FD-E4DF-4D1B-B0FA-999B42684161}" type="slidenum">
              <a:rPr lang="en-US" altLang="en-US" sz="1300"/>
              <a:pPr/>
              <a:t>5</a:t>
            </a:fld>
            <a:endParaRPr lang="en-US" altLang="en-US" sz="1300"/>
          </a:p>
        </p:txBody>
      </p:sp>
      <p:sp>
        <p:nvSpPr>
          <p:cNvPr id="52227" name="Rectangle 2">
            <a:extLst>
              <a:ext uri="{FF2B5EF4-FFF2-40B4-BE49-F238E27FC236}">
                <a16:creationId xmlns:a16="http://schemas.microsoft.com/office/drawing/2014/main" id="{CF2F19E1-A70D-5374-A7A3-68E84F763CFB}"/>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CB830A06-3F2C-7B78-74AD-63B5AAB5B0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8CA60504-E42A-32A3-DB72-2F6F21A8E2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41F5E252-6C72-4699-AADA-5FC4D2E77472}" type="slidenum">
              <a:rPr lang="en-US" altLang="en-US" sz="1300"/>
              <a:pPr/>
              <a:t>6</a:t>
            </a:fld>
            <a:endParaRPr lang="en-US" altLang="en-US" sz="1300"/>
          </a:p>
        </p:txBody>
      </p:sp>
      <p:sp>
        <p:nvSpPr>
          <p:cNvPr id="53251" name="Rectangle 2">
            <a:extLst>
              <a:ext uri="{FF2B5EF4-FFF2-40B4-BE49-F238E27FC236}">
                <a16:creationId xmlns:a16="http://schemas.microsoft.com/office/drawing/2014/main" id="{6D8F8C79-798D-C739-AED2-7D70B631A19B}"/>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1F607B21-9DA4-1B34-BD6B-CE4C359059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606295B9-5968-838E-AF2A-222E7F7AD1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41B1B8B3-9B47-4B33-85CE-8EEB438DBE54}" type="slidenum">
              <a:rPr lang="en-US" altLang="en-US" sz="1300"/>
              <a:pPr/>
              <a:t>7</a:t>
            </a:fld>
            <a:endParaRPr lang="en-US" altLang="en-US" sz="1300"/>
          </a:p>
        </p:txBody>
      </p:sp>
      <p:sp>
        <p:nvSpPr>
          <p:cNvPr id="54275" name="Rectangle 2">
            <a:extLst>
              <a:ext uri="{FF2B5EF4-FFF2-40B4-BE49-F238E27FC236}">
                <a16:creationId xmlns:a16="http://schemas.microsoft.com/office/drawing/2014/main" id="{6AE3328C-2BF1-6376-4AF9-03A5D0673F61}"/>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E3FD2214-8687-4913-0E19-A85FF6C12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04EF84F9-7D84-EE3B-E31E-1D6C7691C2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16E15B23-612F-4837-B586-66B6024BD7FB}" type="slidenum">
              <a:rPr lang="en-US" altLang="en-US" sz="1300"/>
              <a:pPr/>
              <a:t>8</a:t>
            </a:fld>
            <a:endParaRPr lang="en-US" altLang="en-US" sz="1300"/>
          </a:p>
        </p:txBody>
      </p:sp>
      <p:sp>
        <p:nvSpPr>
          <p:cNvPr id="55299" name="Rectangle 2">
            <a:extLst>
              <a:ext uri="{FF2B5EF4-FFF2-40B4-BE49-F238E27FC236}">
                <a16:creationId xmlns:a16="http://schemas.microsoft.com/office/drawing/2014/main" id="{A0CE0F89-BD51-5084-D892-432FFC05E8A3}"/>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663B8520-6FB6-1E32-399A-0850402F1E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B67F0FA0-0C72-4DEE-A905-23599688F8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252A39F1-3F89-458C-8D5A-40AA82B0F0DE}" type="slidenum">
              <a:rPr lang="en-US" altLang="en-US" sz="1300"/>
              <a:pPr/>
              <a:t>9</a:t>
            </a:fld>
            <a:endParaRPr lang="en-US" altLang="en-US" sz="1300"/>
          </a:p>
        </p:txBody>
      </p:sp>
      <p:sp>
        <p:nvSpPr>
          <p:cNvPr id="56323" name="Rectangle 2">
            <a:extLst>
              <a:ext uri="{FF2B5EF4-FFF2-40B4-BE49-F238E27FC236}">
                <a16:creationId xmlns:a16="http://schemas.microsoft.com/office/drawing/2014/main" id="{1DCC7D87-1C67-1D0F-41EA-56F0A883D231}"/>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47E16DA2-AC16-EF39-3BB4-93A20C691A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90471131-454D-92D1-7AEC-B36184AA62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5525C422-2ABA-4127-BF46-2AAECC64DAF5}" type="slidenum">
              <a:rPr lang="en-US" altLang="en-US" sz="1300"/>
              <a:pPr/>
              <a:t>10</a:t>
            </a:fld>
            <a:endParaRPr lang="en-US" altLang="en-US" sz="1300"/>
          </a:p>
        </p:txBody>
      </p:sp>
      <p:sp>
        <p:nvSpPr>
          <p:cNvPr id="57347" name="Rectangle 2">
            <a:extLst>
              <a:ext uri="{FF2B5EF4-FFF2-40B4-BE49-F238E27FC236}">
                <a16:creationId xmlns:a16="http://schemas.microsoft.com/office/drawing/2014/main" id="{3AB1A7A6-7D80-768E-1C2F-A4FA978DD0FE}"/>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AFBC9A44-BC23-D720-7D34-DF7D57BA4F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F4B61969-9CE4-3FD7-00A8-6A856A6C73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1D4105BA-8B7C-48B2-88D7-C7C3255382F9}" type="slidenum">
              <a:rPr lang="en-US" altLang="en-US" sz="1300"/>
              <a:pPr/>
              <a:t>11</a:t>
            </a:fld>
            <a:endParaRPr lang="en-US" altLang="en-US" sz="1300"/>
          </a:p>
        </p:txBody>
      </p:sp>
      <p:sp>
        <p:nvSpPr>
          <p:cNvPr id="58371" name="Rectangle 2">
            <a:extLst>
              <a:ext uri="{FF2B5EF4-FFF2-40B4-BE49-F238E27FC236}">
                <a16:creationId xmlns:a16="http://schemas.microsoft.com/office/drawing/2014/main" id="{36466976-33DB-7613-B21E-2882565D2D79}"/>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6209C024-22B6-C79B-6634-4D768C1178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98F81664-493B-E4FD-A3D4-8BDA7909BE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F3D09175-CC45-426C-83A2-4C3FEEF8A278}" type="slidenum">
              <a:rPr lang="en-US" altLang="en-US" sz="1300"/>
              <a:pPr/>
              <a:t>12</a:t>
            </a:fld>
            <a:endParaRPr lang="en-US" altLang="en-US" sz="1300"/>
          </a:p>
        </p:txBody>
      </p:sp>
      <p:sp>
        <p:nvSpPr>
          <p:cNvPr id="59395" name="Rectangle 2">
            <a:extLst>
              <a:ext uri="{FF2B5EF4-FFF2-40B4-BE49-F238E27FC236}">
                <a16:creationId xmlns:a16="http://schemas.microsoft.com/office/drawing/2014/main" id="{F9D5D807-CFEB-6388-174F-222F5771C398}"/>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3C22A60B-C520-F55D-14BA-4B96DA8694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A9FEFFE4-97D4-F214-5E83-8FBF68C9C7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F7EA8EBF-2DFC-44E1-878C-77D76B2D9A1E}" type="slidenum">
              <a:rPr lang="en-US" altLang="en-US" sz="1300"/>
              <a:pPr/>
              <a:t>13</a:t>
            </a:fld>
            <a:endParaRPr lang="en-US" altLang="en-US" sz="1300"/>
          </a:p>
        </p:txBody>
      </p:sp>
      <p:sp>
        <p:nvSpPr>
          <p:cNvPr id="60419" name="Rectangle 2">
            <a:extLst>
              <a:ext uri="{FF2B5EF4-FFF2-40B4-BE49-F238E27FC236}">
                <a16:creationId xmlns:a16="http://schemas.microsoft.com/office/drawing/2014/main" id="{33423A8D-586F-EF21-6D67-47D45D7D5ED9}"/>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A544DAF2-D9E0-2C35-5B86-E0977F1B8B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261009DD-9EE8-CE55-053A-F23588F958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5D01520A-7A76-440D-A532-2B5F39CEA3A6}" type="slidenum">
              <a:rPr lang="en-US" altLang="en-US" sz="1300"/>
              <a:pPr/>
              <a:t>14</a:t>
            </a:fld>
            <a:endParaRPr lang="en-US" altLang="en-US" sz="1300"/>
          </a:p>
        </p:txBody>
      </p:sp>
      <p:sp>
        <p:nvSpPr>
          <p:cNvPr id="61443" name="Rectangle 2">
            <a:extLst>
              <a:ext uri="{FF2B5EF4-FFF2-40B4-BE49-F238E27FC236}">
                <a16:creationId xmlns:a16="http://schemas.microsoft.com/office/drawing/2014/main" id="{BB9BC705-082A-05C4-5EA2-970BA610E325}"/>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2DBF230B-4309-B9D0-1C2C-8A65C7A608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0B578864-C63C-104D-CC25-3035ADBC06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B04FBFFB-3AE9-4781-B29D-86AB384CCC1A}" type="slidenum">
              <a:rPr lang="en-US" altLang="en-US" sz="1300"/>
              <a:pPr/>
              <a:t>15</a:t>
            </a:fld>
            <a:endParaRPr lang="en-US" altLang="en-US" sz="1300"/>
          </a:p>
        </p:txBody>
      </p:sp>
      <p:sp>
        <p:nvSpPr>
          <p:cNvPr id="62467" name="Rectangle 2">
            <a:extLst>
              <a:ext uri="{FF2B5EF4-FFF2-40B4-BE49-F238E27FC236}">
                <a16:creationId xmlns:a16="http://schemas.microsoft.com/office/drawing/2014/main" id="{2FC9F06B-B2B8-F744-3491-6D69FFF3A7B6}"/>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AABCD11D-A644-8F17-C453-32AC1AF565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D10C0F87-4A1E-7E15-07D8-D7308C9B7F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AB08335B-4CCA-4DAE-8218-8EF4A1829550}" type="slidenum">
              <a:rPr lang="en-US" altLang="en-US" sz="1300"/>
              <a:pPr/>
              <a:t>16</a:t>
            </a:fld>
            <a:endParaRPr lang="en-US" altLang="en-US" sz="1300"/>
          </a:p>
        </p:txBody>
      </p:sp>
      <p:sp>
        <p:nvSpPr>
          <p:cNvPr id="63491" name="Rectangle 2">
            <a:extLst>
              <a:ext uri="{FF2B5EF4-FFF2-40B4-BE49-F238E27FC236}">
                <a16:creationId xmlns:a16="http://schemas.microsoft.com/office/drawing/2014/main" id="{8D7476C6-CFEC-0702-C7D9-7FB72F4ABED3}"/>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CECD50C4-40B4-46A7-3E81-C11EEADBF6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0D2FCE01-F189-C7B7-1A62-E3E03B8F6D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9B286986-1B93-45FC-A2AD-9F358F45D301}" type="slidenum">
              <a:rPr lang="en-US" altLang="en-US" sz="1300"/>
              <a:pPr/>
              <a:t>17</a:t>
            </a:fld>
            <a:endParaRPr lang="en-US" altLang="en-US" sz="1300"/>
          </a:p>
        </p:txBody>
      </p:sp>
      <p:sp>
        <p:nvSpPr>
          <p:cNvPr id="64515" name="Rectangle 2">
            <a:extLst>
              <a:ext uri="{FF2B5EF4-FFF2-40B4-BE49-F238E27FC236}">
                <a16:creationId xmlns:a16="http://schemas.microsoft.com/office/drawing/2014/main" id="{2F4FDD77-C050-9CD1-A5CF-1ABD73D528C0}"/>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8749722F-1AA7-B513-8EA4-FD07F639CB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3EF95182-0558-FE82-737F-CE024A47D4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6E54D319-41AF-478B-AE3E-A248BEA111A0}" type="slidenum">
              <a:rPr lang="en-US" altLang="en-US" sz="1300"/>
              <a:pPr/>
              <a:t>18</a:t>
            </a:fld>
            <a:endParaRPr lang="en-US" altLang="en-US" sz="1300"/>
          </a:p>
        </p:txBody>
      </p:sp>
      <p:sp>
        <p:nvSpPr>
          <p:cNvPr id="65539" name="Rectangle 2">
            <a:extLst>
              <a:ext uri="{FF2B5EF4-FFF2-40B4-BE49-F238E27FC236}">
                <a16:creationId xmlns:a16="http://schemas.microsoft.com/office/drawing/2014/main" id="{90794D45-E360-5C20-AD8F-1BB6262356F0}"/>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D44195A0-4784-6CB9-32CB-16CA39FEA9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EF3BC851-B725-0573-E5FB-4766A1A5D8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99FC0789-3926-498E-86EB-FAB4E4FB49CD}" type="slidenum">
              <a:rPr lang="en-US" altLang="en-US" sz="1300"/>
              <a:pPr/>
              <a:t>19</a:t>
            </a:fld>
            <a:endParaRPr lang="en-US" altLang="en-US" sz="1300"/>
          </a:p>
        </p:txBody>
      </p:sp>
      <p:sp>
        <p:nvSpPr>
          <p:cNvPr id="66563" name="Rectangle 2">
            <a:extLst>
              <a:ext uri="{FF2B5EF4-FFF2-40B4-BE49-F238E27FC236}">
                <a16:creationId xmlns:a16="http://schemas.microsoft.com/office/drawing/2014/main" id="{37414035-2617-3364-4EB5-F3B5154B1B11}"/>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0C8985C9-94B2-F9D7-6774-F7FC35D02C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58D758F7-F34B-D09B-50BC-9708BB64AF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01A1C861-A9FE-4B9C-8044-55D2BE977C1D}" type="slidenum">
              <a:rPr lang="en-US" altLang="en-US" sz="1300"/>
              <a:pPr/>
              <a:t>20</a:t>
            </a:fld>
            <a:endParaRPr lang="en-US" altLang="en-US" sz="1300"/>
          </a:p>
        </p:txBody>
      </p:sp>
      <p:sp>
        <p:nvSpPr>
          <p:cNvPr id="67587" name="Rectangle 2">
            <a:extLst>
              <a:ext uri="{FF2B5EF4-FFF2-40B4-BE49-F238E27FC236}">
                <a16:creationId xmlns:a16="http://schemas.microsoft.com/office/drawing/2014/main" id="{DF07DF33-3CC3-B4C5-8EC2-6AEDADCB3D88}"/>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FED4FA1B-8829-396C-EC02-626E4394DD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3A1AACD8-CEF9-78D6-2DEA-91467B04D5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FC68679C-3FD8-492C-AA49-19A713B6DD26}" type="slidenum">
              <a:rPr lang="en-US" altLang="en-US" sz="1300"/>
              <a:pPr/>
              <a:t>21</a:t>
            </a:fld>
            <a:endParaRPr lang="en-US" altLang="en-US" sz="1300"/>
          </a:p>
        </p:txBody>
      </p:sp>
      <p:sp>
        <p:nvSpPr>
          <p:cNvPr id="68611" name="Rectangle 2">
            <a:extLst>
              <a:ext uri="{FF2B5EF4-FFF2-40B4-BE49-F238E27FC236}">
                <a16:creationId xmlns:a16="http://schemas.microsoft.com/office/drawing/2014/main" id="{F4B753A0-F4DB-06AC-5AA5-7987A7DF77F8}"/>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E175EB0D-5C04-1F47-B41C-ED208BA7D1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05F8AB9D-9C7E-2E21-F346-07CEB45C4B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181D429B-261D-49CA-BD24-2B9BB6FF0764}" type="slidenum">
              <a:rPr lang="en-US" altLang="en-US" sz="1300"/>
              <a:pPr/>
              <a:t>22</a:t>
            </a:fld>
            <a:endParaRPr lang="en-US" altLang="en-US" sz="1300"/>
          </a:p>
        </p:txBody>
      </p:sp>
      <p:sp>
        <p:nvSpPr>
          <p:cNvPr id="69635" name="Rectangle 2">
            <a:extLst>
              <a:ext uri="{FF2B5EF4-FFF2-40B4-BE49-F238E27FC236}">
                <a16:creationId xmlns:a16="http://schemas.microsoft.com/office/drawing/2014/main" id="{36848DB8-C3D1-4C39-C759-3B4F717C67B5}"/>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ECF575CC-7D76-E5B4-73B3-9A82EAB2A9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8EA749B0-2CB6-C1CC-A216-C35D89A7F8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B94C4DD7-50FC-480D-A7F1-F49C34485DCB}" type="slidenum">
              <a:rPr lang="en-US" altLang="en-US" sz="1300"/>
              <a:pPr/>
              <a:t>23</a:t>
            </a:fld>
            <a:endParaRPr lang="en-US" altLang="en-US" sz="1300"/>
          </a:p>
        </p:txBody>
      </p:sp>
      <p:sp>
        <p:nvSpPr>
          <p:cNvPr id="70659" name="Rectangle 2">
            <a:extLst>
              <a:ext uri="{FF2B5EF4-FFF2-40B4-BE49-F238E27FC236}">
                <a16:creationId xmlns:a16="http://schemas.microsoft.com/office/drawing/2014/main" id="{EC590C23-AC32-ABCD-FAE9-05B44D671EE8}"/>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EB8482BF-F377-1F9C-E796-5A2B63F0EB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11F803A3-43C8-2548-30CC-6F99DC0E9B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5F2A7B84-7909-46B1-B7A2-B49B0B4B9478}" type="slidenum">
              <a:rPr lang="en-US" altLang="en-US" sz="1300"/>
              <a:pPr/>
              <a:t>24</a:t>
            </a:fld>
            <a:endParaRPr lang="en-US" altLang="en-US" sz="1300"/>
          </a:p>
        </p:txBody>
      </p:sp>
      <p:sp>
        <p:nvSpPr>
          <p:cNvPr id="71683" name="Rectangle 2">
            <a:extLst>
              <a:ext uri="{FF2B5EF4-FFF2-40B4-BE49-F238E27FC236}">
                <a16:creationId xmlns:a16="http://schemas.microsoft.com/office/drawing/2014/main" id="{27D43044-DEB9-8886-9BA7-44695E593CAB}"/>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3C21BCFE-9541-F631-1DD1-33B713D006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73EFBDFB-35E6-5DE7-250D-7806C78EED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066711DE-804A-41D7-AF16-FB3C3F0DD399}" type="slidenum">
              <a:rPr lang="en-US" altLang="en-US" sz="1300"/>
              <a:pPr/>
              <a:t>25</a:t>
            </a:fld>
            <a:endParaRPr lang="en-US" altLang="en-US" sz="1300"/>
          </a:p>
        </p:txBody>
      </p:sp>
      <p:sp>
        <p:nvSpPr>
          <p:cNvPr id="72707" name="Rectangle 2">
            <a:extLst>
              <a:ext uri="{FF2B5EF4-FFF2-40B4-BE49-F238E27FC236}">
                <a16:creationId xmlns:a16="http://schemas.microsoft.com/office/drawing/2014/main" id="{7271C03C-0C40-E415-4F9A-45871EF9DD9D}"/>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ABEEE36B-A4D0-7E2A-2260-427C336CF7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A5F4D6A3-00CC-6206-888A-BC5415FE10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3FAD07BB-84DF-4AC5-9A17-0A2E68791C43}" type="slidenum">
              <a:rPr lang="en-US" altLang="en-US" sz="1300"/>
              <a:pPr/>
              <a:t>26</a:t>
            </a:fld>
            <a:endParaRPr lang="en-US" altLang="en-US" sz="1300"/>
          </a:p>
        </p:txBody>
      </p:sp>
      <p:sp>
        <p:nvSpPr>
          <p:cNvPr id="73731" name="Rectangle 2">
            <a:extLst>
              <a:ext uri="{FF2B5EF4-FFF2-40B4-BE49-F238E27FC236}">
                <a16:creationId xmlns:a16="http://schemas.microsoft.com/office/drawing/2014/main" id="{A173AD37-EBCB-264F-C520-AD8C7D946A7A}"/>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0F57C368-46B7-7E6E-409F-809BEEDBAC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72935B83-6C76-4F68-DF30-DB2172B692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4DF136C-6EE3-4361-A158-11CE1DE2DC55}" type="slidenum">
              <a:rPr lang="en-US" altLang="en-US" sz="1300"/>
              <a:pPr/>
              <a:t>27</a:t>
            </a:fld>
            <a:endParaRPr lang="en-US" altLang="en-US" sz="1300"/>
          </a:p>
        </p:txBody>
      </p:sp>
      <p:sp>
        <p:nvSpPr>
          <p:cNvPr id="74755" name="Rectangle 2">
            <a:extLst>
              <a:ext uri="{FF2B5EF4-FFF2-40B4-BE49-F238E27FC236}">
                <a16:creationId xmlns:a16="http://schemas.microsoft.com/office/drawing/2014/main" id="{5B610173-DC62-E794-F026-8CECD2156AE2}"/>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F86B4645-E96F-834C-7CBF-93C389B1CD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08E81350-A664-413D-683C-0A407324F1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D0748A34-B702-4BB1-9C34-E6266ED85E24}" type="slidenum">
              <a:rPr lang="en-US" altLang="en-US" sz="1300"/>
              <a:pPr/>
              <a:t>28</a:t>
            </a:fld>
            <a:endParaRPr lang="en-US" altLang="en-US" sz="1300"/>
          </a:p>
        </p:txBody>
      </p:sp>
      <p:sp>
        <p:nvSpPr>
          <p:cNvPr id="75779" name="Rectangle 2">
            <a:extLst>
              <a:ext uri="{FF2B5EF4-FFF2-40B4-BE49-F238E27FC236}">
                <a16:creationId xmlns:a16="http://schemas.microsoft.com/office/drawing/2014/main" id="{C39452B4-47DB-5B18-A994-D4542C0FD292}"/>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EBA69952-CCE8-0327-276E-7F90A80D10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2AD66714-B86A-D95F-BA52-66A50350A0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8750D198-6F8B-4669-931E-A3A8ADC29A6B}" type="slidenum">
              <a:rPr lang="en-US" altLang="en-US" sz="1300"/>
              <a:pPr/>
              <a:t>29</a:t>
            </a:fld>
            <a:endParaRPr lang="en-US" altLang="en-US" sz="1300"/>
          </a:p>
        </p:txBody>
      </p:sp>
      <p:sp>
        <p:nvSpPr>
          <p:cNvPr id="76803" name="Rectangle 2">
            <a:extLst>
              <a:ext uri="{FF2B5EF4-FFF2-40B4-BE49-F238E27FC236}">
                <a16:creationId xmlns:a16="http://schemas.microsoft.com/office/drawing/2014/main" id="{ACCD6548-B914-72FD-BB80-9A6B2BEC8F67}"/>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95288786-677E-E89A-0AE6-55B54011A5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A7939D48-D6B9-D934-174B-828092FB80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BBDE7B4B-92C0-42C9-94A9-0889BF0DD4C8}" type="slidenum">
              <a:rPr lang="en-US" altLang="en-US" sz="1300"/>
              <a:pPr/>
              <a:t>30</a:t>
            </a:fld>
            <a:endParaRPr lang="en-US" altLang="en-US" sz="1300"/>
          </a:p>
        </p:txBody>
      </p:sp>
      <p:sp>
        <p:nvSpPr>
          <p:cNvPr id="77827" name="Rectangle 2">
            <a:extLst>
              <a:ext uri="{FF2B5EF4-FFF2-40B4-BE49-F238E27FC236}">
                <a16:creationId xmlns:a16="http://schemas.microsoft.com/office/drawing/2014/main" id="{A9894375-0575-CF04-9BE8-6D8B12812F5A}"/>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7B4409BC-02B7-D5F5-5FE4-9C7BE017C6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F8E83ABE-8584-C280-86F7-DA888F1D39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28D9FC8B-9160-4923-B712-36271FAAA63A}" type="slidenum">
              <a:rPr lang="en-US" altLang="en-US" sz="1300"/>
              <a:pPr/>
              <a:t>31</a:t>
            </a:fld>
            <a:endParaRPr lang="en-US" altLang="en-US" sz="1300"/>
          </a:p>
        </p:txBody>
      </p:sp>
      <p:sp>
        <p:nvSpPr>
          <p:cNvPr id="78851" name="Rectangle 2">
            <a:extLst>
              <a:ext uri="{FF2B5EF4-FFF2-40B4-BE49-F238E27FC236}">
                <a16:creationId xmlns:a16="http://schemas.microsoft.com/office/drawing/2014/main" id="{7D2FB585-3895-00B9-AB65-FB40F2F2F979}"/>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77691BDF-14EA-A20F-B0C2-1D47D196FC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A4A44760-AF2D-5497-E21E-A705FC12BE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1C709B5E-091A-4A65-9ACE-117D464E280F}" type="slidenum">
              <a:rPr lang="en-US" altLang="en-US" sz="1300"/>
              <a:pPr/>
              <a:t>32</a:t>
            </a:fld>
            <a:endParaRPr lang="en-US" altLang="en-US" sz="1300"/>
          </a:p>
        </p:txBody>
      </p:sp>
      <p:sp>
        <p:nvSpPr>
          <p:cNvPr id="79875" name="Rectangle 2">
            <a:extLst>
              <a:ext uri="{FF2B5EF4-FFF2-40B4-BE49-F238E27FC236}">
                <a16:creationId xmlns:a16="http://schemas.microsoft.com/office/drawing/2014/main" id="{01CF0426-371E-C279-1AD1-ADFC222C4052}"/>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F42C22B9-75F8-4BA2-8066-185CBAAAC4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FBF6F5D2-821D-086B-ED82-1ABB58A3D8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8276E0C9-93A5-4703-86A0-131074168CB6}" type="slidenum">
              <a:rPr lang="en-US" altLang="en-US" sz="1300"/>
              <a:pPr/>
              <a:t>33</a:t>
            </a:fld>
            <a:endParaRPr lang="en-US" altLang="en-US" sz="1300"/>
          </a:p>
        </p:txBody>
      </p:sp>
      <p:sp>
        <p:nvSpPr>
          <p:cNvPr id="80899" name="Rectangle 2">
            <a:extLst>
              <a:ext uri="{FF2B5EF4-FFF2-40B4-BE49-F238E27FC236}">
                <a16:creationId xmlns:a16="http://schemas.microsoft.com/office/drawing/2014/main" id="{4B549B3F-BFD7-7B0A-422C-7A3E47CB16D6}"/>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54C3BD5B-FB7B-995C-3DC8-AE2F629FE6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171CEF20-04C6-4F5C-801E-34F6FC0968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5D75D2FF-9555-41C1-8C1A-18CAD3564615}" type="slidenum">
              <a:rPr lang="en-US" altLang="en-US" sz="1300"/>
              <a:pPr/>
              <a:t>34</a:t>
            </a:fld>
            <a:endParaRPr lang="en-US" altLang="en-US" sz="1300"/>
          </a:p>
        </p:txBody>
      </p:sp>
      <p:sp>
        <p:nvSpPr>
          <p:cNvPr id="81923" name="Rectangle 2">
            <a:extLst>
              <a:ext uri="{FF2B5EF4-FFF2-40B4-BE49-F238E27FC236}">
                <a16:creationId xmlns:a16="http://schemas.microsoft.com/office/drawing/2014/main" id="{9CF82A43-CFD0-3E30-22F0-0666F7E8F9DA}"/>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35403241-964E-C146-D1AD-099B16320C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B8928889-2A15-D5F6-11DC-4FC4AFF274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D77FCA39-3F77-4BC8-A300-F1970A1A67CE}" type="slidenum">
              <a:rPr lang="en-US" altLang="en-US" sz="1300"/>
              <a:pPr/>
              <a:t>35</a:t>
            </a:fld>
            <a:endParaRPr lang="en-US" altLang="en-US" sz="1300"/>
          </a:p>
        </p:txBody>
      </p:sp>
      <p:sp>
        <p:nvSpPr>
          <p:cNvPr id="82947" name="Rectangle 2">
            <a:extLst>
              <a:ext uri="{FF2B5EF4-FFF2-40B4-BE49-F238E27FC236}">
                <a16:creationId xmlns:a16="http://schemas.microsoft.com/office/drawing/2014/main" id="{FB805C6A-16B1-AC14-C6EA-4269B55D84E2}"/>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040BF964-5C71-BF21-DE5C-0DE127CB9C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BE1BBA85-ECEF-9C78-4D0C-3F20546154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58AD93D6-8B29-4D5F-9A20-1988126C2B0B}" type="slidenum">
              <a:rPr lang="en-US" altLang="en-US" sz="1300"/>
              <a:pPr/>
              <a:t>36</a:t>
            </a:fld>
            <a:endParaRPr lang="en-US" altLang="en-US" sz="1300"/>
          </a:p>
        </p:txBody>
      </p:sp>
      <p:sp>
        <p:nvSpPr>
          <p:cNvPr id="83971" name="Rectangle 2">
            <a:extLst>
              <a:ext uri="{FF2B5EF4-FFF2-40B4-BE49-F238E27FC236}">
                <a16:creationId xmlns:a16="http://schemas.microsoft.com/office/drawing/2014/main" id="{8F60713F-1D67-4700-286D-102D96D1FF95}"/>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9BFA6705-38F7-6266-44CA-4E8F635118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9889E788-004F-EA2E-AA27-FF663DB204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EAB9DD29-4274-436E-BF34-22F407DC5C9A}" type="slidenum">
              <a:rPr lang="en-US" altLang="en-US" sz="1300"/>
              <a:pPr/>
              <a:t>38</a:t>
            </a:fld>
            <a:endParaRPr lang="en-US" altLang="en-US" sz="1300"/>
          </a:p>
        </p:txBody>
      </p:sp>
      <p:sp>
        <p:nvSpPr>
          <p:cNvPr id="84995" name="Rectangle 2">
            <a:extLst>
              <a:ext uri="{FF2B5EF4-FFF2-40B4-BE49-F238E27FC236}">
                <a16:creationId xmlns:a16="http://schemas.microsoft.com/office/drawing/2014/main" id="{246215E6-E475-D4C0-C5AA-A48ED1D50C07}"/>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52757DD2-F43B-6A7C-EA2B-F61FF80CB6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AE88AE24-7666-4F30-12F8-555DFB0B94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D6DF7752-E98E-4B73-AC04-B3E3D676FD77}" type="slidenum">
              <a:rPr lang="en-US" altLang="en-US" sz="1300"/>
              <a:pPr/>
              <a:t>39</a:t>
            </a:fld>
            <a:endParaRPr lang="en-US" altLang="en-US" sz="1300"/>
          </a:p>
        </p:txBody>
      </p:sp>
      <p:sp>
        <p:nvSpPr>
          <p:cNvPr id="86019" name="Rectangle 2">
            <a:extLst>
              <a:ext uri="{FF2B5EF4-FFF2-40B4-BE49-F238E27FC236}">
                <a16:creationId xmlns:a16="http://schemas.microsoft.com/office/drawing/2014/main" id="{27359F3A-82B9-EC9D-0523-6D344F36D7EA}"/>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38AE754F-BF90-9068-4327-4B3B35A651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C68C6F41-9DCF-B204-CF89-E8BC1985DD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64231CD3-5CD8-4AB9-8F88-6E5E08DB5193}" type="slidenum">
              <a:rPr lang="en-US" altLang="en-US" sz="1300"/>
              <a:pPr/>
              <a:t>40</a:t>
            </a:fld>
            <a:endParaRPr lang="en-US" altLang="en-US" sz="1300"/>
          </a:p>
        </p:txBody>
      </p:sp>
      <p:sp>
        <p:nvSpPr>
          <p:cNvPr id="87043" name="Rectangle 2">
            <a:extLst>
              <a:ext uri="{FF2B5EF4-FFF2-40B4-BE49-F238E27FC236}">
                <a16:creationId xmlns:a16="http://schemas.microsoft.com/office/drawing/2014/main" id="{1C895856-2478-C4F9-DEE5-CB9807E507B6}"/>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99160F63-7E97-12D7-EEF1-044D6D1AEC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C4C2DF00-C75C-B51A-5AF2-C7B75B2A49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3CC60F6F-3A69-4DC5-BE07-0AD605A681D9}" type="slidenum">
              <a:rPr lang="en-US" altLang="en-US" sz="1300"/>
              <a:pPr/>
              <a:t>41</a:t>
            </a:fld>
            <a:endParaRPr lang="en-US" altLang="en-US" sz="1300"/>
          </a:p>
        </p:txBody>
      </p:sp>
      <p:sp>
        <p:nvSpPr>
          <p:cNvPr id="88067" name="Rectangle 2">
            <a:extLst>
              <a:ext uri="{FF2B5EF4-FFF2-40B4-BE49-F238E27FC236}">
                <a16:creationId xmlns:a16="http://schemas.microsoft.com/office/drawing/2014/main" id="{40DCA219-31CA-DBD5-FBDB-E699FE273DF8}"/>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4AB1AE55-DE6E-2C0F-5E98-1FD65CB06C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1BA84AB6-737F-9F0C-CB62-FA486D4531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90B88984-4716-4AB4-A28F-D10689FAB157}" type="slidenum">
              <a:rPr lang="en-US" altLang="en-US" sz="1300"/>
              <a:pPr/>
              <a:t>42</a:t>
            </a:fld>
            <a:endParaRPr lang="en-US" altLang="en-US" sz="1300"/>
          </a:p>
        </p:txBody>
      </p:sp>
      <p:sp>
        <p:nvSpPr>
          <p:cNvPr id="89091" name="Rectangle 2">
            <a:extLst>
              <a:ext uri="{FF2B5EF4-FFF2-40B4-BE49-F238E27FC236}">
                <a16:creationId xmlns:a16="http://schemas.microsoft.com/office/drawing/2014/main" id="{98DE7F90-C70A-01EF-01A7-023BFE1E5E4D}"/>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683E2704-16C0-C40B-6721-88BF6813C5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E2AFFE0D-FCE3-F8E2-6CAF-3C374F4B35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483285E-86EE-485E-A963-9EF0A490337C}" type="slidenum">
              <a:rPr lang="en-US" altLang="en-US" sz="1300"/>
              <a:pPr/>
              <a:t>43</a:t>
            </a:fld>
            <a:endParaRPr lang="en-US" altLang="en-US" sz="1300"/>
          </a:p>
        </p:txBody>
      </p:sp>
      <p:sp>
        <p:nvSpPr>
          <p:cNvPr id="90115" name="Rectangle 2">
            <a:extLst>
              <a:ext uri="{FF2B5EF4-FFF2-40B4-BE49-F238E27FC236}">
                <a16:creationId xmlns:a16="http://schemas.microsoft.com/office/drawing/2014/main" id="{7D1F8B59-6D8E-D6F5-6361-58A2707B39BB}"/>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B7423C14-0012-CFFB-30C0-81A141A1A6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720B63D-9D76-BE2A-1A9C-D56679D93540}"/>
              </a:ext>
            </a:extLst>
          </p:cNvPr>
          <p:cNvSpPr/>
          <p:nvPr userDrawn="1"/>
        </p:nvSpPr>
        <p:spPr>
          <a:xfrm>
            <a:off x="0" y="1325563"/>
            <a:ext cx="9144000" cy="46037"/>
          </a:xfrm>
          <a:prstGeom prst="rect">
            <a:avLst/>
          </a:prstGeom>
          <a:solidFill>
            <a:srgbClr val="018952"/>
          </a:solidFill>
          <a:ln>
            <a:solidFill>
              <a:srgbClr val="01895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0000"/>
              </a:solidFill>
            </a:endParaRPr>
          </a:p>
        </p:txBody>
      </p:sp>
      <p:sp>
        <p:nvSpPr>
          <p:cNvPr id="5" name="TextBox 4">
            <a:extLst>
              <a:ext uri="{FF2B5EF4-FFF2-40B4-BE49-F238E27FC236}">
                <a16:creationId xmlns:a16="http://schemas.microsoft.com/office/drawing/2014/main" id="{4A4D94AC-1982-8654-46A1-428F31953718}"/>
              </a:ext>
            </a:extLst>
          </p:cNvPr>
          <p:cNvSpPr txBox="1">
            <a:spLocks noChangeArrowheads="1"/>
          </p:cNvSpPr>
          <p:nvPr userDrawn="1"/>
        </p:nvSpPr>
        <p:spPr bwMode="auto">
          <a:xfrm>
            <a:off x="8610600" y="6400800"/>
            <a:ext cx="533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A05DAB4-1E6C-4177-942A-3C86D4708CC0}" type="slidenum">
              <a:rPr lang="en-US" altLang="en-US" sz="1400">
                <a:solidFill>
                  <a:srgbClr val="FF0000"/>
                </a:solidFill>
              </a:rPr>
              <a:pPr/>
              <a:t>‹#›</a:t>
            </a:fld>
            <a:endParaRPr lang="en-US" altLang="en-US" sz="1400">
              <a:solidFill>
                <a:srgbClr val="FF0000"/>
              </a:solidFill>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buClr>
                <a:srgbClr val="FF0000"/>
              </a:buClr>
              <a:defRPr>
                <a:solidFill>
                  <a:schemeClr val="tx1"/>
                </a:solidFill>
              </a:defRPr>
            </a:lvl1pPr>
            <a:lvl2pPr>
              <a:buClr>
                <a:srgbClr val="FF0000"/>
              </a:buClr>
              <a:defRPr>
                <a:solidFill>
                  <a:schemeClr val="tx1"/>
                </a:solidFill>
              </a:defRPr>
            </a:lvl2pPr>
            <a:lvl3pPr>
              <a:buClr>
                <a:srgbClr val="FF0000"/>
              </a:buClr>
              <a:defRPr>
                <a:solidFill>
                  <a:schemeClr val="tx1"/>
                </a:solidFill>
              </a:defRPr>
            </a:lvl3pPr>
            <a:lvl4pPr>
              <a:buClr>
                <a:srgbClr val="FF0000"/>
              </a:buClr>
              <a:defRPr>
                <a:solidFill>
                  <a:schemeClr val="tx1"/>
                </a:solidFill>
              </a:defRPr>
            </a:lvl4pPr>
            <a:lvl5pPr>
              <a:buClr>
                <a:srgbClr val="FF0000"/>
              </a:buCl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7152130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1D150CF2-6C89-19B9-5C40-29860EAA1B04}"/>
              </a:ext>
            </a:extLst>
          </p:cNvPr>
          <p:cNvSpPr>
            <a:spLocks noGrp="1"/>
          </p:cNvSpPr>
          <p:nvPr>
            <p:ph type="title"/>
          </p:nvPr>
        </p:nvSpPr>
        <p:spPr bwMode="auto">
          <a:xfrm>
            <a:off x="0" y="0"/>
            <a:ext cx="9144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9F2F3F83-95E6-CF0C-3C19-B1354C94C1F3}"/>
              </a:ext>
            </a:extLst>
          </p:cNvPr>
          <p:cNvSpPr>
            <a:spLocks noGrp="1"/>
          </p:cNvSpPr>
          <p:nvPr>
            <p:ph type="body" idx="1"/>
          </p:nvPr>
        </p:nvSpPr>
        <p:spPr bwMode="auto">
          <a:xfrm>
            <a:off x="838200" y="1371600"/>
            <a:ext cx="75438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3947" r:id="rId1"/>
  </p:sldLayoutIdLst>
  <p:hf hdr="0" ftr="0" dt="0"/>
  <p:txStyles>
    <p:titleStyle>
      <a:lvl1pPr algn="ctr" rtl="0" eaLnBrk="0" fontAlgn="base" hangingPunct="0">
        <a:spcBef>
          <a:spcPct val="0"/>
        </a:spcBef>
        <a:spcAft>
          <a:spcPct val="0"/>
        </a:spcAft>
        <a:defRPr sz="4000" kern="1200">
          <a:solidFill>
            <a:srgbClr val="262626"/>
          </a:solidFill>
          <a:latin typeface="Arial" pitchFamily="34" charset="0"/>
          <a:ea typeface="ＭＳ Ｐゴシック" charset="0"/>
          <a:cs typeface="Arial" pitchFamily="34" charset="0"/>
        </a:defRPr>
      </a:lvl1pPr>
      <a:lvl2pPr algn="ctr" rtl="0" eaLnBrk="0" fontAlgn="base" hangingPunct="0">
        <a:spcBef>
          <a:spcPct val="0"/>
        </a:spcBef>
        <a:spcAft>
          <a:spcPct val="0"/>
        </a:spcAft>
        <a:defRPr sz="4000">
          <a:solidFill>
            <a:srgbClr val="262626"/>
          </a:solidFill>
          <a:latin typeface="Arial" pitchFamily="34" charset="0"/>
          <a:ea typeface="ＭＳ Ｐゴシック" charset="0"/>
          <a:cs typeface="Arial" pitchFamily="34" charset="0"/>
        </a:defRPr>
      </a:lvl2pPr>
      <a:lvl3pPr algn="ctr" rtl="0" eaLnBrk="0" fontAlgn="base" hangingPunct="0">
        <a:spcBef>
          <a:spcPct val="0"/>
        </a:spcBef>
        <a:spcAft>
          <a:spcPct val="0"/>
        </a:spcAft>
        <a:defRPr sz="4000">
          <a:solidFill>
            <a:srgbClr val="262626"/>
          </a:solidFill>
          <a:latin typeface="Arial" pitchFamily="34" charset="0"/>
          <a:ea typeface="ＭＳ Ｐゴシック" charset="0"/>
          <a:cs typeface="Arial" pitchFamily="34" charset="0"/>
        </a:defRPr>
      </a:lvl3pPr>
      <a:lvl4pPr algn="ctr" rtl="0" eaLnBrk="0" fontAlgn="base" hangingPunct="0">
        <a:spcBef>
          <a:spcPct val="0"/>
        </a:spcBef>
        <a:spcAft>
          <a:spcPct val="0"/>
        </a:spcAft>
        <a:defRPr sz="4000">
          <a:solidFill>
            <a:srgbClr val="262626"/>
          </a:solidFill>
          <a:latin typeface="Arial" pitchFamily="34" charset="0"/>
          <a:ea typeface="ＭＳ Ｐゴシック" charset="0"/>
          <a:cs typeface="Arial" pitchFamily="34" charset="0"/>
        </a:defRPr>
      </a:lvl4pPr>
      <a:lvl5pPr algn="ctr" rtl="0" eaLnBrk="0" fontAlgn="base" hangingPunct="0">
        <a:spcBef>
          <a:spcPct val="0"/>
        </a:spcBef>
        <a:spcAft>
          <a:spcPct val="0"/>
        </a:spcAft>
        <a:defRPr sz="4000">
          <a:solidFill>
            <a:srgbClr val="262626"/>
          </a:solidFill>
          <a:latin typeface="Arial" pitchFamily="34" charset="0"/>
          <a:ea typeface="ＭＳ Ｐゴシック" charset="0"/>
          <a:cs typeface="Arial"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Font typeface="Arial" panose="020B0604020202020204" pitchFamily="34" charset="0"/>
        <a:buChar char="•"/>
        <a:defRPr sz="2400" kern="1200">
          <a:solidFill>
            <a:schemeClr val="tx2"/>
          </a:solidFill>
          <a:latin typeface="+mn-lt"/>
          <a:ea typeface="ＭＳ Ｐゴシック" charset="0"/>
          <a:cs typeface="ＭＳ Ｐゴシック" charset="0"/>
        </a:defRPr>
      </a:lvl1pPr>
      <a:lvl2pPr marL="593725" indent="-273050" algn="l" rtl="0" eaLnBrk="0" fontAlgn="base" hangingPunct="0">
        <a:spcBef>
          <a:spcPct val="20000"/>
        </a:spcBef>
        <a:spcAft>
          <a:spcPct val="0"/>
        </a:spcAft>
        <a:buClr>
          <a:schemeClr val="accent1"/>
        </a:buClr>
        <a:buFont typeface="Arial" panose="020B0604020202020204" pitchFamily="34" charset="0"/>
        <a:buChar char="•"/>
        <a:defRPr sz="2200" kern="1200">
          <a:solidFill>
            <a:schemeClr val="tx2"/>
          </a:solidFill>
          <a:latin typeface="+mn-lt"/>
          <a:ea typeface="ＭＳ Ｐゴシック" charset="0"/>
          <a:cs typeface="+mn-cs"/>
        </a:defRPr>
      </a:lvl2pPr>
      <a:lvl3pPr marL="868363" indent="-228600" algn="l" rtl="0" eaLnBrk="0" fontAlgn="base" hangingPunct="0">
        <a:spcBef>
          <a:spcPct val="20000"/>
        </a:spcBef>
        <a:spcAft>
          <a:spcPct val="0"/>
        </a:spcAft>
        <a:buClr>
          <a:schemeClr val="accent1"/>
        </a:buClr>
        <a:buFont typeface="Arial" panose="020B0604020202020204" pitchFamily="34" charset="0"/>
        <a:buChar char="•"/>
        <a:defRPr sz="2000" kern="1200">
          <a:solidFill>
            <a:schemeClr val="tx2"/>
          </a:solidFill>
          <a:latin typeface="+mn-lt"/>
          <a:ea typeface="ＭＳ Ｐゴシック" charset="0"/>
          <a:cs typeface="+mn-cs"/>
        </a:defRPr>
      </a:lvl3pPr>
      <a:lvl4pPr marL="1143000" indent="-228600" algn="l" rtl="0" eaLnBrk="0" fontAlgn="base" hangingPunct="0">
        <a:spcBef>
          <a:spcPct val="20000"/>
        </a:spcBef>
        <a:spcAft>
          <a:spcPct val="0"/>
        </a:spcAft>
        <a:buClr>
          <a:schemeClr val="accent1"/>
        </a:buClr>
        <a:buFont typeface="Arial" panose="020B0604020202020204" pitchFamily="34" charset="0"/>
        <a:buChar char="•"/>
        <a:defRPr sz="2000" kern="1200">
          <a:solidFill>
            <a:schemeClr val="tx2"/>
          </a:solidFill>
          <a:latin typeface="+mn-lt"/>
          <a:ea typeface="ＭＳ Ｐゴシック" charset="0"/>
          <a:cs typeface="+mn-cs"/>
        </a:defRPr>
      </a:lvl4pPr>
      <a:lvl5pPr marL="1371600" indent="-228600" algn="l" rtl="0" eaLnBrk="0" fontAlgn="base" hangingPunct="0">
        <a:spcBef>
          <a:spcPct val="20000"/>
        </a:spcBef>
        <a:spcAft>
          <a:spcPct val="0"/>
        </a:spcAft>
        <a:buClr>
          <a:schemeClr val="accent1"/>
        </a:buClr>
        <a:buFont typeface="Arial" panose="020B0604020202020204" pitchFamily="34" charset="0"/>
        <a:buChar char="•"/>
        <a:defRPr sz="2000" kern="1200">
          <a:solidFill>
            <a:schemeClr val="tx2"/>
          </a:solidFill>
          <a:latin typeface="+mn-lt"/>
          <a:ea typeface="ＭＳ Ｐゴシック" charset="0"/>
          <a:cs typeface="+mn-cs"/>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17.xml"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 /><Relationship Id="rId2" Type="http://schemas.openxmlformats.org/officeDocument/2006/relationships/notesSlide" Target="../notesSlides/notesSlide21.xml" /><Relationship Id="rId1" Type="http://schemas.openxmlformats.org/officeDocument/2006/relationships/slideLayout" Target="../slideLayouts/slideLayout1.xml" /><Relationship Id="rId6" Type="http://schemas.openxmlformats.org/officeDocument/2006/relationships/image" Target="../media/image8.wmf" /><Relationship Id="rId5" Type="http://schemas.openxmlformats.org/officeDocument/2006/relationships/oleObject" Target="../embeddings/oleObject2.bin" /><Relationship Id="rId4" Type="http://schemas.openxmlformats.org/officeDocument/2006/relationships/image" Target="../media/image7.wmf"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1.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1.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 /><Relationship Id="rId1" Type="http://schemas.openxmlformats.org/officeDocument/2006/relationships/slideLayout" Target="../slideLayouts/slideLayout1.xml" /></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bin" /><Relationship Id="rId2" Type="http://schemas.openxmlformats.org/officeDocument/2006/relationships/notesSlide" Target="../notesSlides/notesSlide30.xml" /><Relationship Id="rId1" Type="http://schemas.openxmlformats.org/officeDocument/2006/relationships/slideLayout" Target="../slideLayouts/slideLayout1.xml" /><Relationship Id="rId6" Type="http://schemas.openxmlformats.org/officeDocument/2006/relationships/image" Target="../media/image10.wmf" /><Relationship Id="rId5" Type="http://schemas.openxmlformats.org/officeDocument/2006/relationships/oleObject" Target="../embeddings/oleObject4.bin" /><Relationship Id="rId4" Type="http://schemas.openxmlformats.org/officeDocument/2006/relationships/image" Target="../media/image9.wmf" /></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bin" /><Relationship Id="rId2" Type="http://schemas.openxmlformats.org/officeDocument/2006/relationships/notesSlide" Target="../notesSlides/notesSlide31.xml" /><Relationship Id="rId1" Type="http://schemas.openxmlformats.org/officeDocument/2006/relationships/slideLayout" Target="../slideLayouts/slideLayout1.xml" /><Relationship Id="rId6" Type="http://schemas.openxmlformats.org/officeDocument/2006/relationships/image" Target="../media/image10.wmf" /><Relationship Id="rId5" Type="http://schemas.openxmlformats.org/officeDocument/2006/relationships/oleObject" Target="../embeddings/oleObject6.bin" /><Relationship Id="rId4" Type="http://schemas.openxmlformats.org/officeDocument/2006/relationships/image" Target="../media/image9.wmf"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 /><Relationship Id="rId1" Type="http://schemas.openxmlformats.org/officeDocument/2006/relationships/slideLayout" Target="../slideLayouts/slideLayout1.xml" /></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 /><Relationship Id="rId1" Type="http://schemas.openxmlformats.org/officeDocument/2006/relationships/slideLayout" Target="../slideLayouts/slideLayout1.xml" /></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 /><Relationship Id="rId1" Type="http://schemas.openxmlformats.org/officeDocument/2006/relationships/slideLayout" Target="../slideLayouts/slideLayout1.xml" /></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 /><Relationship Id="rId1" Type="http://schemas.openxmlformats.org/officeDocument/2006/relationships/slideLayout" Target="../slideLayouts/slideLayout1.xml" /></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 /><Relationship Id="rId1" Type="http://schemas.openxmlformats.org/officeDocument/2006/relationships/slideLayout" Target="../slideLayouts/slideLayout1.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 /><Relationship Id="rId1" Type="http://schemas.openxmlformats.org/officeDocument/2006/relationships/slideLayout" Target="../slideLayouts/slideLayout1.xml" /></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 /><Relationship Id="rId1" Type="http://schemas.openxmlformats.org/officeDocument/2006/relationships/slideLayout" Target="../slideLayouts/slideLayout1.xml" /></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 /><Relationship Id="rId1" Type="http://schemas.openxmlformats.org/officeDocument/2006/relationships/slideLayout" Target="../slideLayouts/slideLayout1.xml" /></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 /><Relationship Id="rId1" Type="http://schemas.openxmlformats.org/officeDocument/2006/relationships/slideLayout" Target="../slideLayouts/slideLayout1.xml" /></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 /><Relationship Id="rId1" Type="http://schemas.openxmlformats.org/officeDocument/2006/relationships/slideLayout" Target="../slideLayouts/slideLayout1.xml" /></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7506D21-D709-5906-BB36-A432BF354C30}"/>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Counting</a:t>
            </a:r>
            <a:endParaRPr lang="en-US" altLang="en-US" b="1">
              <a:ea typeface="ＭＳ Ｐゴシック" panose="020B0600070205080204" pitchFamily="34" charset="-128"/>
            </a:endParaRPr>
          </a:p>
        </p:txBody>
      </p:sp>
      <p:sp>
        <p:nvSpPr>
          <p:cNvPr id="3075" name="Text Box 7">
            <a:extLst>
              <a:ext uri="{FF2B5EF4-FFF2-40B4-BE49-F238E27FC236}">
                <a16:creationId xmlns:a16="http://schemas.microsoft.com/office/drawing/2014/main" id="{C89976C7-18BB-570D-C979-34713724F199}"/>
              </a:ext>
            </a:extLst>
          </p:cNvPr>
          <p:cNvSpPr txBox="1">
            <a:spLocks noChangeArrowheads="1"/>
          </p:cNvSpPr>
          <p:nvPr/>
        </p:nvSpPr>
        <p:spPr bwMode="auto">
          <a:xfrm>
            <a:off x="1905000" y="4038600"/>
            <a:ext cx="54102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3200" i="1">
              <a:solidFill>
                <a:schemeClr val="tx2"/>
              </a:solidFill>
              <a:latin typeface="Helvetica" panose="020B0604020202020204" pitchFamily="34" charset="0"/>
            </a:endParaRPr>
          </a:p>
          <a:p>
            <a:pPr algn="ctr"/>
            <a:r>
              <a:rPr lang="en-US" altLang="en-US">
                <a:solidFill>
                  <a:srgbClr val="FF0000"/>
                </a:solidFill>
                <a:latin typeface="Helvetica" panose="020B0604020202020204" pitchFamily="34" charset="0"/>
              </a:rPr>
              <a:t>Lecture 15-16</a:t>
            </a:r>
            <a:endParaRPr lang="en-US" altLang="en-US" sz="1400" b="1">
              <a:solidFill>
                <a:srgbClr val="FF0000"/>
              </a:solidFill>
            </a:endParaRPr>
          </a:p>
          <a:p>
            <a:endParaRPr lang="en-US" altLang="en-US" sz="1800" b="1" i="1">
              <a:solidFill>
                <a:schemeClr val="tx2"/>
              </a:solidFill>
            </a:endParaRPr>
          </a:p>
          <a:p>
            <a:endParaRPr lang="en-US" altLang="en-US" sz="1400"/>
          </a:p>
          <a:p>
            <a:endParaRPr lang="en-US" alt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027D1AB-5918-1D85-768F-83F6DCA839E9}"/>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Counting</a:t>
            </a:r>
            <a:endParaRPr lang="en-US" altLang="en-US" b="1">
              <a:ea typeface="ＭＳ Ｐゴシック" panose="020B0600070205080204" pitchFamily="34" charset="-128"/>
            </a:endParaRPr>
          </a:p>
        </p:txBody>
      </p:sp>
      <p:sp>
        <p:nvSpPr>
          <p:cNvPr id="4099" name="TextBox 3">
            <a:extLst>
              <a:ext uri="{FF2B5EF4-FFF2-40B4-BE49-F238E27FC236}">
                <a16:creationId xmlns:a16="http://schemas.microsoft.com/office/drawing/2014/main" id="{C36F07BE-88F6-5995-A1DC-ACE44F9C5190}"/>
              </a:ext>
            </a:extLst>
          </p:cNvPr>
          <p:cNvSpPr txBox="1">
            <a:spLocks noChangeArrowheads="1"/>
          </p:cNvSpPr>
          <p:nvPr/>
        </p:nvSpPr>
        <p:spPr bwMode="auto">
          <a:xfrm>
            <a:off x="304800" y="2133600"/>
            <a:ext cx="85344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Assume we have a set of </a:t>
            </a:r>
            <a:r>
              <a:rPr lang="en-US" altLang="en-US" b="1">
                <a:solidFill>
                  <a:srgbClr val="FF0000"/>
                </a:solidFill>
              </a:rPr>
              <a:t>objects with certain properties</a:t>
            </a:r>
          </a:p>
          <a:p>
            <a:endParaRPr lang="en-US" altLang="en-US" b="1"/>
          </a:p>
          <a:p>
            <a:r>
              <a:rPr lang="en-US" altLang="en-US"/>
              <a:t>• </a:t>
            </a:r>
            <a:r>
              <a:rPr lang="en-US" altLang="en-US" b="1"/>
              <a:t>Counting is used to </a:t>
            </a:r>
            <a:r>
              <a:rPr lang="en-US" altLang="en-US" b="1">
                <a:solidFill>
                  <a:srgbClr val="FF0000"/>
                </a:solidFill>
              </a:rPr>
              <a:t>determine </a:t>
            </a:r>
            <a:r>
              <a:rPr lang="en-US" altLang="en-US" b="1"/>
              <a:t>the number </a:t>
            </a:r>
            <a:r>
              <a:rPr lang="en-US" altLang="en-US" b="1">
                <a:solidFill>
                  <a:srgbClr val="FF0000"/>
                </a:solidFill>
              </a:rPr>
              <a:t>of these objects</a:t>
            </a:r>
          </a:p>
          <a:p>
            <a:endParaRPr lang="en-US" altLang="en-US" b="1"/>
          </a:p>
          <a:p>
            <a:r>
              <a:rPr lang="en-US" altLang="en-US" b="1"/>
              <a:t>Examples:</a:t>
            </a:r>
          </a:p>
          <a:p>
            <a:pPr>
              <a:buFont typeface="Arial" panose="020B0604020202020204" pitchFamily="34" charset="0"/>
              <a:buChar char="•"/>
            </a:pPr>
            <a:r>
              <a:rPr lang="en-US" altLang="en-US"/>
              <a:t> Number of available </a:t>
            </a:r>
            <a:r>
              <a:rPr lang="en-US" altLang="en-US">
                <a:solidFill>
                  <a:srgbClr val="FF0000"/>
                </a:solidFill>
              </a:rPr>
              <a:t>phone numbers </a:t>
            </a:r>
            <a:r>
              <a:rPr lang="en-US" altLang="en-US"/>
              <a:t>with  11 digits in the local  calling area</a:t>
            </a:r>
          </a:p>
          <a:p>
            <a:pPr>
              <a:buFont typeface="Arial" panose="020B0604020202020204" pitchFamily="34" charset="0"/>
              <a:buChar char="•"/>
            </a:pPr>
            <a:r>
              <a:rPr lang="en-US" altLang="en-US"/>
              <a:t> Number of </a:t>
            </a:r>
            <a:r>
              <a:rPr lang="en-US" altLang="en-US">
                <a:solidFill>
                  <a:srgbClr val="FF0000"/>
                </a:solidFill>
              </a:rPr>
              <a:t>possible match starters (football, cricket) given the number of team </a:t>
            </a:r>
            <a:r>
              <a:rPr lang="en-US" altLang="en-US"/>
              <a:t>members and their positions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3456A76-4DDD-EA38-C4D5-7683C702A993}"/>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Basic Counting Rules</a:t>
            </a:r>
            <a:endParaRPr lang="en-US" altLang="en-US" b="1">
              <a:ea typeface="ＭＳ Ｐゴシック" panose="020B0600070205080204" pitchFamily="34" charset="-128"/>
            </a:endParaRPr>
          </a:p>
        </p:txBody>
      </p:sp>
      <p:sp>
        <p:nvSpPr>
          <p:cNvPr id="5123" name="TextBox 3">
            <a:extLst>
              <a:ext uri="{FF2B5EF4-FFF2-40B4-BE49-F238E27FC236}">
                <a16:creationId xmlns:a16="http://schemas.microsoft.com/office/drawing/2014/main" id="{DA55722F-121E-40D1-8CDD-23D97533AF9F}"/>
              </a:ext>
            </a:extLst>
          </p:cNvPr>
          <p:cNvSpPr txBox="1">
            <a:spLocks noChangeArrowheads="1"/>
          </p:cNvSpPr>
          <p:nvPr/>
        </p:nvSpPr>
        <p:spPr bwMode="auto">
          <a:xfrm>
            <a:off x="304800" y="2133600"/>
            <a:ext cx="85344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Counting problems may be very hard, not obvious</a:t>
            </a:r>
          </a:p>
          <a:p>
            <a:r>
              <a:rPr lang="en-US" altLang="en-US"/>
              <a:t>• </a:t>
            </a:r>
            <a:r>
              <a:rPr lang="en-US" altLang="en-US" b="1"/>
              <a:t>Solution:</a:t>
            </a:r>
          </a:p>
          <a:p>
            <a:r>
              <a:rPr lang="en-US" altLang="en-US"/>
              <a:t>– </a:t>
            </a:r>
            <a:r>
              <a:rPr lang="en-US" altLang="en-US" b="1">
                <a:solidFill>
                  <a:srgbClr val="FF0000"/>
                </a:solidFill>
              </a:rPr>
              <a:t>simplify </a:t>
            </a:r>
            <a:r>
              <a:rPr lang="en-US" altLang="en-US" b="1"/>
              <a:t>the solution </a:t>
            </a:r>
            <a:r>
              <a:rPr lang="en-US" altLang="en-US" b="1">
                <a:solidFill>
                  <a:srgbClr val="FF0000"/>
                </a:solidFill>
              </a:rPr>
              <a:t>by decomposing </a:t>
            </a:r>
            <a:r>
              <a:rPr lang="en-US" altLang="en-US" b="1"/>
              <a:t>the problem</a:t>
            </a:r>
          </a:p>
          <a:p>
            <a:endParaRPr lang="en-US" altLang="en-US" b="1"/>
          </a:p>
          <a:p>
            <a:r>
              <a:rPr lang="en-US" altLang="en-US"/>
              <a:t>• </a:t>
            </a:r>
            <a:r>
              <a:rPr lang="en-US" altLang="en-US" b="1"/>
              <a:t>Two basic decomposition rules:</a:t>
            </a:r>
          </a:p>
          <a:p>
            <a:r>
              <a:rPr lang="en-US" altLang="en-US"/>
              <a:t>– </a:t>
            </a:r>
            <a:r>
              <a:rPr lang="en-US" altLang="en-US" b="1">
                <a:solidFill>
                  <a:srgbClr val="FF0000"/>
                </a:solidFill>
              </a:rPr>
              <a:t>Product rule</a:t>
            </a:r>
          </a:p>
          <a:p>
            <a:r>
              <a:rPr lang="en-US" altLang="en-US"/>
              <a:t>• A count </a:t>
            </a:r>
            <a:r>
              <a:rPr lang="en-US" altLang="en-US">
                <a:solidFill>
                  <a:srgbClr val="FF0000"/>
                </a:solidFill>
              </a:rPr>
              <a:t>decomposes into a </a:t>
            </a:r>
            <a:r>
              <a:rPr lang="en-US" altLang="en-US"/>
              <a:t>sequence</a:t>
            </a:r>
            <a:r>
              <a:rPr lang="en-US" altLang="en-US">
                <a:solidFill>
                  <a:srgbClr val="FF0000"/>
                </a:solidFill>
              </a:rPr>
              <a:t> of dependent counts</a:t>
            </a:r>
          </a:p>
          <a:p>
            <a:r>
              <a:rPr lang="en-US" altLang="en-US"/>
              <a:t>      (“each element in the first count is associated with all</a:t>
            </a:r>
          </a:p>
          <a:p>
            <a:r>
              <a:rPr lang="en-US" altLang="en-US"/>
              <a:t>             elements of the second count”)</a:t>
            </a:r>
          </a:p>
          <a:p>
            <a:r>
              <a:rPr lang="en-US" altLang="en-US"/>
              <a:t>– </a:t>
            </a:r>
            <a:r>
              <a:rPr lang="en-US" altLang="en-US" b="1">
                <a:solidFill>
                  <a:srgbClr val="FF0000"/>
                </a:solidFill>
              </a:rPr>
              <a:t>Sum rule</a:t>
            </a:r>
          </a:p>
          <a:p>
            <a:r>
              <a:rPr lang="en-US" altLang="en-US"/>
              <a:t>• A count </a:t>
            </a:r>
            <a:r>
              <a:rPr lang="en-US" altLang="en-US">
                <a:solidFill>
                  <a:srgbClr val="FF0000"/>
                </a:solidFill>
              </a:rPr>
              <a:t>decomposes into a </a:t>
            </a:r>
            <a:r>
              <a:rPr lang="en-US" altLang="en-US"/>
              <a:t>set </a:t>
            </a:r>
            <a:r>
              <a:rPr lang="en-US" altLang="en-US">
                <a:solidFill>
                  <a:srgbClr val="FF0000"/>
                </a:solidFill>
              </a:rPr>
              <a:t>of independent counts</a:t>
            </a:r>
          </a:p>
          <a:p>
            <a:r>
              <a:rPr lang="en-US" altLang="en-US"/>
              <a:t>       (“elements of counts are alternatives”)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9D55C68-38A0-613C-5631-3D169FF8F2EC}"/>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Product Rule</a:t>
            </a:r>
            <a:endParaRPr lang="en-US" altLang="en-US" b="1">
              <a:ea typeface="ＭＳ Ｐゴシック" panose="020B0600070205080204" pitchFamily="34" charset="-128"/>
            </a:endParaRPr>
          </a:p>
        </p:txBody>
      </p:sp>
      <p:sp>
        <p:nvSpPr>
          <p:cNvPr id="6147" name="TextBox 3">
            <a:extLst>
              <a:ext uri="{FF2B5EF4-FFF2-40B4-BE49-F238E27FC236}">
                <a16:creationId xmlns:a16="http://schemas.microsoft.com/office/drawing/2014/main" id="{9689B4AB-69BF-71A6-873C-46E2F86F16FC}"/>
              </a:ext>
            </a:extLst>
          </p:cNvPr>
          <p:cNvSpPr txBox="1">
            <a:spLocks noChangeArrowheads="1"/>
          </p:cNvSpPr>
          <p:nvPr/>
        </p:nvSpPr>
        <p:spPr bwMode="auto">
          <a:xfrm>
            <a:off x="304800" y="1371600"/>
            <a:ext cx="85344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A count can be broken </a:t>
            </a:r>
            <a:r>
              <a:rPr lang="en-US" altLang="en-US">
                <a:solidFill>
                  <a:srgbClr val="FF0000"/>
                </a:solidFill>
              </a:rPr>
              <a:t>down into a sequence of dependent </a:t>
            </a:r>
            <a:r>
              <a:rPr lang="en-US" altLang="en-US"/>
              <a:t>counts</a:t>
            </a:r>
          </a:p>
          <a:p>
            <a:r>
              <a:rPr lang="en-US" altLang="en-US"/>
              <a:t>• </a:t>
            </a:r>
            <a:r>
              <a:rPr lang="en-US" altLang="en-US" b="1"/>
              <a:t>“each element in the first count is associated with all</a:t>
            </a:r>
          </a:p>
          <a:p>
            <a:r>
              <a:rPr lang="en-US" altLang="en-US" b="1"/>
              <a:t>elements of the second count”</a:t>
            </a:r>
          </a:p>
          <a:p>
            <a:endParaRPr lang="en-US" altLang="en-US" b="1"/>
          </a:p>
          <a:p>
            <a:r>
              <a:rPr lang="en-US" altLang="en-US" b="1"/>
              <a:t>Example:</a:t>
            </a:r>
          </a:p>
          <a:p>
            <a:r>
              <a:rPr lang="en-US" altLang="en-US"/>
              <a:t>• Assume an auditorium with </a:t>
            </a:r>
            <a:r>
              <a:rPr lang="en-US" altLang="en-US">
                <a:solidFill>
                  <a:srgbClr val="FF0000"/>
                </a:solidFill>
              </a:rPr>
              <a:t>a seat labeled by a letter </a:t>
            </a:r>
            <a:r>
              <a:rPr lang="en-US" altLang="en-US"/>
              <a:t>and</a:t>
            </a:r>
          </a:p>
          <a:p>
            <a:r>
              <a:rPr lang="en-US" altLang="en-US">
                <a:solidFill>
                  <a:srgbClr val="FF0000"/>
                </a:solidFill>
              </a:rPr>
              <a:t>numbers</a:t>
            </a:r>
            <a:r>
              <a:rPr lang="en-US" altLang="en-US"/>
              <a:t> in between 1 to 50 (e.g. A23). We want the </a:t>
            </a:r>
            <a:r>
              <a:rPr lang="en-US" altLang="en-US">
                <a:solidFill>
                  <a:srgbClr val="FF0000"/>
                </a:solidFill>
              </a:rPr>
              <a:t>total</a:t>
            </a:r>
          </a:p>
          <a:p>
            <a:r>
              <a:rPr lang="en-US" altLang="en-US">
                <a:solidFill>
                  <a:srgbClr val="FF0000"/>
                </a:solidFill>
              </a:rPr>
              <a:t>number of seats in the auditorium.</a:t>
            </a:r>
          </a:p>
          <a:p>
            <a:endParaRPr lang="en-US" altLang="en-US">
              <a:solidFill>
                <a:srgbClr val="FF0000"/>
              </a:solidFill>
            </a:endParaRPr>
          </a:p>
          <a:p>
            <a:r>
              <a:rPr lang="en-US" altLang="en-US"/>
              <a:t>• 26 letters and 50 numbers</a:t>
            </a:r>
          </a:p>
          <a:p>
            <a:r>
              <a:rPr lang="en-US" altLang="en-US"/>
              <a:t>• </a:t>
            </a:r>
            <a:r>
              <a:rPr lang="en-US" altLang="en-US">
                <a:solidFill>
                  <a:srgbClr val="FF0000"/>
                </a:solidFill>
              </a:rPr>
              <a:t>How to count?</a:t>
            </a:r>
          </a:p>
          <a:p>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F184747-FD91-378A-9DE9-ECBD0DDFAF24}"/>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Product Rule</a:t>
            </a:r>
            <a:endParaRPr lang="en-US" altLang="en-US" b="1">
              <a:ea typeface="ＭＳ Ｐゴシック" panose="020B0600070205080204" pitchFamily="34" charset="-128"/>
            </a:endParaRPr>
          </a:p>
        </p:txBody>
      </p:sp>
      <p:sp>
        <p:nvSpPr>
          <p:cNvPr id="7171" name="TextBox 3">
            <a:extLst>
              <a:ext uri="{FF2B5EF4-FFF2-40B4-BE49-F238E27FC236}">
                <a16:creationId xmlns:a16="http://schemas.microsoft.com/office/drawing/2014/main" id="{55A372AC-1DB8-0B65-4F41-AC692275F5AB}"/>
              </a:ext>
            </a:extLst>
          </p:cNvPr>
          <p:cNvSpPr txBox="1">
            <a:spLocks noChangeArrowheads="1"/>
          </p:cNvSpPr>
          <p:nvPr/>
        </p:nvSpPr>
        <p:spPr bwMode="auto">
          <a:xfrm>
            <a:off x="304800" y="1371600"/>
            <a:ext cx="85344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b="1"/>
          </a:p>
          <a:p>
            <a:r>
              <a:rPr lang="en-US" altLang="en-US" b="1"/>
              <a:t>Example:</a:t>
            </a:r>
          </a:p>
          <a:p>
            <a:r>
              <a:rPr lang="en-US" altLang="en-US"/>
              <a:t>• Assume an auditorium with </a:t>
            </a:r>
            <a:r>
              <a:rPr lang="en-US" altLang="en-US">
                <a:solidFill>
                  <a:srgbClr val="FF0000"/>
                </a:solidFill>
              </a:rPr>
              <a:t>a seat labeled by a letter </a:t>
            </a:r>
            <a:r>
              <a:rPr lang="en-US" altLang="en-US"/>
              <a:t>and</a:t>
            </a:r>
          </a:p>
          <a:p>
            <a:r>
              <a:rPr lang="en-US" altLang="en-US">
                <a:solidFill>
                  <a:srgbClr val="FF0000"/>
                </a:solidFill>
              </a:rPr>
              <a:t>numbers</a:t>
            </a:r>
            <a:r>
              <a:rPr lang="en-US" altLang="en-US"/>
              <a:t> in between 1 to 50 (e.g. A23). We want the </a:t>
            </a:r>
            <a:r>
              <a:rPr lang="en-US" altLang="en-US">
                <a:solidFill>
                  <a:srgbClr val="FF0000"/>
                </a:solidFill>
              </a:rPr>
              <a:t>total</a:t>
            </a:r>
          </a:p>
          <a:p>
            <a:r>
              <a:rPr lang="en-US" altLang="en-US">
                <a:solidFill>
                  <a:srgbClr val="FF0000"/>
                </a:solidFill>
              </a:rPr>
              <a:t>number of seats in the auditorium.</a:t>
            </a:r>
          </a:p>
          <a:p>
            <a:endParaRPr lang="en-US" altLang="en-US">
              <a:solidFill>
                <a:srgbClr val="FF0000"/>
              </a:solidFill>
            </a:endParaRPr>
          </a:p>
          <a:p>
            <a:r>
              <a:rPr lang="en-US" altLang="en-US"/>
              <a:t>• 26 letters and 50 numbers</a:t>
            </a:r>
          </a:p>
          <a:p>
            <a:r>
              <a:rPr lang="en-US" altLang="en-US"/>
              <a:t>• </a:t>
            </a:r>
            <a:r>
              <a:rPr lang="en-US" altLang="en-US">
                <a:solidFill>
                  <a:srgbClr val="FF0000"/>
                </a:solidFill>
              </a:rPr>
              <a:t>How to count?</a:t>
            </a:r>
          </a:p>
          <a:p>
            <a:endParaRPr lang="en-US" altLang="en-US"/>
          </a:p>
          <a:p>
            <a:r>
              <a:rPr lang="en-US" altLang="en-US"/>
              <a:t>• </a:t>
            </a:r>
            <a:r>
              <a:rPr lang="en-US" altLang="en-US" b="1">
                <a:solidFill>
                  <a:srgbClr val="FF0000"/>
                </a:solidFill>
              </a:rPr>
              <a:t>One solution: </a:t>
            </a:r>
            <a:r>
              <a:rPr lang="en-US" altLang="en-US" b="1">
                <a:solidFill>
                  <a:srgbClr val="00B050"/>
                </a:solidFill>
              </a:rPr>
              <a:t>write down all seats (objects) and count them</a:t>
            </a:r>
          </a:p>
          <a:p>
            <a:r>
              <a:rPr lang="pl-PL" altLang="en-US"/>
              <a:t>A-1 A-2 A-3 …A-50 B-1… Z-49 Z-50</a:t>
            </a:r>
          </a:p>
          <a:p>
            <a:r>
              <a:rPr lang="en-US" altLang="en-US"/>
              <a:t>1 2 3 50 51 … (n-1) n </a:t>
            </a:r>
            <a:r>
              <a:rPr lang="en-US" altLang="en-US">
                <a:solidFill>
                  <a:srgbClr val="FF0000"/>
                </a:solidFill>
              </a:rPr>
              <a:t>← eventually we get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6A4F079-8757-7A28-C77A-C53C856558D6}"/>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Product Rule</a:t>
            </a:r>
            <a:endParaRPr lang="en-US" altLang="en-US" b="1">
              <a:ea typeface="ＭＳ Ｐゴシック" panose="020B0600070205080204" pitchFamily="34" charset="-128"/>
            </a:endParaRPr>
          </a:p>
        </p:txBody>
      </p:sp>
      <p:sp>
        <p:nvSpPr>
          <p:cNvPr id="8195" name="TextBox 3">
            <a:extLst>
              <a:ext uri="{FF2B5EF4-FFF2-40B4-BE49-F238E27FC236}">
                <a16:creationId xmlns:a16="http://schemas.microsoft.com/office/drawing/2014/main" id="{328F317F-6232-D384-C8A2-9695F9160AF4}"/>
              </a:ext>
            </a:extLst>
          </p:cNvPr>
          <p:cNvSpPr txBox="1">
            <a:spLocks noChangeArrowheads="1"/>
          </p:cNvSpPr>
          <p:nvPr/>
        </p:nvSpPr>
        <p:spPr bwMode="auto">
          <a:xfrm>
            <a:off x="304800" y="1371600"/>
            <a:ext cx="85344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solidFill>
                <a:srgbClr val="FF0000"/>
              </a:solidFill>
            </a:endParaRPr>
          </a:p>
          <a:p>
            <a:r>
              <a:rPr lang="en-US" altLang="en-US"/>
              <a:t>• 26 letters and 50 numbers</a:t>
            </a:r>
          </a:p>
          <a:p>
            <a:r>
              <a:rPr lang="en-US" altLang="en-US"/>
              <a:t>• </a:t>
            </a:r>
            <a:r>
              <a:rPr lang="en-US" altLang="en-US">
                <a:solidFill>
                  <a:srgbClr val="FF0000"/>
                </a:solidFill>
              </a:rPr>
              <a:t>How to count?</a:t>
            </a:r>
          </a:p>
          <a:p>
            <a:endParaRPr lang="en-US" altLang="en-US"/>
          </a:p>
          <a:p>
            <a:r>
              <a:rPr lang="en-US" altLang="en-US"/>
              <a:t>• </a:t>
            </a:r>
            <a:r>
              <a:rPr lang="en-US" altLang="en-US" b="1">
                <a:solidFill>
                  <a:srgbClr val="FF0000"/>
                </a:solidFill>
              </a:rPr>
              <a:t>One solution: </a:t>
            </a:r>
            <a:r>
              <a:rPr lang="en-US" altLang="en-US" b="1">
                <a:solidFill>
                  <a:srgbClr val="00B050"/>
                </a:solidFill>
              </a:rPr>
              <a:t>write down all seats (objects) and count them</a:t>
            </a:r>
          </a:p>
          <a:p>
            <a:r>
              <a:rPr lang="pl-PL" altLang="en-US"/>
              <a:t>A-1 A-2 A-3 …A-50 B-1… Z-49 Z-50</a:t>
            </a:r>
          </a:p>
          <a:p>
            <a:r>
              <a:rPr lang="en-US" altLang="en-US"/>
              <a:t>1 2 3 50 51 … (n-1) n </a:t>
            </a:r>
            <a:r>
              <a:rPr lang="en-US" altLang="en-US">
                <a:solidFill>
                  <a:srgbClr val="FF0000"/>
                </a:solidFill>
              </a:rPr>
              <a:t>← eventually we get it</a:t>
            </a:r>
          </a:p>
          <a:p>
            <a:endParaRPr lang="en-US" altLang="en-US"/>
          </a:p>
          <a:p>
            <a:r>
              <a:rPr lang="en-US" altLang="en-US"/>
              <a:t>• </a:t>
            </a:r>
            <a:r>
              <a:rPr lang="en-US" altLang="en-US" b="1">
                <a:solidFill>
                  <a:srgbClr val="FF0000"/>
                </a:solidFill>
              </a:rPr>
              <a:t>A better solution?</a:t>
            </a:r>
          </a:p>
          <a:p>
            <a:r>
              <a:rPr lang="en-US" altLang="en-US"/>
              <a:t>• For each letter there are 50 numbers</a:t>
            </a:r>
          </a:p>
          <a:p>
            <a:r>
              <a:rPr lang="en-US" altLang="en-US"/>
              <a:t>• So the number of seats is </a:t>
            </a:r>
            <a:r>
              <a:rPr lang="en-US" altLang="en-US">
                <a:solidFill>
                  <a:srgbClr val="FF0000"/>
                </a:solidFill>
              </a:rPr>
              <a:t>26*50 = 1300</a:t>
            </a:r>
          </a:p>
          <a:p>
            <a:r>
              <a:rPr lang="en-US" altLang="en-US"/>
              <a:t>• </a:t>
            </a:r>
            <a:r>
              <a:rPr lang="en-US" altLang="en-US" b="1"/>
              <a:t>Product rule: </a:t>
            </a:r>
            <a:r>
              <a:rPr lang="en-US" altLang="en-US" b="1">
                <a:solidFill>
                  <a:srgbClr val="00B050"/>
                </a:solidFill>
              </a:rPr>
              <a:t>number of letters </a:t>
            </a:r>
            <a:r>
              <a:rPr lang="en-US" altLang="en-US" b="1">
                <a:solidFill>
                  <a:srgbClr val="FF0000"/>
                </a:solidFill>
              </a:rPr>
              <a:t>* </a:t>
            </a:r>
            <a:r>
              <a:rPr lang="en-US" altLang="en-US" b="1">
                <a:solidFill>
                  <a:srgbClr val="00B050"/>
                </a:solidFill>
              </a:rPr>
              <a:t>number of integers in [1,50]</a:t>
            </a:r>
            <a:endParaRPr lang="en-US" altLang="en-US">
              <a:solidFill>
                <a:srgbClr val="00B05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1130427C-161B-251B-E57B-6E4D723071B3}"/>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Product Rule</a:t>
            </a:r>
            <a:endParaRPr lang="en-US" altLang="en-US" b="1">
              <a:ea typeface="ＭＳ Ｐゴシック" panose="020B0600070205080204" pitchFamily="34" charset="-128"/>
            </a:endParaRPr>
          </a:p>
        </p:txBody>
      </p:sp>
      <p:sp>
        <p:nvSpPr>
          <p:cNvPr id="9219" name="TextBox 3">
            <a:extLst>
              <a:ext uri="{FF2B5EF4-FFF2-40B4-BE49-F238E27FC236}">
                <a16:creationId xmlns:a16="http://schemas.microsoft.com/office/drawing/2014/main" id="{878ED722-56A5-A7EC-F824-704B563632FF}"/>
              </a:ext>
            </a:extLst>
          </p:cNvPr>
          <p:cNvSpPr txBox="1">
            <a:spLocks noChangeArrowheads="1"/>
          </p:cNvSpPr>
          <p:nvPr/>
        </p:nvSpPr>
        <p:spPr bwMode="auto">
          <a:xfrm>
            <a:off x="304800" y="1371600"/>
            <a:ext cx="85344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A count can be broken </a:t>
            </a:r>
            <a:r>
              <a:rPr lang="en-US" altLang="en-US">
                <a:solidFill>
                  <a:srgbClr val="FF0000"/>
                </a:solidFill>
              </a:rPr>
              <a:t>down into a sequence of dependent </a:t>
            </a:r>
            <a:r>
              <a:rPr lang="en-US" altLang="en-US"/>
              <a:t>counts</a:t>
            </a:r>
          </a:p>
          <a:p>
            <a:r>
              <a:rPr lang="en-US" altLang="en-US"/>
              <a:t>• </a:t>
            </a:r>
            <a:r>
              <a:rPr lang="en-US" altLang="en-US" b="1"/>
              <a:t>“each element in the first count is associated with all</a:t>
            </a:r>
          </a:p>
          <a:p>
            <a:r>
              <a:rPr lang="en-US" altLang="en-US" b="1"/>
              <a:t>elements of the second count”</a:t>
            </a:r>
          </a:p>
          <a:p>
            <a:endParaRPr lang="en-US" altLang="en-US" b="1"/>
          </a:p>
          <a:p>
            <a:r>
              <a:rPr lang="en-US" altLang="en-US" b="1">
                <a:solidFill>
                  <a:srgbClr val="FF0000"/>
                </a:solidFill>
              </a:rPr>
              <a:t>Product rule: </a:t>
            </a:r>
            <a:r>
              <a:rPr lang="en-US" altLang="en-US"/>
              <a:t>If a count of elements can be </a:t>
            </a:r>
            <a:r>
              <a:rPr lang="en-US" altLang="en-US">
                <a:solidFill>
                  <a:srgbClr val="FF0000"/>
                </a:solidFill>
              </a:rPr>
              <a:t>broken</a:t>
            </a:r>
            <a:r>
              <a:rPr lang="en-US" altLang="en-US"/>
              <a:t> down into a </a:t>
            </a:r>
            <a:r>
              <a:rPr lang="en-US" altLang="en-US">
                <a:solidFill>
                  <a:srgbClr val="FF0000"/>
                </a:solidFill>
              </a:rPr>
              <a:t>sequence of dependent counts</a:t>
            </a:r>
            <a:r>
              <a:rPr lang="en-US" altLang="en-US"/>
              <a:t> where the first count yields </a:t>
            </a:r>
            <a:r>
              <a:rPr lang="en-US" altLang="en-US" i="1">
                <a:solidFill>
                  <a:srgbClr val="FF0000"/>
                </a:solidFill>
              </a:rPr>
              <a:t>n1</a:t>
            </a:r>
            <a:r>
              <a:rPr lang="en-US" altLang="en-US" i="1"/>
              <a:t> </a:t>
            </a:r>
            <a:r>
              <a:rPr lang="en-US" altLang="en-US"/>
              <a:t>elements, the second </a:t>
            </a:r>
            <a:r>
              <a:rPr lang="en-US" altLang="en-US" i="1">
                <a:solidFill>
                  <a:srgbClr val="FF0000"/>
                </a:solidFill>
              </a:rPr>
              <a:t>n2</a:t>
            </a:r>
            <a:r>
              <a:rPr lang="en-US" altLang="en-US" i="1"/>
              <a:t> elements, and kth count </a:t>
            </a:r>
            <a:r>
              <a:rPr lang="en-US" altLang="en-US" i="1">
                <a:solidFill>
                  <a:srgbClr val="FF0000"/>
                </a:solidFill>
              </a:rPr>
              <a:t>nk</a:t>
            </a:r>
            <a:r>
              <a:rPr lang="en-US" altLang="en-US" i="1"/>
              <a:t> elements, by </a:t>
            </a:r>
            <a:r>
              <a:rPr lang="en-US" altLang="en-US"/>
              <a:t>the product rule the total number of elements is:</a:t>
            </a:r>
          </a:p>
          <a:p>
            <a:endParaRPr lang="en-US" altLang="en-US"/>
          </a:p>
          <a:p>
            <a:r>
              <a:rPr lang="en-US" altLang="en-US"/>
              <a:t>• </a:t>
            </a:r>
            <a:r>
              <a:rPr lang="en-US" altLang="en-US" i="1">
                <a:solidFill>
                  <a:srgbClr val="FF0000"/>
                </a:solidFill>
              </a:rPr>
              <a:t>n = n1*n2* …* nk</a:t>
            </a:r>
            <a:endParaRPr lang="en-US" altLang="en-US">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1BD5ABC-2F20-5B43-2CF5-FE4E9B128D79}"/>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Product Rule</a:t>
            </a:r>
            <a:endParaRPr lang="en-US" altLang="en-US" b="1">
              <a:ea typeface="ＭＳ Ｐゴシック" panose="020B0600070205080204" pitchFamily="34" charset="-128"/>
            </a:endParaRPr>
          </a:p>
        </p:txBody>
      </p:sp>
      <p:sp>
        <p:nvSpPr>
          <p:cNvPr id="10243" name="TextBox 3">
            <a:extLst>
              <a:ext uri="{FF2B5EF4-FFF2-40B4-BE49-F238E27FC236}">
                <a16:creationId xmlns:a16="http://schemas.microsoft.com/office/drawing/2014/main" id="{1C8ECDF6-96EC-F1F5-C7C0-0D39DB98C3F4}"/>
              </a:ext>
            </a:extLst>
          </p:cNvPr>
          <p:cNvSpPr txBox="1">
            <a:spLocks noChangeArrowheads="1"/>
          </p:cNvSpPr>
          <p:nvPr/>
        </p:nvSpPr>
        <p:spPr bwMode="auto">
          <a:xfrm>
            <a:off x="304800" y="1371600"/>
            <a:ext cx="85344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t>Example:</a:t>
            </a:r>
          </a:p>
          <a:p>
            <a:r>
              <a:rPr lang="en-US" altLang="en-US"/>
              <a:t>• How many different bit strings of length 7 are there?</a:t>
            </a:r>
          </a:p>
          <a:p>
            <a:endParaRPr lang="en-US" altLang="en-US"/>
          </a:p>
          <a:p>
            <a:r>
              <a:rPr lang="en-US" altLang="en-US"/>
              <a:t>• E.g. 1011010</a:t>
            </a:r>
          </a:p>
          <a:p>
            <a:endParaRPr lang="en-US" altLang="en-US"/>
          </a:p>
          <a:p>
            <a:r>
              <a:rPr lang="en-US" altLang="en-US"/>
              <a:t>• Is it possible to </a:t>
            </a:r>
            <a:r>
              <a:rPr lang="en-US" altLang="en-US">
                <a:solidFill>
                  <a:srgbClr val="FF0000"/>
                </a:solidFill>
              </a:rPr>
              <a:t>decompose the count problem </a:t>
            </a:r>
            <a:r>
              <a:rPr lang="en-US" altLang="en-US"/>
              <a:t>and if yes how?</a:t>
            </a:r>
          </a:p>
          <a:p>
            <a:endParaRPr lang="en-US" altLang="en-US"/>
          </a:p>
          <a:p>
            <a:r>
              <a:rPr lang="en-US" altLang="en-US">
                <a:solidFill>
                  <a:srgbClr val="FF0000"/>
                </a:solidFill>
              </a:rPr>
              <a:t>• </a:t>
            </a:r>
            <a:r>
              <a:rPr lang="en-US" altLang="en-US" b="1">
                <a:solidFill>
                  <a:srgbClr val="FF0000"/>
                </a:solidFill>
              </a:rPr>
              <a:t>Yes.</a:t>
            </a:r>
          </a:p>
          <a:p>
            <a:r>
              <a:rPr lang="en-US" altLang="en-US"/>
              <a:t>– Count the </a:t>
            </a:r>
            <a:r>
              <a:rPr lang="en-US" altLang="en-US">
                <a:solidFill>
                  <a:srgbClr val="FF0000"/>
                </a:solidFill>
              </a:rPr>
              <a:t>number of possible assignments to bit 1</a:t>
            </a:r>
          </a:p>
          <a:p>
            <a:r>
              <a:rPr lang="en-US" altLang="en-US"/>
              <a:t>– For the specific first bit count possible assignments to bit 2</a:t>
            </a:r>
          </a:p>
          <a:p>
            <a:r>
              <a:rPr lang="en-US" altLang="en-US"/>
              <a:t>– For the specific first two bits count assignments to bit 3</a:t>
            </a:r>
          </a:p>
          <a:p>
            <a:endParaRPr lang="en-US" altLang="en-US"/>
          </a:p>
          <a:p>
            <a:r>
              <a:rPr lang="en-US" altLang="en-US"/>
              <a:t>– Number of assignments to the first 3 bits: </a:t>
            </a:r>
            <a:r>
              <a:rPr lang="en-US" altLang="en-US">
                <a:solidFill>
                  <a:srgbClr val="FF0000"/>
                </a:solidFill>
              </a:rPr>
              <a:t>2*2*2=8</a:t>
            </a:r>
          </a:p>
        </p:txBody>
      </p:sp>
      <p:pic>
        <p:nvPicPr>
          <p:cNvPr id="10244" name="Picture 2">
            <a:extLst>
              <a:ext uri="{FF2B5EF4-FFF2-40B4-BE49-F238E27FC236}">
                <a16:creationId xmlns:a16="http://schemas.microsoft.com/office/drawing/2014/main" id="{8830BD2C-3925-8E83-EC31-65C04D430B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733800"/>
            <a:ext cx="3886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445B396-EB41-B9B5-020C-975A2F258925}"/>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Product Rule</a:t>
            </a:r>
            <a:endParaRPr lang="en-US" altLang="en-US" b="1">
              <a:ea typeface="ＭＳ Ｐゴシック" panose="020B0600070205080204" pitchFamily="34" charset="-128"/>
            </a:endParaRPr>
          </a:p>
        </p:txBody>
      </p:sp>
      <p:sp>
        <p:nvSpPr>
          <p:cNvPr id="11267" name="TextBox 3">
            <a:extLst>
              <a:ext uri="{FF2B5EF4-FFF2-40B4-BE49-F238E27FC236}">
                <a16:creationId xmlns:a16="http://schemas.microsoft.com/office/drawing/2014/main" id="{1592C19A-C8BB-1FBF-C91A-1EFB456AF96F}"/>
              </a:ext>
            </a:extLst>
          </p:cNvPr>
          <p:cNvSpPr txBox="1">
            <a:spLocks noChangeArrowheads="1"/>
          </p:cNvSpPr>
          <p:nvPr/>
        </p:nvSpPr>
        <p:spPr bwMode="auto">
          <a:xfrm>
            <a:off x="304800" y="1371600"/>
            <a:ext cx="85344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t>Example:</a:t>
            </a:r>
          </a:p>
          <a:p>
            <a:r>
              <a:rPr lang="en-US" altLang="en-US"/>
              <a:t>• How many different bit strings of length 7 are there?</a:t>
            </a:r>
          </a:p>
          <a:p>
            <a:endParaRPr lang="en-US" altLang="en-US"/>
          </a:p>
          <a:p>
            <a:r>
              <a:rPr lang="en-US" altLang="en-US"/>
              <a:t>• E.g. 1011010</a:t>
            </a:r>
          </a:p>
          <a:p>
            <a:endParaRPr lang="en-US" altLang="en-US"/>
          </a:p>
          <a:p>
            <a:r>
              <a:rPr lang="en-US" altLang="en-US"/>
              <a:t>• Is it possible to </a:t>
            </a:r>
            <a:r>
              <a:rPr lang="en-US" altLang="en-US">
                <a:solidFill>
                  <a:srgbClr val="FF0000"/>
                </a:solidFill>
              </a:rPr>
              <a:t>decompose the count problem </a:t>
            </a:r>
            <a:r>
              <a:rPr lang="en-US" altLang="en-US"/>
              <a:t>and if yes how?</a:t>
            </a:r>
          </a:p>
          <a:p>
            <a:endParaRPr lang="en-US" altLang="en-US"/>
          </a:p>
          <a:p>
            <a:r>
              <a:rPr lang="en-US" altLang="en-US">
                <a:solidFill>
                  <a:srgbClr val="FF0000"/>
                </a:solidFill>
              </a:rPr>
              <a:t>• </a:t>
            </a:r>
            <a:r>
              <a:rPr lang="en-US" altLang="en-US" b="1">
                <a:solidFill>
                  <a:srgbClr val="FF0000"/>
                </a:solidFill>
              </a:rPr>
              <a:t>Yes.</a:t>
            </a:r>
          </a:p>
          <a:p>
            <a:r>
              <a:rPr lang="en-US" altLang="en-US"/>
              <a:t>– Count the </a:t>
            </a:r>
            <a:r>
              <a:rPr lang="en-US" altLang="en-US">
                <a:solidFill>
                  <a:srgbClr val="FF0000"/>
                </a:solidFill>
              </a:rPr>
              <a:t>number of possible assignments to bit 1</a:t>
            </a:r>
          </a:p>
          <a:p>
            <a:r>
              <a:rPr lang="en-US" altLang="en-US"/>
              <a:t>– For the specific first bit count possible assignments to bit 2</a:t>
            </a:r>
          </a:p>
          <a:p>
            <a:r>
              <a:rPr lang="en-US" altLang="en-US"/>
              <a:t>– For the specific first two bits count assignments to bit 3</a:t>
            </a:r>
          </a:p>
          <a:p>
            <a:r>
              <a:rPr lang="en-US" altLang="en-US"/>
              <a:t>– Gives a sequence of n dependent counts and by the product rule we have: </a:t>
            </a:r>
            <a:r>
              <a:rPr lang="pt-BR" altLang="en-US" b="1">
                <a:solidFill>
                  <a:srgbClr val="FF0000"/>
                </a:solidFill>
              </a:rPr>
              <a:t>n = 2* 2 * 2 * 2 * 2 * 2 *2 = 2</a:t>
            </a:r>
            <a:r>
              <a:rPr lang="pt-BR" altLang="en-US" b="1" baseline="30000">
                <a:solidFill>
                  <a:srgbClr val="FF0000"/>
                </a:solidFill>
              </a:rPr>
              <a:t>7</a:t>
            </a:r>
            <a:endParaRPr lang="en-US" altLang="en-US" baseline="3000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01F0A08B-F604-2B9D-0866-156FE3BC1FFA}"/>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Product Rule</a:t>
            </a:r>
            <a:endParaRPr lang="en-US" altLang="en-US" b="1">
              <a:ea typeface="ＭＳ Ｐゴシック" panose="020B0600070205080204" pitchFamily="34" charset="-128"/>
            </a:endParaRPr>
          </a:p>
        </p:txBody>
      </p:sp>
      <p:sp>
        <p:nvSpPr>
          <p:cNvPr id="12291" name="TextBox 3">
            <a:extLst>
              <a:ext uri="{FF2B5EF4-FFF2-40B4-BE49-F238E27FC236}">
                <a16:creationId xmlns:a16="http://schemas.microsoft.com/office/drawing/2014/main" id="{5E027A47-59B6-E09B-8534-EFE70AB908ED}"/>
              </a:ext>
            </a:extLst>
          </p:cNvPr>
          <p:cNvSpPr txBox="1">
            <a:spLocks noChangeArrowheads="1"/>
          </p:cNvSpPr>
          <p:nvPr/>
        </p:nvSpPr>
        <p:spPr bwMode="auto">
          <a:xfrm>
            <a:off x="304800" y="1371600"/>
            <a:ext cx="85344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t>Example:</a:t>
            </a:r>
          </a:p>
          <a:p>
            <a:endParaRPr lang="en-US" altLang="en-US" b="1"/>
          </a:p>
          <a:p>
            <a:r>
              <a:rPr lang="en-US" altLang="en-US" b="1"/>
              <a:t>The number of </a:t>
            </a:r>
            <a:r>
              <a:rPr lang="en-US" altLang="en-US" b="1">
                <a:solidFill>
                  <a:srgbClr val="FF0000"/>
                </a:solidFill>
              </a:rPr>
              <a:t>subsets of a set S with k elements</a:t>
            </a:r>
            <a:r>
              <a:rPr lang="en-US" altLang="en-US" b="1"/>
              <a:t>.</a:t>
            </a:r>
          </a:p>
          <a:p>
            <a:endParaRPr lang="en-US" altLang="en-US" b="1"/>
          </a:p>
          <a:p>
            <a:r>
              <a:rPr lang="en-US" altLang="en-US"/>
              <a:t>• </a:t>
            </a:r>
            <a:r>
              <a:rPr lang="en-US" altLang="en-US">
                <a:solidFill>
                  <a:srgbClr val="FF0000"/>
                </a:solidFill>
              </a:rPr>
              <a:t>How to count them?</a:t>
            </a:r>
          </a:p>
          <a:p>
            <a:endParaRPr lang="en-US" altLang="en-US"/>
          </a:p>
          <a:p>
            <a:r>
              <a:rPr lang="en-US" altLang="en-US"/>
              <a:t>• </a:t>
            </a:r>
            <a:r>
              <a:rPr lang="en-US" altLang="en-US">
                <a:solidFill>
                  <a:srgbClr val="FF0000"/>
                </a:solidFill>
              </a:rPr>
              <a:t>Hint: think in terms of bitstring representation of a set?</a:t>
            </a:r>
          </a:p>
          <a:p>
            <a:endParaRPr lang="en-US" altLang="en-US">
              <a:solidFill>
                <a:srgbClr val="FF0000"/>
              </a:solidFill>
            </a:endParaRPr>
          </a:p>
          <a:p>
            <a:r>
              <a:rPr lang="en-US" altLang="en-US"/>
              <a:t>• Assume each element in S is assigned a bit position.</a:t>
            </a:r>
          </a:p>
          <a:p>
            <a:r>
              <a:rPr lang="en-US" altLang="en-US"/>
              <a:t>• If A is a subset it can be encoded as a bitstring: if an element is in A then use 1 else put 0</a:t>
            </a:r>
          </a:p>
          <a:p>
            <a:endParaRPr lang="en-US" altLang="en-US"/>
          </a:p>
          <a:p>
            <a:r>
              <a:rPr lang="en-US" altLang="en-US"/>
              <a:t>• </a:t>
            </a:r>
            <a:r>
              <a:rPr lang="en-US" altLang="en-US">
                <a:solidFill>
                  <a:srgbClr val="FF0000"/>
                </a:solidFill>
              </a:rPr>
              <a:t>How many different bitstrings are there?</a:t>
            </a:r>
          </a:p>
          <a:p>
            <a:r>
              <a:rPr lang="pt-BR" altLang="en-US"/>
              <a:t>– </a:t>
            </a:r>
            <a:r>
              <a:rPr lang="pt-BR" altLang="en-US">
                <a:solidFill>
                  <a:srgbClr val="FF0000"/>
                </a:solidFill>
              </a:rPr>
              <a:t>n =  2* 2* …2      = 2</a:t>
            </a:r>
            <a:r>
              <a:rPr lang="pt-BR" altLang="en-US" baseline="30000">
                <a:solidFill>
                  <a:srgbClr val="00B050"/>
                </a:solidFill>
              </a:rPr>
              <a:t>k</a:t>
            </a:r>
          </a:p>
          <a:p>
            <a:endParaRPr lang="en-US" altLang="en-US" baseline="30000">
              <a:solidFill>
                <a:srgbClr val="FF0000"/>
              </a:solidFill>
            </a:endParaRPr>
          </a:p>
        </p:txBody>
      </p:sp>
      <p:sp>
        <p:nvSpPr>
          <p:cNvPr id="5" name="Right Brace 4">
            <a:extLst>
              <a:ext uri="{FF2B5EF4-FFF2-40B4-BE49-F238E27FC236}">
                <a16:creationId xmlns:a16="http://schemas.microsoft.com/office/drawing/2014/main" id="{F08D948B-461A-2045-37C5-D9BADE240B8B}"/>
              </a:ext>
            </a:extLst>
          </p:cNvPr>
          <p:cNvSpPr/>
          <p:nvPr/>
        </p:nvSpPr>
        <p:spPr>
          <a:xfrm rot="5400000">
            <a:off x="1581944" y="5788819"/>
            <a:ext cx="554037" cy="1584325"/>
          </a:xfrm>
          <a:prstGeom prst="rightBrace">
            <a:avLst>
              <a:gd name="adj1" fmla="val 24439"/>
              <a:gd name="adj2" fmla="val 49633"/>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2293" name="TextBox 5">
            <a:extLst>
              <a:ext uri="{FF2B5EF4-FFF2-40B4-BE49-F238E27FC236}">
                <a16:creationId xmlns:a16="http://schemas.microsoft.com/office/drawing/2014/main" id="{588CA597-6E49-1FE5-8AB7-646DD7A5321D}"/>
              </a:ext>
            </a:extLst>
          </p:cNvPr>
          <p:cNvSpPr txBox="1">
            <a:spLocks noChangeArrowheads="1"/>
          </p:cNvSpPr>
          <p:nvPr/>
        </p:nvSpPr>
        <p:spPr bwMode="auto">
          <a:xfrm>
            <a:off x="2667000" y="6396038"/>
            <a:ext cx="2514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FF0000"/>
                </a:solidFill>
              </a:rPr>
              <a:t>k-element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9891842-F480-A5C4-0BDD-D0B14D94E0D1}"/>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Sum Rule</a:t>
            </a:r>
            <a:endParaRPr lang="en-US" altLang="en-US" b="1">
              <a:ea typeface="ＭＳ Ｐゴシック" panose="020B0600070205080204" pitchFamily="34" charset="-128"/>
            </a:endParaRPr>
          </a:p>
        </p:txBody>
      </p:sp>
      <p:sp>
        <p:nvSpPr>
          <p:cNvPr id="13315" name="TextBox 3">
            <a:extLst>
              <a:ext uri="{FF2B5EF4-FFF2-40B4-BE49-F238E27FC236}">
                <a16:creationId xmlns:a16="http://schemas.microsoft.com/office/drawing/2014/main" id="{FFE918BB-9F57-AF19-0A88-33A579B079F5}"/>
              </a:ext>
            </a:extLst>
          </p:cNvPr>
          <p:cNvSpPr txBox="1">
            <a:spLocks noChangeArrowheads="1"/>
          </p:cNvSpPr>
          <p:nvPr/>
        </p:nvSpPr>
        <p:spPr bwMode="auto">
          <a:xfrm>
            <a:off x="304800" y="1371600"/>
            <a:ext cx="85344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A </a:t>
            </a:r>
            <a:r>
              <a:rPr lang="en-US" altLang="en-US">
                <a:solidFill>
                  <a:srgbClr val="FF0000"/>
                </a:solidFill>
              </a:rPr>
              <a:t>count decomposes into a set of independent </a:t>
            </a:r>
            <a:r>
              <a:rPr lang="en-US" altLang="en-US"/>
              <a:t>counts</a:t>
            </a:r>
          </a:p>
          <a:p>
            <a:r>
              <a:rPr lang="en-US" altLang="en-US"/>
              <a:t>• “elements of counts are alternatives”, they do not depend on</a:t>
            </a:r>
          </a:p>
          <a:p>
            <a:r>
              <a:rPr lang="en-US" altLang="en-US"/>
              <a:t>each other.</a:t>
            </a:r>
          </a:p>
          <a:p>
            <a:r>
              <a:rPr lang="en-US" altLang="en-US" b="1"/>
              <a:t>Example:</a:t>
            </a:r>
          </a:p>
          <a:p>
            <a:r>
              <a:rPr lang="en-US" altLang="en-US"/>
              <a:t>• You need to t</a:t>
            </a:r>
            <a:r>
              <a:rPr lang="en-US" altLang="en-US">
                <a:solidFill>
                  <a:srgbClr val="FF0000"/>
                </a:solidFill>
              </a:rPr>
              <a:t>ravel</a:t>
            </a:r>
            <a:r>
              <a:rPr lang="en-US" altLang="en-US"/>
              <a:t> in between </a:t>
            </a:r>
            <a:r>
              <a:rPr lang="en-US" altLang="en-US">
                <a:solidFill>
                  <a:srgbClr val="FF0000"/>
                </a:solidFill>
              </a:rPr>
              <a:t>city A and B</a:t>
            </a:r>
            <a:r>
              <a:rPr lang="en-US" altLang="en-US"/>
              <a:t>. You can either </a:t>
            </a:r>
            <a:r>
              <a:rPr lang="en-US" altLang="en-US">
                <a:solidFill>
                  <a:srgbClr val="FF0000"/>
                </a:solidFill>
              </a:rPr>
              <a:t>fly, take a train, or a bus</a:t>
            </a:r>
            <a:r>
              <a:rPr lang="en-US" altLang="en-US"/>
              <a:t>. There are </a:t>
            </a:r>
            <a:r>
              <a:rPr lang="en-US" altLang="en-US">
                <a:solidFill>
                  <a:srgbClr val="FF0000"/>
                </a:solidFill>
              </a:rPr>
              <a:t>3 </a:t>
            </a:r>
            <a:r>
              <a:rPr lang="en-US" altLang="en-US"/>
              <a:t>different flights in between A and B, </a:t>
            </a:r>
            <a:r>
              <a:rPr lang="en-US" altLang="en-US">
                <a:solidFill>
                  <a:srgbClr val="FF0000"/>
                </a:solidFill>
              </a:rPr>
              <a:t>2</a:t>
            </a:r>
            <a:r>
              <a:rPr lang="en-US" altLang="en-US"/>
              <a:t> different trains and </a:t>
            </a:r>
            <a:r>
              <a:rPr lang="en-US" altLang="en-US">
                <a:solidFill>
                  <a:srgbClr val="FF0000"/>
                </a:solidFill>
              </a:rPr>
              <a:t>10</a:t>
            </a:r>
            <a:r>
              <a:rPr lang="en-US" altLang="en-US"/>
              <a:t> buses. How many options do you have to get from A to B?</a:t>
            </a:r>
          </a:p>
          <a:p>
            <a:endParaRPr lang="en-US" altLang="en-US"/>
          </a:p>
          <a:p>
            <a:r>
              <a:rPr lang="en-US" altLang="en-US"/>
              <a:t>• We can take only one type of transportation and for each only one option. The number of options:</a:t>
            </a:r>
          </a:p>
          <a:p>
            <a:r>
              <a:rPr lang="en-US" altLang="en-US"/>
              <a:t>• </a:t>
            </a:r>
            <a:r>
              <a:rPr lang="en-US" altLang="en-US">
                <a:solidFill>
                  <a:srgbClr val="FF0000"/>
                </a:solidFill>
              </a:rPr>
              <a:t>n = 3+2+10</a:t>
            </a:r>
          </a:p>
          <a:p>
            <a:r>
              <a:rPr lang="en-US" altLang="en-US" b="1"/>
              <a:t>Sum rule:</a:t>
            </a:r>
          </a:p>
          <a:p>
            <a:r>
              <a:rPr lang="en-US" altLang="en-US"/>
              <a:t>• </a:t>
            </a:r>
            <a:r>
              <a:rPr lang="en-US" altLang="en-US">
                <a:solidFill>
                  <a:srgbClr val="FF0000"/>
                </a:solidFill>
              </a:rPr>
              <a:t>n = number of flights + number of trains + number of buses</a:t>
            </a:r>
            <a:endParaRPr lang="pt-BR" altLang="en-US" baseline="30000">
              <a:solidFill>
                <a:srgbClr val="FF0000"/>
              </a:solidFill>
            </a:endParaRPr>
          </a:p>
          <a:p>
            <a:endParaRPr lang="en-US" altLang="en-US" baseline="3000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B43397EB-0387-97A0-0843-0E75B0285326}"/>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Sum Rule</a:t>
            </a:r>
            <a:endParaRPr lang="en-US" altLang="en-US" b="1">
              <a:ea typeface="ＭＳ Ｐゴシック" panose="020B0600070205080204" pitchFamily="34" charset="-128"/>
            </a:endParaRPr>
          </a:p>
        </p:txBody>
      </p:sp>
      <p:sp>
        <p:nvSpPr>
          <p:cNvPr id="14339" name="TextBox 3">
            <a:extLst>
              <a:ext uri="{FF2B5EF4-FFF2-40B4-BE49-F238E27FC236}">
                <a16:creationId xmlns:a16="http://schemas.microsoft.com/office/drawing/2014/main" id="{904F6819-90A5-EA0B-AE96-530B8C1A2838}"/>
              </a:ext>
            </a:extLst>
          </p:cNvPr>
          <p:cNvSpPr txBox="1">
            <a:spLocks noChangeArrowheads="1"/>
          </p:cNvSpPr>
          <p:nvPr/>
        </p:nvSpPr>
        <p:spPr bwMode="auto">
          <a:xfrm>
            <a:off x="304800" y="1371600"/>
            <a:ext cx="85344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A count decomposes into a set of independent counts</a:t>
            </a:r>
          </a:p>
          <a:p>
            <a:r>
              <a:rPr lang="en-US" altLang="en-US"/>
              <a:t>• “elements of counts are alternatives”</a:t>
            </a:r>
          </a:p>
          <a:p>
            <a:endParaRPr lang="en-US" altLang="en-US"/>
          </a:p>
          <a:p>
            <a:r>
              <a:rPr lang="en-US" altLang="en-US"/>
              <a:t>• </a:t>
            </a:r>
            <a:r>
              <a:rPr lang="en-US" altLang="en-US" b="1">
                <a:solidFill>
                  <a:srgbClr val="FF0000"/>
                </a:solidFill>
              </a:rPr>
              <a:t>Sum rule</a:t>
            </a:r>
            <a:r>
              <a:rPr lang="en-US" altLang="en-US"/>
              <a:t>: If a count of elements can be broken down into a </a:t>
            </a:r>
            <a:r>
              <a:rPr lang="en-US" altLang="en-US">
                <a:solidFill>
                  <a:srgbClr val="FF0000"/>
                </a:solidFill>
              </a:rPr>
              <a:t>set</a:t>
            </a:r>
            <a:r>
              <a:rPr lang="en-US" altLang="en-US" b="1">
                <a:solidFill>
                  <a:srgbClr val="FF0000"/>
                </a:solidFill>
              </a:rPr>
              <a:t> </a:t>
            </a:r>
            <a:r>
              <a:rPr lang="en-US" altLang="en-US">
                <a:solidFill>
                  <a:srgbClr val="FF0000"/>
                </a:solidFill>
              </a:rPr>
              <a:t>of independent counts </a:t>
            </a:r>
            <a:r>
              <a:rPr lang="en-US" altLang="en-US"/>
              <a:t>where the first count yields </a:t>
            </a:r>
            <a:r>
              <a:rPr lang="en-US" altLang="en-US" i="1">
                <a:solidFill>
                  <a:srgbClr val="FF0000"/>
                </a:solidFill>
              </a:rPr>
              <a:t>n1</a:t>
            </a:r>
            <a:r>
              <a:rPr lang="en-US" altLang="en-US" i="1"/>
              <a:t> elements, </a:t>
            </a:r>
            <a:r>
              <a:rPr lang="en-US" altLang="en-US"/>
              <a:t>the second </a:t>
            </a:r>
            <a:r>
              <a:rPr lang="en-US" altLang="en-US" i="1">
                <a:solidFill>
                  <a:srgbClr val="FF0000"/>
                </a:solidFill>
              </a:rPr>
              <a:t>n2</a:t>
            </a:r>
            <a:r>
              <a:rPr lang="en-US" altLang="en-US" i="1"/>
              <a:t> elements, and kth count </a:t>
            </a:r>
            <a:r>
              <a:rPr lang="en-US" altLang="en-US" i="1">
                <a:solidFill>
                  <a:srgbClr val="FF0000"/>
                </a:solidFill>
              </a:rPr>
              <a:t>nk</a:t>
            </a:r>
            <a:r>
              <a:rPr lang="en-US" altLang="en-US" i="1"/>
              <a:t> elements, by the sum </a:t>
            </a:r>
            <a:r>
              <a:rPr lang="en-US" altLang="en-US"/>
              <a:t>rule the total number of elements is:</a:t>
            </a:r>
          </a:p>
          <a:p>
            <a:endParaRPr lang="en-US" altLang="en-US"/>
          </a:p>
          <a:p>
            <a:r>
              <a:rPr lang="en-US" altLang="en-US"/>
              <a:t>• </a:t>
            </a:r>
            <a:r>
              <a:rPr lang="en-US" altLang="en-US" i="1">
                <a:solidFill>
                  <a:srgbClr val="FF0000"/>
                </a:solidFill>
              </a:rPr>
              <a:t>n = n1+n2+ …+ nk</a:t>
            </a:r>
            <a:endParaRPr lang="en-US" altLang="en-US" baseline="3000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C5A9473-B70C-264C-EB6E-93FD714C682E}"/>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Inclusion Exclusion Principle</a:t>
            </a:r>
          </a:p>
        </p:txBody>
      </p:sp>
      <p:sp>
        <p:nvSpPr>
          <p:cNvPr id="15363" name="TextBox 3">
            <a:extLst>
              <a:ext uri="{FF2B5EF4-FFF2-40B4-BE49-F238E27FC236}">
                <a16:creationId xmlns:a16="http://schemas.microsoft.com/office/drawing/2014/main" id="{018BB455-A91E-CEB3-F111-23D479978468}"/>
              </a:ext>
            </a:extLst>
          </p:cNvPr>
          <p:cNvSpPr txBox="1">
            <a:spLocks noChangeArrowheads="1"/>
          </p:cNvSpPr>
          <p:nvPr/>
        </p:nvSpPr>
        <p:spPr bwMode="auto">
          <a:xfrm>
            <a:off x="304800" y="1371600"/>
            <a:ext cx="85344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t>Used in counts where the </a:t>
            </a:r>
            <a:r>
              <a:rPr lang="en-US" altLang="en-US" b="1">
                <a:solidFill>
                  <a:srgbClr val="FF0000"/>
                </a:solidFill>
              </a:rPr>
              <a:t>decomposition yields two dependent count tasks with overlapping elements</a:t>
            </a:r>
          </a:p>
          <a:p>
            <a:endParaRPr lang="en-US" altLang="en-US" b="1"/>
          </a:p>
          <a:p>
            <a:r>
              <a:rPr lang="en-US" altLang="en-US"/>
              <a:t>• If we used the sum rule some elements would be counted twice</a:t>
            </a:r>
          </a:p>
          <a:p>
            <a:r>
              <a:rPr lang="en-US" altLang="en-US" b="1">
                <a:solidFill>
                  <a:srgbClr val="FF0000"/>
                </a:solidFill>
              </a:rPr>
              <a:t>Inclusion-exclusion principle: </a:t>
            </a:r>
            <a:r>
              <a:rPr lang="en-US" altLang="en-US" b="1"/>
              <a:t>uses a sum rule and then corrects for the overlapping elements.</a:t>
            </a:r>
          </a:p>
          <a:p>
            <a:endParaRPr lang="en-US" altLang="en-US" b="1"/>
          </a:p>
          <a:p>
            <a:r>
              <a:rPr lang="en-US" altLang="en-US" b="1"/>
              <a:t>We used the principle for the cardinality of the set union.</a:t>
            </a:r>
          </a:p>
          <a:p>
            <a:r>
              <a:rPr lang="en-US" altLang="en-US">
                <a:solidFill>
                  <a:srgbClr val="FF0000"/>
                </a:solidFill>
              </a:rPr>
              <a:t>• |A U B| = |A| + |B| - |A ∩ B|</a:t>
            </a:r>
          </a:p>
          <a:p>
            <a:endParaRPr lang="en-US" altLang="en-US"/>
          </a:p>
        </p:txBody>
      </p:sp>
      <p:pic>
        <p:nvPicPr>
          <p:cNvPr id="15364" name="Picture 2">
            <a:extLst>
              <a:ext uri="{FF2B5EF4-FFF2-40B4-BE49-F238E27FC236}">
                <a16:creationId xmlns:a16="http://schemas.microsoft.com/office/drawing/2014/main" id="{11B4F565-E801-6376-7621-75D09F08A2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5210175"/>
            <a:ext cx="3505200"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0D543991-3B77-D329-BE72-5F642A93D922}"/>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Inclusion Exclusion Principle</a:t>
            </a:r>
          </a:p>
        </p:txBody>
      </p:sp>
      <p:sp>
        <p:nvSpPr>
          <p:cNvPr id="16387" name="TextBox 3">
            <a:extLst>
              <a:ext uri="{FF2B5EF4-FFF2-40B4-BE49-F238E27FC236}">
                <a16:creationId xmlns:a16="http://schemas.microsoft.com/office/drawing/2014/main" id="{0F973564-C653-891F-B70B-12C7369B6FE4}"/>
              </a:ext>
            </a:extLst>
          </p:cNvPr>
          <p:cNvSpPr txBox="1">
            <a:spLocks noChangeArrowheads="1"/>
          </p:cNvSpPr>
          <p:nvPr/>
        </p:nvSpPr>
        <p:spPr bwMode="auto">
          <a:xfrm>
            <a:off x="304800" y="1371600"/>
            <a:ext cx="85344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FF0000"/>
                </a:solidFill>
              </a:rPr>
              <a:t>Example:</a:t>
            </a:r>
            <a:r>
              <a:rPr lang="en-US" altLang="en-US"/>
              <a:t> How many </a:t>
            </a:r>
            <a:r>
              <a:rPr lang="en-US" altLang="en-US">
                <a:solidFill>
                  <a:srgbClr val="FF0000"/>
                </a:solidFill>
              </a:rPr>
              <a:t>bitstrings of length 8 </a:t>
            </a:r>
            <a:r>
              <a:rPr lang="en-US" altLang="en-US"/>
              <a:t>start either with a bit </a:t>
            </a:r>
            <a:r>
              <a:rPr lang="en-US" altLang="en-US">
                <a:solidFill>
                  <a:srgbClr val="FF0000"/>
                </a:solidFill>
              </a:rPr>
              <a:t>1</a:t>
            </a:r>
            <a:r>
              <a:rPr lang="en-US" altLang="en-US"/>
              <a:t> or end with </a:t>
            </a:r>
            <a:r>
              <a:rPr lang="en-US" altLang="en-US">
                <a:solidFill>
                  <a:srgbClr val="FF0000"/>
                </a:solidFill>
              </a:rPr>
              <a:t>00</a:t>
            </a:r>
            <a:r>
              <a:rPr lang="en-US" altLang="en-US"/>
              <a:t>?</a:t>
            </a:r>
          </a:p>
          <a:p>
            <a:r>
              <a:rPr lang="en-US" altLang="en-US"/>
              <a:t>• It is easy to count </a:t>
            </a:r>
            <a:r>
              <a:rPr lang="en-US" altLang="en-US" b="1">
                <a:solidFill>
                  <a:srgbClr val="FF0000"/>
                </a:solidFill>
              </a:rPr>
              <a:t>strings that start with 1:</a:t>
            </a:r>
          </a:p>
          <a:p>
            <a:r>
              <a:rPr lang="en-US" altLang="en-US"/>
              <a:t>• How many are there? </a:t>
            </a:r>
            <a:r>
              <a:rPr lang="en-US" altLang="en-US">
                <a:solidFill>
                  <a:srgbClr val="FF0000"/>
                </a:solidFill>
              </a:rPr>
              <a:t>2</a:t>
            </a:r>
            <a:r>
              <a:rPr lang="en-US" altLang="en-US" baseline="30000">
                <a:solidFill>
                  <a:srgbClr val="FF0000"/>
                </a:solidFill>
              </a:rPr>
              <a:t>7</a:t>
            </a:r>
          </a:p>
          <a:p>
            <a:r>
              <a:rPr lang="en-US" altLang="en-US"/>
              <a:t>• It is easy to count the </a:t>
            </a:r>
            <a:r>
              <a:rPr lang="en-US" altLang="en-US" b="1">
                <a:solidFill>
                  <a:srgbClr val="FF0000"/>
                </a:solidFill>
              </a:rPr>
              <a:t>strings that end with 00.</a:t>
            </a:r>
          </a:p>
          <a:p>
            <a:r>
              <a:rPr lang="en-US" altLang="en-US"/>
              <a:t>• How many are there? </a:t>
            </a:r>
            <a:r>
              <a:rPr lang="en-US" altLang="en-US">
                <a:solidFill>
                  <a:srgbClr val="FF0000"/>
                </a:solidFill>
              </a:rPr>
              <a:t>2</a:t>
            </a:r>
            <a:r>
              <a:rPr lang="en-US" altLang="en-US" baseline="30000">
                <a:solidFill>
                  <a:srgbClr val="FF0000"/>
                </a:solidFill>
              </a:rPr>
              <a:t>6</a:t>
            </a:r>
          </a:p>
          <a:p>
            <a:r>
              <a:rPr lang="en-US" altLang="en-US"/>
              <a:t>• </a:t>
            </a:r>
            <a:r>
              <a:rPr lang="en-US" altLang="en-US">
                <a:solidFill>
                  <a:srgbClr val="00B050"/>
                </a:solidFill>
              </a:rPr>
              <a:t>Is it OK to add the two numbers to get the answer? </a:t>
            </a:r>
            <a:r>
              <a:rPr lang="en-US" altLang="en-US">
                <a:solidFill>
                  <a:srgbClr val="FF0000"/>
                </a:solidFill>
              </a:rPr>
              <a:t>2</a:t>
            </a:r>
            <a:r>
              <a:rPr lang="en-US" altLang="en-US" baseline="30000">
                <a:solidFill>
                  <a:srgbClr val="FF0000"/>
                </a:solidFill>
              </a:rPr>
              <a:t>7</a:t>
            </a:r>
            <a:r>
              <a:rPr lang="en-US" altLang="en-US">
                <a:solidFill>
                  <a:srgbClr val="FF0000"/>
                </a:solidFill>
              </a:rPr>
              <a:t> + 2</a:t>
            </a:r>
            <a:r>
              <a:rPr lang="en-US" altLang="en-US" baseline="30000">
                <a:solidFill>
                  <a:srgbClr val="FF0000"/>
                </a:solidFill>
              </a:rPr>
              <a:t>6</a:t>
            </a:r>
          </a:p>
          <a:p>
            <a:r>
              <a:rPr lang="en-US" altLang="en-US">
                <a:solidFill>
                  <a:srgbClr val="FF0000"/>
                </a:solidFill>
              </a:rPr>
              <a:t>• </a:t>
            </a:r>
            <a:r>
              <a:rPr lang="en-US" altLang="en-US" b="1">
                <a:solidFill>
                  <a:srgbClr val="FF0000"/>
                </a:solidFill>
              </a:rPr>
              <a:t>No. Overcount. </a:t>
            </a:r>
            <a:r>
              <a:rPr lang="en-US" altLang="en-US"/>
              <a:t>There are some strings that can both start with 1</a:t>
            </a:r>
            <a:r>
              <a:rPr lang="en-US" altLang="en-US" b="1"/>
              <a:t> </a:t>
            </a:r>
            <a:r>
              <a:rPr lang="en-US" altLang="en-US"/>
              <a:t>and end with 00. These strings are counted in twice.</a:t>
            </a:r>
          </a:p>
          <a:p>
            <a:r>
              <a:rPr lang="en-US" altLang="en-US"/>
              <a:t>• </a:t>
            </a:r>
            <a:r>
              <a:rPr lang="en-US" altLang="en-US">
                <a:solidFill>
                  <a:srgbClr val="FF0000"/>
                </a:solidFill>
              </a:rPr>
              <a:t>How to deal with it? How to correct for overlap?</a:t>
            </a:r>
          </a:p>
          <a:p>
            <a:r>
              <a:rPr lang="en-US" altLang="en-US"/>
              <a:t>• How many of strings were counted twice? </a:t>
            </a:r>
            <a:r>
              <a:rPr lang="en-US" altLang="en-US">
                <a:solidFill>
                  <a:srgbClr val="FF0000"/>
                </a:solidFill>
              </a:rPr>
              <a:t>2</a:t>
            </a:r>
            <a:r>
              <a:rPr lang="en-US" altLang="en-US" baseline="30000">
                <a:solidFill>
                  <a:srgbClr val="FF0000"/>
                </a:solidFill>
              </a:rPr>
              <a:t>5</a:t>
            </a:r>
            <a:r>
              <a:rPr lang="en-US" altLang="en-US"/>
              <a:t> (1 </a:t>
            </a:r>
            <a:r>
              <a:rPr lang="en-US" altLang="en-US">
                <a:solidFill>
                  <a:srgbClr val="FF0000"/>
                </a:solidFill>
              </a:rPr>
              <a:t>xxxxx</a:t>
            </a:r>
            <a:r>
              <a:rPr lang="en-US" altLang="en-US"/>
              <a:t> 00)</a:t>
            </a:r>
          </a:p>
          <a:p>
            <a:r>
              <a:rPr lang="en-US" altLang="en-US"/>
              <a:t>• Thus we can correct for the overlap simply by using:</a:t>
            </a:r>
          </a:p>
          <a:p>
            <a:r>
              <a:rPr lang="en-US" altLang="en-US"/>
              <a:t>• </a:t>
            </a:r>
            <a:r>
              <a:rPr lang="en-US" altLang="en-US">
                <a:solidFill>
                  <a:srgbClr val="FF0000"/>
                </a:solidFill>
              </a:rPr>
              <a:t>2</a:t>
            </a:r>
            <a:r>
              <a:rPr lang="en-US" altLang="en-US" baseline="30000">
                <a:solidFill>
                  <a:srgbClr val="FF0000"/>
                </a:solidFill>
              </a:rPr>
              <a:t>7</a:t>
            </a:r>
            <a:r>
              <a:rPr lang="en-US" altLang="en-US">
                <a:solidFill>
                  <a:srgbClr val="FF0000"/>
                </a:solidFill>
              </a:rPr>
              <a:t> + 2</a:t>
            </a:r>
            <a:r>
              <a:rPr lang="en-US" altLang="en-US" baseline="30000">
                <a:solidFill>
                  <a:srgbClr val="FF0000"/>
                </a:solidFill>
              </a:rPr>
              <a:t>6</a:t>
            </a:r>
            <a:r>
              <a:rPr lang="en-US" altLang="en-US">
                <a:solidFill>
                  <a:srgbClr val="FF0000"/>
                </a:solidFill>
              </a:rPr>
              <a:t> – 2</a:t>
            </a:r>
            <a:r>
              <a:rPr lang="en-US" altLang="en-US" baseline="30000">
                <a:solidFill>
                  <a:srgbClr val="FF0000"/>
                </a:solidFill>
              </a:rPr>
              <a:t>5</a:t>
            </a:r>
            <a:r>
              <a:rPr lang="en-US" altLang="en-US">
                <a:solidFill>
                  <a:srgbClr val="FF0000"/>
                </a:solidFill>
              </a:rPr>
              <a:t> = 128+ 64-32 = </a:t>
            </a:r>
            <a:r>
              <a:rPr lang="en-US" altLang="en-US" b="1">
                <a:solidFill>
                  <a:srgbClr val="FF0000"/>
                </a:solidFill>
              </a:rPr>
              <a:t>160</a:t>
            </a:r>
            <a:endParaRPr lang="en-US" altLang="en-US">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C1F733F4-B419-E56D-A7FF-4C38D31DD5E2}"/>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Pigeonhole principle</a:t>
            </a:r>
          </a:p>
        </p:txBody>
      </p:sp>
      <p:sp>
        <p:nvSpPr>
          <p:cNvPr id="17411" name="TextBox 3">
            <a:extLst>
              <a:ext uri="{FF2B5EF4-FFF2-40B4-BE49-F238E27FC236}">
                <a16:creationId xmlns:a16="http://schemas.microsoft.com/office/drawing/2014/main" id="{12E59A74-83C5-8F75-5000-6D07520EDD4E}"/>
              </a:ext>
            </a:extLst>
          </p:cNvPr>
          <p:cNvSpPr txBox="1">
            <a:spLocks noChangeArrowheads="1"/>
          </p:cNvSpPr>
          <p:nvPr/>
        </p:nvSpPr>
        <p:spPr bwMode="auto">
          <a:xfrm>
            <a:off x="304800" y="1371600"/>
            <a:ext cx="85344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Assume you have a set of objects and a set of bins used to store objects.</a:t>
            </a:r>
          </a:p>
          <a:p>
            <a:endParaRPr lang="en-US" altLang="en-US"/>
          </a:p>
          <a:p>
            <a:r>
              <a:rPr lang="en-US" altLang="en-US"/>
              <a:t>• </a:t>
            </a:r>
            <a:r>
              <a:rPr lang="en-US" altLang="en-US" b="1"/>
              <a:t>The pigeonhole principle states that if there are </a:t>
            </a:r>
            <a:r>
              <a:rPr lang="en-US" altLang="en-US" b="1">
                <a:solidFill>
                  <a:srgbClr val="FF0000"/>
                </a:solidFill>
              </a:rPr>
              <a:t>more objects </a:t>
            </a:r>
            <a:r>
              <a:rPr lang="en-US" altLang="en-US">
                <a:solidFill>
                  <a:srgbClr val="FF0000"/>
                </a:solidFill>
              </a:rPr>
              <a:t>than bins </a:t>
            </a:r>
            <a:r>
              <a:rPr lang="en-US" altLang="en-US"/>
              <a:t>then there is at least one bin with more than one object.</a:t>
            </a:r>
          </a:p>
          <a:p>
            <a:endParaRPr lang="en-US" altLang="en-US"/>
          </a:p>
          <a:p>
            <a:r>
              <a:rPr lang="en-US" altLang="en-US"/>
              <a:t>• </a:t>
            </a:r>
            <a:r>
              <a:rPr lang="en-US" altLang="en-US" b="1">
                <a:solidFill>
                  <a:srgbClr val="FF0000"/>
                </a:solidFill>
              </a:rPr>
              <a:t>Example: 7</a:t>
            </a:r>
            <a:r>
              <a:rPr lang="en-US" altLang="en-US" b="1"/>
              <a:t> balls and </a:t>
            </a:r>
            <a:r>
              <a:rPr lang="en-US" altLang="en-US" b="1">
                <a:solidFill>
                  <a:srgbClr val="FF0000"/>
                </a:solidFill>
              </a:rPr>
              <a:t>5</a:t>
            </a:r>
            <a:r>
              <a:rPr lang="en-US" altLang="en-US" b="1"/>
              <a:t> bins to store them</a:t>
            </a:r>
            <a:endParaRPr lang="en-US" altLang="en-US">
              <a:solidFill>
                <a:srgbClr val="FF0000"/>
              </a:solidFill>
            </a:endParaRPr>
          </a:p>
        </p:txBody>
      </p:sp>
      <p:pic>
        <p:nvPicPr>
          <p:cNvPr id="17412" name="Picture 2">
            <a:extLst>
              <a:ext uri="{FF2B5EF4-FFF2-40B4-BE49-F238E27FC236}">
                <a16:creationId xmlns:a16="http://schemas.microsoft.com/office/drawing/2014/main" id="{1CA35525-53F6-D264-B548-69D42FB011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4648200"/>
            <a:ext cx="5153025"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B75A801-AC69-C7AE-6AB0-CD7B2103D5EE}"/>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Pigeonhole principle</a:t>
            </a:r>
          </a:p>
        </p:txBody>
      </p:sp>
      <p:sp>
        <p:nvSpPr>
          <p:cNvPr id="18435" name="TextBox 3">
            <a:extLst>
              <a:ext uri="{FF2B5EF4-FFF2-40B4-BE49-F238E27FC236}">
                <a16:creationId xmlns:a16="http://schemas.microsoft.com/office/drawing/2014/main" id="{3E6C6323-2AD5-1092-8CC2-FF7FB816CDC0}"/>
              </a:ext>
            </a:extLst>
          </p:cNvPr>
          <p:cNvSpPr txBox="1">
            <a:spLocks noChangeArrowheads="1"/>
          </p:cNvSpPr>
          <p:nvPr/>
        </p:nvSpPr>
        <p:spPr bwMode="auto">
          <a:xfrm>
            <a:off x="304800" y="1371600"/>
            <a:ext cx="85344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Assume you have a set of objects and a set of bins used to store objects.</a:t>
            </a:r>
          </a:p>
          <a:p>
            <a:endParaRPr lang="en-US" altLang="en-US"/>
          </a:p>
          <a:p>
            <a:r>
              <a:rPr lang="en-US" altLang="en-US"/>
              <a:t>• </a:t>
            </a:r>
            <a:r>
              <a:rPr lang="en-US" altLang="en-US" b="1"/>
              <a:t>The pigeonhole principle states that if there are </a:t>
            </a:r>
            <a:r>
              <a:rPr lang="en-US" altLang="en-US" b="1">
                <a:solidFill>
                  <a:srgbClr val="FF0000"/>
                </a:solidFill>
              </a:rPr>
              <a:t>more objects </a:t>
            </a:r>
            <a:r>
              <a:rPr lang="en-US" altLang="en-US">
                <a:solidFill>
                  <a:srgbClr val="FF0000"/>
                </a:solidFill>
              </a:rPr>
              <a:t>than bins </a:t>
            </a:r>
            <a:r>
              <a:rPr lang="en-US" altLang="en-US"/>
              <a:t>then there is at least one bin with more than one object.</a:t>
            </a:r>
          </a:p>
          <a:p>
            <a:endParaRPr lang="en-US" altLang="en-US"/>
          </a:p>
          <a:p>
            <a:r>
              <a:rPr lang="en-US" altLang="en-US"/>
              <a:t>• </a:t>
            </a:r>
            <a:r>
              <a:rPr lang="en-US" altLang="en-US" b="1">
                <a:solidFill>
                  <a:srgbClr val="FF0000"/>
                </a:solidFill>
              </a:rPr>
              <a:t>Example: 7</a:t>
            </a:r>
            <a:r>
              <a:rPr lang="en-US" altLang="en-US" b="1"/>
              <a:t> balls and </a:t>
            </a:r>
            <a:r>
              <a:rPr lang="en-US" altLang="en-US" b="1">
                <a:solidFill>
                  <a:srgbClr val="FF0000"/>
                </a:solidFill>
              </a:rPr>
              <a:t>5</a:t>
            </a:r>
            <a:r>
              <a:rPr lang="en-US" altLang="en-US" b="1"/>
              <a:t> bins to store them</a:t>
            </a:r>
          </a:p>
          <a:p>
            <a:endParaRPr lang="en-US" altLang="en-US" b="1">
              <a:solidFill>
                <a:srgbClr val="FF0000"/>
              </a:solidFill>
            </a:endParaRPr>
          </a:p>
          <a:p>
            <a:r>
              <a:rPr lang="en-US" altLang="en-US">
                <a:solidFill>
                  <a:srgbClr val="FF0000"/>
                </a:solidFill>
              </a:rPr>
              <a:t>At least one bin with more than 1 ball exists.</a:t>
            </a:r>
          </a:p>
        </p:txBody>
      </p:sp>
      <p:pic>
        <p:nvPicPr>
          <p:cNvPr id="18436" name="Picture 2">
            <a:extLst>
              <a:ext uri="{FF2B5EF4-FFF2-40B4-BE49-F238E27FC236}">
                <a16:creationId xmlns:a16="http://schemas.microsoft.com/office/drawing/2014/main" id="{D2BA1007-E072-E141-6BBB-5ED12C38A3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5334000"/>
            <a:ext cx="54006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val 4">
            <a:extLst>
              <a:ext uri="{FF2B5EF4-FFF2-40B4-BE49-F238E27FC236}">
                <a16:creationId xmlns:a16="http://schemas.microsoft.com/office/drawing/2014/main" id="{A3EFB5D3-6183-E670-7EC1-4F27D9104BCE}"/>
              </a:ext>
            </a:extLst>
          </p:cNvPr>
          <p:cNvSpPr/>
          <p:nvPr/>
        </p:nvSpPr>
        <p:spPr>
          <a:xfrm>
            <a:off x="2927350" y="5181600"/>
            <a:ext cx="609600" cy="13716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0000"/>
              </a:solidFill>
            </a:endParaRPr>
          </a:p>
        </p:txBody>
      </p:sp>
      <p:sp>
        <p:nvSpPr>
          <p:cNvPr id="6" name="Oval 5">
            <a:extLst>
              <a:ext uri="{FF2B5EF4-FFF2-40B4-BE49-F238E27FC236}">
                <a16:creationId xmlns:a16="http://schemas.microsoft.com/office/drawing/2014/main" id="{BA3B4B8A-1051-34E5-276D-6A0E9EC57DC4}"/>
              </a:ext>
            </a:extLst>
          </p:cNvPr>
          <p:cNvSpPr/>
          <p:nvPr/>
        </p:nvSpPr>
        <p:spPr>
          <a:xfrm>
            <a:off x="3886200" y="5181600"/>
            <a:ext cx="609600" cy="13716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89BEF4D-31AE-3AB2-29D0-F6677AA84F93}"/>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Pigeonhole principle</a:t>
            </a:r>
          </a:p>
        </p:txBody>
      </p:sp>
      <p:sp>
        <p:nvSpPr>
          <p:cNvPr id="19459" name="TextBox 3">
            <a:extLst>
              <a:ext uri="{FF2B5EF4-FFF2-40B4-BE49-F238E27FC236}">
                <a16:creationId xmlns:a16="http://schemas.microsoft.com/office/drawing/2014/main" id="{6E22E338-10F6-8F51-EC3B-E99D1019C1E3}"/>
              </a:ext>
            </a:extLst>
          </p:cNvPr>
          <p:cNvSpPr txBox="1">
            <a:spLocks noChangeArrowheads="1"/>
          </p:cNvSpPr>
          <p:nvPr/>
        </p:nvSpPr>
        <p:spPr bwMode="auto">
          <a:xfrm>
            <a:off x="304800" y="1371600"/>
            <a:ext cx="85344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Assume you have a set of objects and a set of bins used to store objects. The pigeonhole principle states that if there are more objects than bins then there is at least one bin with more than one object.</a:t>
            </a:r>
          </a:p>
          <a:p>
            <a:endParaRPr lang="en-US" altLang="en-US"/>
          </a:p>
          <a:p>
            <a:r>
              <a:rPr lang="en-US" altLang="en-US"/>
              <a:t>• </a:t>
            </a:r>
            <a:r>
              <a:rPr lang="en-US" altLang="en-US" b="1">
                <a:solidFill>
                  <a:srgbClr val="FF0000"/>
                </a:solidFill>
              </a:rPr>
              <a:t>Theorem</a:t>
            </a:r>
            <a:r>
              <a:rPr lang="en-US" altLang="en-US" b="1"/>
              <a:t>. If there are </a:t>
            </a:r>
            <a:r>
              <a:rPr lang="en-US" altLang="en-US" b="1">
                <a:solidFill>
                  <a:srgbClr val="FF0000"/>
                </a:solidFill>
              </a:rPr>
              <a:t>k+1 objects </a:t>
            </a:r>
            <a:r>
              <a:rPr lang="en-US" altLang="en-US" b="1"/>
              <a:t>and </a:t>
            </a:r>
            <a:r>
              <a:rPr lang="en-US" altLang="en-US" b="1">
                <a:solidFill>
                  <a:srgbClr val="FF0000"/>
                </a:solidFill>
              </a:rPr>
              <a:t>k bins</a:t>
            </a:r>
            <a:r>
              <a:rPr lang="en-US" altLang="en-US" b="1"/>
              <a:t>. Then there is at least one bin with two or more objects.</a:t>
            </a:r>
            <a:endParaRPr lang="en-US" altLang="en-US">
              <a:solidFill>
                <a:srgbClr val="FF0000"/>
              </a:solidFill>
            </a:endParaRPr>
          </a:p>
        </p:txBody>
      </p:sp>
      <p:pic>
        <p:nvPicPr>
          <p:cNvPr id="19460" name="Picture 2">
            <a:extLst>
              <a:ext uri="{FF2B5EF4-FFF2-40B4-BE49-F238E27FC236}">
                <a16:creationId xmlns:a16="http://schemas.microsoft.com/office/drawing/2014/main" id="{0CB485A7-84E7-9DC5-BABE-2C8EA4E0BA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5105400"/>
            <a:ext cx="541972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val 4">
            <a:extLst>
              <a:ext uri="{FF2B5EF4-FFF2-40B4-BE49-F238E27FC236}">
                <a16:creationId xmlns:a16="http://schemas.microsoft.com/office/drawing/2014/main" id="{D2212EC8-4079-11EA-FB43-4095C95A0C96}"/>
              </a:ext>
            </a:extLst>
          </p:cNvPr>
          <p:cNvSpPr/>
          <p:nvPr/>
        </p:nvSpPr>
        <p:spPr>
          <a:xfrm>
            <a:off x="2819400" y="4953000"/>
            <a:ext cx="609600" cy="13716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9B540C0-C5A9-0A46-466C-B14714392743}"/>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Pigeonhole principle</a:t>
            </a:r>
          </a:p>
        </p:txBody>
      </p:sp>
      <p:sp>
        <p:nvSpPr>
          <p:cNvPr id="20483" name="TextBox 3">
            <a:extLst>
              <a:ext uri="{FF2B5EF4-FFF2-40B4-BE49-F238E27FC236}">
                <a16:creationId xmlns:a16="http://schemas.microsoft.com/office/drawing/2014/main" id="{B34B2D9C-1E4A-1D00-F8F0-52D23EA08CBE}"/>
              </a:ext>
            </a:extLst>
          </p:cNvPr>
          <p:cNvSpPr txBox="1">
            <a:spLocks noChangeArrowheads="1"/>
          </p:cNvSpPr>
          <p:nvPr/>
        </p:nvSpPr>
        <p:spPr bwMode="auto">
          <a:xfrm>
            <a:off x="304800" y="1371600"/>
            <a:ext cx="85344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Assume you have a set of objects and a set of bins used to store objects. The pigeonhole principle states that if there are more objects than bins then there is at least one bin with more than one object.</a:t>
            </a:r>
          </a:p>
          <a:p>
            <a:endParaRPr lang="en-US" altLang="en-US"/>
          </a:p>
          <a:p>
            <a:r>
              <a:rPr lang="en-US" altLang="en-US"/>
              <a:t>• </a:t>
            </a:r>
            <a:r>
              <a:rPr lang="en-US" altLang="en-US" b="1">
                <a:solidFill>
                  <a:srgbClr val="FF0000"/>
                </a:solidFill>
              </a:rPr>
              <a:t>Theorem</a:t>
            </a:r>
            <a:r>
              <a:rPr lang="en-US" altLang="en-US" b="1"/>
              <a:t>. If there are </a:t>
            </a:r>
            <a:r>
              <a:rPr lang="en-US" altLang="en-US" b="1">
                <a:solidFill>
                  <a:srgbClr val="FF0000"/>
                </a:solidFill>
              </a:rPr>
              <a:t>k+1 objects </a:t>
            </a:r>
            <a:r>
              <a:rPr lang="en-US" altLang="en-US" b="1"/>
              <a:t>and </a:t>
            </a:r>
            <a:r>
              <a:rPr lang="en-US" altLang="en-US" b="1">
                <a:solidFill>
                  <a:srgbClr val="FF0000"/>
                </a:solidFill>
              </a:rPr>
              <a:t>k bins</a:t>
            </a:r>
            <a:r>
              <a:rPr lang="en-US" altLang="en-US" b="1"/>
              <a:t>. Then there is at least one bin with two or more objects.</a:t>
            </a:r>
          </a:p>
          <a:p>
            <a:endParaRPr lang="en-US" altLang="en-US" b="1">
              <a:solidFill>
                <a:srgbClr val="FF0000"/>
              </a:solidFill>
            </a:endParaRPr>
          </a:p>
          <a:p>
            <a:r>
              <a:rPr lang="en-US" altLang="en-US" b="1"/>
              <a:t>Proof. (</a:t>
            </a:r>
            <a:r>
              <a:rPr lang="en-US" altLang="en-US" b="1">
                <a:solidFill>
                  <a:srgbClr val="FF0000"/>
                </a:solidFill>
              </a:rPr>
              <a:t>by contradiction</a:t>
            </a:r>
            <a:r>
              <a:rPr lang="en-US" altLang="en-US" b="1"/>
              <a:t>)</a:t>
            </a:r>
          </a:p>
          <a:p>
            <a:r>
              <a:rPr lang="en-US" altLang="en-US"/>
              <a:t>• Assume that we have </a:t>
            </a:r>
            <a:r>
              <a:rPr lang="en-US" altLang="en-US">
                <a:solidFill>
                  <a:srgbClr val="FF0000"/>
                </a:solidFill>
              </a:rPr>
              <a:t>k + 1 </a:t>
            </a:r>
            <a:r>
              <a:rPr lang="en-US" altLang="en-US"/>
              <a:t>objects and every bin has at most </a:t>
            </a:r>
            <a:r>
              <a:rPr lang="en-US" altLang="en-US">
                <a:solidFill>
                  <a:srgbClr val="FF0000"/>
                </a:solidFill>
              </a:rPr>
              <a:t>one element</a:t>
            </a:r>
            <a:r>
              <a:rPr lang="en-US" altLang="en-US"/>
              <a:t>. Then the total number of elements is </a:t>
            </a:r>
            <a:r>
              <a:rPr lang="en-US" altLang="en-US">
                <a:solidFill>
                  <a:srgbClr val="FF0000"/>
                </a:solidFill>
              </a:rPr>
              <a:t>k</a:t>
            </a:r>
            <a:r>
              <a:rPr lang="en-US" altLang="en-US"/>
              <a:t> which is a contradiction.</a:t>
            </a:r>
          </a:p>
          <a:p>
            <a:r>
              <a:rPr lang="en-US" altLang="en-US"/>
              <a:t>• End of proof</a:t>
            </a:r>
            <a:endParaRPr lang="en-US" altLang="en-US">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E6E872A9-3A78-0DD3-0823-817547718D35}"/>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Pigeonhole principle</a:t>
            </a:r>
          </a:p>
        </p:txBody>
      </p:sp>
      <p:sp>
        <p:nvSpPr>
          <p:cNvPr id="21507" name="TextBox 3">
            <a:extLst>
              <a:ext uri="{FF2B5EF4-FFF2-40B4-BE49-F238E27FC236}">
                <a16:creationId xmlns:a16="http://schemas.microsoft.com/office/drawing/2014/main" id="{9D74E603-1374-1B99-9F64-23A95FA7BCE2}"/>
              </a:ext>
            </a:extLst>
          </p:cNvPr>
          <p:cNvSpPr txBox="1">
            <a:spLocks noChangeArrowheads="1"/>
          </p:cNvSpPr>
          <p:nvPr/>
        </p:nvSpPr>
        <p:spPr bwMode="auto">
          <a:xfrm>
            <a:off x="304800" y="1371600"/>
            <a:ext cx="85344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solidFill>
                  <a:srgbClr val="FF0000"/>
                </a:solidFill>
              </a:rPr>
              <a:t>Example:</a:t>
            </a:r>
          </a:p>
          <a:p>
            <a:endParaRPr lang="en-US" altLang="en-US"/>
          </a:p>
          <a:p>
            <a:r>
              <a:rPr lang="en-US" altLang="en-US"/>
              <a:t>• Assume </a:t>
            </a:r>
            <a:r>
              <a:rPr lang="en-US" altLang="en-US">
                <a:solidFill>
                  <a:srgbClr val="FF0000"/>
                </a:solidFill>
              </a:rPr>
              <a:t>367</a:t>
            </a:r>
            <a:r>
              <a:rPr lang="en-US" altLang="en-US"/>
              <a:t> people. Are there any </a:t>
            </a:r>
            <a:r>
              <a:rPr lang="en-US" altLang="en-US">
                <a:solidFill>
                  <a:srgbClr val="FF0000"/>
                </a:solidFill>
              </a:rPr>
              <a:t>two people </a:t>
            </a:r>
            <a:r>
              <a:rPr lang="en-US" altLang="en-US"/>
              <a:t>who has the same birthday?</a:t>
            </a:r>
          </a:p>
          <a:p>
            <a:endParaRPr lang="en-US" altLang="en-US"/>
          </a:p>
          <a:p>
            <a:r>
              <a:rPr lang="en-US" altLang="en-US"/>
              <a:t>• How many days are in the year? </a:t>
            </a:r>
            <a:r>
              <a:rPr lang="en-US" altLang="en-US">
                <a:solidFill>
                  <a:srgbClr val="FF0000"/>
                </a:solidFill>
              </a:rPr>
              <a:t>365</a:t>
            </a:r>
            <a:r>
              <a:rPr lang="en-US" altLang="en-US"/>
              <a:t>.</a:t>
            </a:r>
          </a:p>
          <a:p>
            <a:endParaRPr lang="en-US" altLang="en-US"/>
          </a:p>
          <a:p>
            <a:r>
              <a:rPr lang="en-US" altLang="en-US"/>
              <a:t>• Then there must be at </a:t>
            </a:r>
            <a:r>
              <a:rPr lang="en-US" altLang="en-US">
                <a:solidFill>
                  <a:srgbClr val="FF0000"/>
                </a:solidFill>
              </a:rPr>
              <a:t>least two people </a:t>
            </a:r>
            <a:r>
              <a:rPr lang="en-US" altLang="en-US"/>
              <a:t>with the same birthday.</a:t>
            </a:r>
            <a:endParaRPr lang="en-US" altLang="en-US">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3012E6F-CE15-1A20-2B93-884889DC5387}"/>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Generalized Pigeonhole principle</a:t>
            </a:r>
          </a:p>
        </p:txBody>
      </p:sp>
      <p:sp>
        <p:nvSpPr>
          <p:cNvPr id="22531" name="TextBox 3">
            <a:extLst>
              <a:ext uri="{FF2B5EF4-FFF2-40B4-BE49-F238E27FC236}">
                <a16:creationId xmlns:a16="http://schemas.microsoft.com/office/drawing/2014/main" id="{314A52D8-43B1-E6FE-2FFA-77B8820C29EA}"/>
              </a:ext>
            </a:extLst>
          </p:cNvPr>
          <p:cNvSpPr txBox="1">
            <a:spLocks noChangeArrowheads="1"/>
          </p:cNvSpPr>
          <p:nvPr/>
        </p:nvSpPr>
        <p:spPr bwMode="auto">
          <a:xfrm>
            <a:off x="304800" y="1371600"/>
            <a:ext cx="85344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We can often say more about the number of objects.</a:t>
            </a:r>
          </a:p>
          <a:p>
            <a:endParaRPr lang="en-US" altLang="en-US"/>
          </a:p>
          <a:p>
            <a:r>
              <a:rPr lang="en-US" altLang="en-US"/>
              <a:t>• Say we have </a:t>
            </a:r>
            <a:r>
              <a:rPr lang="en-US" altLang="en-US">
                <a:solidFill>
                  <a:srgbClr val="FF0000"/>
                </a:solidFill>
              </a:rPr>
              <a:t>5 bins </a:t>
            </a:r>
            <a:r>
              <a:rPr lang="en-US" altLang="en-US"/>
              <a:t>and </a:t>
            </a:r>
            <a:r>
              <a:rPr lang="en-US" altLang="en-US">
                <a:solidFill>
                  <a:srgbClr val="FF0000"/>
                </a:solidFill>
              </a:rPr>
              <a:t>12 objects</a:t>
            </a:r>
            <a:r>
              <a:rPr lang="en-US" altLang="en-US"/>
              <a:t>. What is it we can say about the bins and number of elements they hold?</a:t>
            </a:r>
          </a:p>
          <a:p>
            <a:endParaRPr lang="en-US" altLang="en-US"/>
          </a:p>
          <a:p>
            <a:r>
              <a:rPr lang="en-US" altLang="en-US"/>
              <a:t>• There must be </a:t>
            </a:r>
            <a:r>
              <a:rPr lang="en-US" altLang="en-US" b="1">
                <a:solidFill>
                  <a:srgbClr val="FF0000"/>
                </a:solidFill>
              </a:rPr>
              <a:t>a bin with at least 3 elements</a:t>
            </a:r>
            <a:r>
              <a:rPr lang="en-US" altLang="en-US" b="1"/>
              <a:t>.</a:t>
            </a:r>
          </a:p>
          <a:p>
            <a:r>
              <a:rPr lang="en-US" altLang="en-US"/>
              <a:t>• </a:t>
            </a:r>
            <a:r>
              <a:rPr lang="en-US" altLang="en-US">
                <a:solidFill>
                  <a:srgbClr val="FF0000"/>
                </a:solidFill>
              </a:rPr>
              <a:t>Why?</a:t>
            </a:r>
          </a:p>
          <a:p>
            <a:r>
              <a:rPr lang="en-US" altLang="en-US"/>
              <a:t>• Assume there is </a:t>
            </a:r>
            <a:r>
              <a:rPr lang="en-US" altLang="en-US">
                <a:solidFill>
                  <a:srgbClr val="FF0000"/>
                </a:solidFill>
              </a:rPr>
              <a:t>no bin with more than 2 elements</a:t>
            </a:r>
            <a:r>
              <a:rPr lang="en-US" altLang="en-US"/>
              <a:t>. Then the max number of elements we can have in </a:t>
            </a:r>
            <a:r>
              <a:rPr lang="en-US" altLang="en-US">
                <a:solidFill>
                  <a:srgbClr val="FF0000"/>
                </a:solidFill>
              </a:rPr>
              <a:t>5 bins is 10</a:t>
            </a:r>
            <a:r>
              <a:rPr lang="en-US" altLang="en-US"/>
              <a:t>. We need to place </a:t>
            </a:r>
            <a:r>
              <a:rPr lang="en-US" altLang="en-US">
                <a:solidFill>
                  <a:srgbClr val="FF0000"/>
                </a:solidFill>
              </a:rPr>
              <a:t>12</a:t>
            </a:r>
            <a:r>
              <a:rPr lang="en-US" altLang="en-US"/>
              <a:t> so at least one bin should have at least </a:t>
            </a:r>
            <a:r>
              <a:rPr lang="en-US" altLang="en-US">
                <a:solidFill>
                  <a:srgbClr val="FF0000"/>
                </a:solidFill>
              </a:rPr>
              <a:t>3</a:t>
            </a:r>
            <a:r>
              <a:rPr lang="en-US" altLang="en-US"/>
              <a:t> elements.</a:t>
            </a:r>
            <a:endParaRPr lang="en-US" altLang="en-US">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08816E5C-CD51-F694-C440-AF11B2F647B2}"/>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Generalized Pigeonhole principle</a:t>
            </a:r>
          </a:p>
        </p:txBody>
      </p:sp>
      <p:sp>
        <p:nvSpPr>
          <p:cNvPr id="23555" name="TextBox 3">
            <a:extLst>
              <a:ext uri="{FF2B5EF4-FFF2-40B4-BE49-F238E27FC236}">
                <a16:creationId xmlns:a16="http://schemas.microsoft.com/office/drawing/2014/main" id="{F49DB51B-8944-12E3-C7FD-CD6CB5FE7C4E}"/>
              </a:ext>
            </a:extLst>
          </p:cNvPr>
          <p:cNvSpPr txBox="1">
            <a:spLocks noChangeArrowheads="1"/>
          </p:cNvSpPr>
          <p:nvPr/>
        </p:nvSpPr>
        <p:spPr bwMode="auto">
          <a:xfrm>
            <a:off x="304800" y="1371600"/>
            <a:ext cx="85344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solidFill>
                  <a:srgbClr val="FF0000"/>
                </a:solidFill>
              </a:rPr>
              <a:t>Theorem. </a:t>
            </a:r>
            <a:r>
              <a:rPr lang="en-US" altLang="en-US" b="1"/>
              <a:t>If </a:t>
            </a:r>
            <a:r>
              <a:rPr lang="en-US" altLang="en-US" b="1" i="1"/>
              <a:t>N objects are placed into k bins then there is at least </a:t>
            </a:r>
            <a:r>
              <a:rPr lang="en-US" altLang="en-US"/>
              <a:t>one bin containing at least </a:t>
            </a:r>
            <a:r>
              <a:rPr lang="en-US" altLang="en-US" i="1"/>
              <a:t>            objects.</a:t>
            </a:r>
          </a:p>
          <a:p>
            <a:endParaRPr lang="en-US" altLang="en-US" i="1"/>
          </a:p>
          <a:p>
            <a:r>
              <a:rPr lang="en-US" altLang="en-US" b="1">
                <a:solidFill>
                  <a:srgbClr val="FF0000"/>
                </a:solidFill>
              </a:rPr>
              <a:t>Example.</a:t>
            </a:r>
            <a:r>
              <a:rPr lang="en-US" altLang="en-US" b="1"/>
              <a:t> </a:t>
            </a:r>
            <a:r>
              <a:rPr lang="en-US" altLang="en-US"/>
              <a:t>Assume </a:t>
            </a:r>
            <a:r>
              <a:rPr lang="en-US" altLang="en-US">
                <a:solidFill>
                  <a:srgbClr val="FF0000"/>
                </a:solidFill>
              </a:rPr>
              <a:t>100 people</a:t>
            </a:r>
            <a:r>
              <a:rPr lang="en-US" altLang="en-US"/>
              <a:t>. Can you tell something about the number of people born in the same month.</a:t>
            </a:r>
          </a:p>
          <a:p>
            <a:endParaRPr lang="en-US" altLang="en-US"/>
          </a:p>
          <a:p>
            <a:endParaRPr lang="en-US" altLang="en-US"/>
          </a:p>
          <a:p>
            <a:r>
              <a:rPr lang="en-US" altLang="en-US"/>
              <a:t>• </a:t>
            </a:r>
            <a:r>
              <a:rPr lang="en-US" altLang="en-US">
                <a:solidFill>
                  <a:srgbClr val="FF0000"/>
                </a:solidFill>
              </a:rPr>
              <a:t>Yes</a:t>
            </a:r>
            <a:r>
              <a:rPr lang="en-US" altLang="en-US"/>
              <a:t>. There exists a month in which at least</a:t>
            </a:r>
          </a:p>
          <a:p>
            <a:r>
              <a:rPr lang="en-US" altLang="en-US" i="1"/>
              <a:t>            =                                   people were born.</a:t>
            </a:r>
            <a:endParaRPr lang="en-US" altLang="en-US">
              <a:solidFill>
                <a:srgbClr val="FF0000"/>
              </a:solidFill>
            </a:endParaRPr>
          </a:p>
        </p:txBody>
      </p:sp>
      <p:graphicFrame>
        <p:nvGraphicFramePr>
          <p:cNvPr id="23556" name="Object 2">
            <a:extLst>
              <a:ext uri="{FF2B5EF4-FFF2-40B4-BE49-F238E27FC236}">
                <a16:creationId xmlns:a16="http://schemas.microsoft.com/office/drawing/2014/main" id="{EA456CA6-7E53-1827-F583-4E6EE3791F19}"/>
              </a:ext>
            </a:extLst>
          </p:cNvPr>
          <p:cNvGraphicFramePr>
            <a:graphicFrameLocks noChangeAspect="1"/>
          </p:cNvGraphicFramePr>
          <p:nvPr/>
        </p:nvGraphicFramePr>
        <p:xfrm>
          <a:off x="5181600" y="1752600"/>
          <a:ext cx="908050" cy="419100"/>
        </p:xfrm>
        <a:graphic>
          <a:graphicData uri="http://schemas.openxmlformats.org/presentationml/2006/ole">
            <mc:AlternateContent xmlns:mc="http://schemas.openxmlformats.org/markup-compatibility/2006">
              <mc:Choice xmlns:v="urn:schemas-microsoft-com:vml" Requires="v">
                <p:oleObj name="Equation" r:id="rId3" imgW="495085" imgH="228501" progId="Equation.3">
                  <p:embed/>
                </p:oleObj>
              </mc:Choice>
              <mc:Fallback>
                <p:oleObj name="Equation" r:id="rId3" imgW="495085" imgH="228501" progId="Equation.3">
                  <p:embed/>
                  <p:pic>
                    <p:nvPicPr>
                      <p:cNvPr id="23556" name="Object 2">
                        <a:extLst>
                          <a:ext uri="{FF2B5EF4-FFF2-40B4-BE49-F238E27FC236}">
                            <a16:creationId xmlns:a16="http://schemas.microsoft.com/office/drawing/2014/main" id="{EA456CA6-7E53-1827-F583-4E6EE3791F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1752600"/>
                        <a:ext cx="90805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7" name="Object 3">
            <a:extLst>
              <a:ext uri="{FF2B5EF4-FFF2-40B4-BE49-F238E27FC236}">
                <a16:creationId xmlns:a16="http://schemas.microsoft.com/office/drawing/2014/main" id="{825BD5AC-4A15-AE6D-41DA-06D9B7B06B5B}"/>
              </a:ext>
            </a:extLst>
          </p:cNvPr>
          <p:cNvGraphicFramePr>
            <a:graphicFrameLocks noChangeAspect="1"/>
          </p:cNvGraphicFramePr>
          <p:nvPr/>
        </p:nvGraphicFramePr>
        <p:xfrm>
          <a:off x="1752600" y="4343400"/>
          <a:ext cx="2514600" cy="457200"/>
        </p:xfrm>
        <a:graphic>
          <a:graphicData uri="http://schemas.openxmlformats.org/presentationml/2006/ole">
            <mc:AlternateContent xmlns:mc="http://schemas.openxmlformats.org/markup-compatibility/2006">
              <mc:Choice xmlns:v="urn:schemas-microsoft-com:vml" Requires="v">
                <p:oleObj name="Equation" r:id="rId5" imgW="1257300" imgH="228600" progId="Equation.3">
                  <p:embed/>
                </p:oleObj>
              </mc:Choice>
              <mc:Fallback>
                <p:oleObj name="Equation" r:id="rId5" imgW="1257300" imgH="228600" progId="Equation.3">
                  <p:embed/>
                  <p:pic>
                    <p:nvPicPr>
                      <p:cNvPr id="23557" name="Object 3">
                        <a:extLst>
                          <a:ext uri="{FF2B5EF4-FFF2-40B4-BE49-F238E27FC236}">
                            <a16:creationId xmlns:a16="http://schemas.microsoft.com/office/drawing/2014/main" id="{825BD5AC-4A15-AE6D-41DA-06D9B7B06B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4343400"/>
                        <a:ext cx="2514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92AD15E8-142E-2DA6-6919-FD58F0A67BFF}"/>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Permutations</a:t>
            </a:r>
          </a:p>
        </p:txBody>
      </p:sp>
      <p:sp>
        <p:nvSpPr>
          <p:cNvPr id="24579" name="TextBox 3">
            <a:extLst>
              <a:ext uri="{FF2B5EF4-FFF2-40B4-BE49-F238E27FC236}">
                <a16:creationId xmlns:a16="http://schemas.microsoft.com/office/drawing/2014/main" id="{489D4078-695E-8872-A2A2-D2EDB8B087DE}"/>
              </a:ext>
            </a:extLst>
          </p:cNvPr>
          <p:cNvSpPr txBox="1">
            <a:spLocks noChangeArrowheads="1"/>
          </p:cNvSpPr>
          <p:nvPr/>
        </p:nvSpPr>
        <p:spPr bwMode="auto">
          <a:xfrm>
            <a:off x="304800" y="1371600"/>
            <a:ext cx="85344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A </a:t>
            </a:r>
            <a:r>
              <a:rPr lang="en-US" altLang="en-US">
                <a:solidFill>
                  <a:srgbClr val="FF0000"/>
                </a:solidFill>
              </a:rPr>
              <a:t>permutation</a:t>
            </a:r>
            <a:r>
              <a:rPr lang="en-US" altLang="en-US"/>
              <a:t> of a set of </a:t>
            </a:r>
            <a:r>
              <a:rPr lang="en-US" altLang="en-US">
                <a:solidFill>
                  <a:srgbClr val="FF0000"/>
                </a:solidFill>
              </a:rPr>
              <a:t>distinct</a:t>
            </a:r>
            <a:r>
              <a:rPr lang="en-US" altLang="en-US"/>
              <a:t> objects is an </a:t>
            </a:r>
            <a:r>
              <a:rPr lang="en-US" altLang="en-US">
                <a:solidFill>
                  <a:srgbClr val="FF0000"/>
                </a:solidFill>
              </a:rPr>
              <a:t>ordered</a:t>
            </a:r>
          </a:p>
          <a:p>
            <a:r>
              <a:rPr lang="en-US" altLang="en-US"/>
              <a:t>arrangement of the objects. </a:t>
            </a:r>
          </a:p>
          <a:p>
            <a:endParaRPr lang="en-US" altLang="en-US"/>
          </a:p>
          <a:p>
            <a:r>
              <a:rPr lang="en-US" altLang="en-US"/>
              <a:t>Since the </a:t>
            </a:r>
            <a:r>
              <a:rPr lang="en-US" altLang="en-US">
                <a:solidFill>
                  <a:srgbClr val="FF0000"/>
                </a:solidFill>
              </a:rPr>
              <a:t>objects are distinct, they cannot be selected more than once</a:t>
            </a:r>
            <a:r>
              <a:rPr lang="en-US" altLang="en-US"/>
              <a:t>. Furthermore, the order of the arrangement matters.</a:t>
            </a:r>
          </a:p>
          <a:p>
            <a:endParaRPr lang="en-US" altLang="en-US"/>
          </a:p>
          <a:p>
            <a:r>
              <a:rPr lang="en-US" altLang="en-US" b="1"/>
              <a:t>Example:</a:t>
            </a:r>
          </a:p>
          <a:p>
            <a:r>
              <a:rPr lang="en-US" altLang="en-US"/>
              <a:t>• Assume we have a set S with n elements. S={a,b,c}.</a:t>
            </a:r>
          </a:p>
          <a:p>
            <a:endParaRPr lang="en-US" altLang="en-US"/>
          </a:p>
          <a:p>
            <a:r>
              <a:rPr lang="en-US" altLang="en-US"/>
              <a:t>• </a:t>
            </a:r>
            <a:r>
              <a:rPr lang="en-US" altLang="en-US" b="1"/>
              <a:t>Permutations of S:</a:t>
            </a:r>
          </a:p>
          <a:p>
            <a:r>
              <a:rPr lang="pt-BR" altLang="en-US"/>
              <a:t>• </a:t>
            </a:r>
            <a:r>
              <a:rPr lang="pt-BR" altLang="en-US" b="1">
                <a:solidFill>
                  <a:srgbClr val="FF0000"/>
                </a:solidFill>
              </a:rPr>
              <a:t>a b c   a c b    b a c    b c a    c a b    c b a</a:t>
            </a:r>
            <a:endParaRPr lang="en-US" altLang="en-US">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C174E9ED-4B99-886D-D5E7-3CAAB1169653}"/>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Number of Permutations</a:t>
            </a:r>
          </a:p>
        </p:txBody>
      </p:sp>
      <p:sp>
        <p:nvSpPr>
          <p:cNvPr id="25603" name="TextBox 3">
            <a:extLst>
              <a:ext uri="{FF2B5EF4-FFF2-40B4-BE49-F238E27FC236}">
                <a16:creationId xmlns:a16="http://schemas.microsoft.com/office/drawing/2014/main" id="{8597F0E8-8769-04A1-9CEE-7619F17FC3F4}"/>
              </a:ext>
            </a:extLst>
          </p:cNvPr>
          <p:cNvSpPr txBox="1">
            <a:spLocks noChangeArrowheads="1"/>
          </p:cNvSpPr>
          <p:nvPr/>
        </p:nvSpPr>
        <p:spPr bwMode="auto">
          <a:xfrm>
            <a:off x="304800" y="1371600"/>
            <a:ext cx="85344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Assume we have a set S with n elements. </a:t>
            </a:r>
            <a:r>
              <a:rPr lang="en-US" altLang="en-US">
                <a:solidFill>
                  <a:srgbClr val="FF0000"/>
                </a:solidFill>
              </a:rPr>
              <a:t>S={a</a:t>
            </a:r>
            <a:r>
              <a:rPr lang="en-US" altLang="en-US" baseline="-25000">
                <a:solidFill>
                  <a:srgbClr val="FF0000"/>
                </a:solidFill>
              </a:rPr>
              <a:t>1</a:t>
            </a:r>
            <a:r>
              <a:rPr lang="en-US" altLang="en-US">
                <a:solidFill>
                  <a:srgbClr val="FF0000"/>
                </a:solidFill>
              </a:rPr>
              <a:t> a</a:t>
            </a:r>
            <a:r>
              <a:rPr lang="en-US" altLang="en-US" baseline="-25000">
                <a:solidFill>
                  <a:srgbClr val="FF0000"/>
                </a:solidFill>
              </a:rPr>
              <a:t>2</a:t>
            </a:r>
            <a:r>
              <a:rPr lang="en-US" altLang="en-US">
                <a:solidFill>
                  <a:srgbClr val="FF0000"/>
                </a:solidFill>
              </a:rPr>
              <a:t> … a</a:t>
            </a:r>
            <a:r>
              <a:rPr lang="en-US" altLang="en-US" baseline="-25000">
                <a:solidFill>
                  <a:srgbClr val="FF0000"/>
                </a:solidFill>
              </a:rPr>
              <a:t>n</a:t>
            </a:r>
            <a:r>
              <a:rPr lang="en-US" altLang="en-US">
                <a:solidFill>
                  <a:srgbClr val="FF0000"/>
                </a:solidFill>
              </a:rPr>
              <a:t>}.</a:t>
            </a:r>
          </a:p>
          <a:p>
            <a:endParaRPr lang="en-US" altLang="en-US"/>
          </a:p>
          <a:p>
            <a:r>
              <a:rPr lang="en-US" altLang="en-US"/>
              <a:t>• </a:t>
            </a:r>
            <a:r>
              <a:rPr lang="en-US" altLang="en-US" b="1"/>
              <a:t>Question: </a:t>
            </a:r>
            <a:r>
              <a:rPr lang="en-US" altLang="en-US" b="1">
                <a:solidFill>
                  <a:srgbClr val="FF0000"/>
                </a:solidFill>
              </a:rPr>
              <a:t>How many different permutations are there</a:t>
            </a:r>
            <a:r>
              <a:rPr lang="en-US" altLang="en-US" b="1"/>
              <a:t>?</a:t>
            </a:r>
          </a:p>
          <a:p>
            <a:endParaRPr lang="en-US" altLang="en-US" b="1"/>
          </a:p>
          <a:p>
            <a:r>
              <a:rPr lang="en-US" altLang="en-US"/>
              <a:t>• In how many different ways we can choose the first element of the permutation? </a:t>
            </a:r>
            <a:r>
              <a:rPr lang="en-US" altLang="en-US" b="1">
                <a:solidFill>
                  <a:srgbClr val="FF0000"/>
                </a:solidFill>
              </a:rPr>
              <a:t>n</a:t>
            </a:r>
            <a:r>
              <a:rPr lang="en-US" altLang="en-US" b="1"/>
              <a:t> (either a</a:t>
            </a:r>
            <a:r>
              <a:rPr lang="en-US" altLang="en-US" b="1" baseline="-25000"/>
              <a:t>1</a:t>
            </a:r>
            <a:r>
              <a:rPr lang="en-US" altLang="en-US" b="1"/>
              <a:t> or a</a:t>
            </a:r>
            <a:r>
              <a:rPr lang="en-US" altLang="en-US" b="1" baseline="-25000"/>
              <a:t>2</a:t>
            </a:r>
            <a:r>
              <a:rPr lang="en-US" altLang="en-US" b="1"/>
              <a:t> … or a</a:t>
            </a:r>
            <a:r>
              <a:rPr lang="en-US" altLang="en-US" b="1" baseline="-25000"/>
              <a:t>n</a:t>
            </a:r>
            <a:r>
              <a:rPr lang="en-US" altLang="en-US" b="1"/>
              <a:t> )</a:t>
            </a:r>
          </a:p>
          <a:p>
            <a:r>
              <a:rPr lang="en-US" altLang="en-US"/>
              <a:t>• </a:t>
            </a:r>
            <a:r>
              <a:rPr lang="en-US" altLang="en-US">
                <a:solidFill>
                  <a:srgbClr val="FF0000"/>
                </a:solidFill>
              </a:rPr>
              <a:t>Assume we picked a</a:t>
            </a:r>
            <a:r>
              <a:rPr lang="en-US" altLang="en-US" baseline="-25000">
                <a:solidFill>
                  <a:srgbClr val="FF0000"/>
                </a:solidFill>
              </a:rPr>
              <a:t>2</a:t>
            </a:r>
            <a:r>
              <a:rPr lang="en-US" altLang="en-US">
                <a:solidFill>
                  <a:srgbClr val="FF0000"/>
                </a:solidFill>
              </a:rPr>
              <a:t>.</a:t>
            </a:r>
          </a:p>
          <a:p>
            <a:r>
              <a:rPr lang="en-US" altLang="en-US"/>
              <a:t>• In how many different ways we can choose the remaining</a:t>
            </a:r>
          </a:p>
          <a:p>
            <a:r>
              <a:rPr lang="en-US" altLang="en-US"/>
              <a:t>elements? </a:t>
            </a:r>
            <a:r>
              <a:rPr lang="en-US" altLang="en-US" b="1">
                <a:solidFill>
                  <a:srgbClr val="FF0000"/>
                </a:solidFill>
              </a:rPr>
              <a:t>n-1</a:t>
            </a:r>
            <a:r>
              <a:rPr lang="en-US" altLang="en-US" b="1"/>
              <a:t> (either a</a:t>
            </a:r>
            <a:r>
              <a:rPr lang="en-US" altLang="en-US" b="1" baseline="-25000"/>
              <a:t>1</a:t>
            </a:r>
            <a:r>
              <a:rPr lang="en-US" altLang="en-US" b="1"/>
              <a:t> or a</a:t>
            </a:r>
            <a:r>
              <a:rPr lang="en-US" altLang="en-US" b="1" baseline="-25000"/>
              <a:t>3</a:t>
            </a:r>
            <a:r>
              <a:rPr lang="en-US" altLang="en-US" b="1"/>
              <a:t> … or a</a:t>
            </a:r>
            <a:r>
              <a:rPr lang="en-US" altLang="en-US" b="1" baseline="-25000"/>
              <a:t>n</a:t>
            </a:r>
            <a:r>
              <a:rPr lang="en-US" altLang="en-US" b="1"/>
              <a:t> but not a</a:t>
            </a:r>
            <a:r>
              <a:rPr lang="en-US" altLang="en-US" b="1" baseline="-25000"/>
              <a:t>2</a:t>
            </a:r>
            <a:r>
              <a:rPr lang="en-US" altLang="en-US" b="1"/>
              <a:t>)</a:t>
            </a:r>
          </a:p>
          <a:p>
            <a:r>
              <a:rPr lang="en-US" altLang="en-US"/>
              <a:t>• </a:t>
            </a:r>
            <a:r>
              <a:rPr lang="en-US" altLang="en-US" b="1">
                <a:solidFill>
                  <a:srgbClr val="FF0000"/>
                </a:solidFill>
              </a:rPr>
              <a:t>Assume we picked a</a:t>
            </a:r>
            <a:r>
              <a:rPr lang="en-US" altLang="en-US" b="1" baseline="-25000">
                <a:solidFill>
                  <a:srgbClr val="FF0000"/>
                </a:solidFill>
              </a:rPr>
              <a:t>j</a:t>
            </a:r>
            <a:r>
              <a:rPr lang="en-US" altLang="en-US" b="1">
                <a:solidFill>
                  <a:srgbClr val="FF0000"/>
                </a:solidFill>
              </a:rPr>
              <a:t>.</a:t>
            </a:r>
          </a:p>
          <a:p>
            <a:r>
              <a:rPr lang="en-US" altLang="en-US"/>
              <a:t>• In how many different ways we can choose the remaining</a:t>
            </a:r>
          </a:p>
          <a:p>
            <a:r>
              <a:rPr lang="en-US" altLang="en-US"/>
              <a:t>elements? </a:t>
            </a:r>
            <a:r>
              <a:rPr lang="en-US" altLang="en-US" b="1">
                <a:solidFill>
                  <a:srgbClr val="FF0000"/>
                </a:solidFill>
              </a:rPr>
              <a:t>n-2</a:t>
            </a:r>
            <a:r>
              <a:rPr lang="en-US" altLang="en-US" b="1"/>
              <a:t> (either a</a:t>
            </a:r>
            <a:r>
              <a:rPr lang="en-US" altLang="en-US" b="1" baseline="-25000"/>
              <a:t>1</a:t>
            </a:r>
            <a:r>
              <a:rPr lang="en-US" altLang="en-US" b="1"/>
              <a:t> or a</a:t>
            </a:r>
            <a:r>
              <a:rPr lang="en-US" altLang="en-US" b="1" baseline="-25000"/>
              <a:t>3</a:t>
            </a:r>
            <a:r>
              <a:rPr lang="en-US" altLang="en-US" b="1"/>
              <a:t> … or a</a:t>
            </a:r>
            <a:r>
              <a:rPr lang="en-US" altLang="en-US" b="1" baseline="-25000"/>
              <a:t>n</a:t>
            </a:r>
            <a:r>
              <a:rPr lang="en-US" altLang="en-US" b="1"/>
              <a:t> but not a</a:t>
            </a:r>
            <a:r>
              <a:rPr lang="en-US" altLang="en-US" b="1" baseline="-25000"/>
              <a:t>2</a:t>
            </a:r>
            <a:r>
              <a:rPr lang="en-US" altLang="en-US" b="1"/>
              <a:t> and not a</a:t>
            </a:r>
            <a:r>
              <a:rPr lang="en-US" altLang="en-US" b="1" baseline="-25000"/>
              <a:t>j</a:t>
            </a:r>
            <a:r>
              <a:rPr lang="en-US" altLang="en-US" b="1"/>
              <a:t>)</a:t>
            </a:r>
          </a:p>
          <a:p>
            <a:r>
              <a:rPr lang="pt-BR" altLang="en-US" b="1">
                <a:solidFill>
                  <a:srgbClr val="FF0000"/>
                </a:solidFill>
              </a:rPr>
              <a:t>P(n,n) = n.(n-1)(n-2)…1 = n!</a:t>
            </a:r>
            <a:endParaRPr lang="en-US" altLang="en-US">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9C52668-D439-E911-C6A6-E84E0BC96277}"/>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Number of Permutations</a:t>
            </a:r>
          </a:p>
        </p:txBody>
      </p:sp>
      <p:sp>
        <p:nvSpPr>
          <p:cNvPr id="26627" name="TextBox 3">
            <a:extLst>
              <a:ext uri="{FF2B5EF4-FFF2-40B4-BE49-F238E27FC236}">
                <a16:creationId xmlns:a16="http://schemas.microsoft.com/office/drawing/2014/main" id="{589A48E6-5607-9CA0-FB1A-37EBFB09E02E}"/>
              </a:ext>
            </a:extLst>
          </p:cNvPr>
          <p:cNvSpPr txBox="1">
            <a:spLocks noChangeArrowheads="1"/>
          </p:cNvSpPr>
          <p:nvPr/>
        </p:nvSpPr>
        <p:spPr bwMode="auto">
          <a:xfrm>
            <a:off x="304800" y="1371600"/>
            <a:ext cx="85344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solidFill>
                  <a:srgbClr val="FF0000"/>
                </a:solidFill>
              </a:rPr>
              <a:t>Example 1.</a:t>
            </a:r>
          </a:p>
          <a:p>
            <a:r>
              <a:rPr lang="en-US" altLang="en-US"/>
              <a:t>• How many permutations of letters {a,b,c} are there?</a:t>
            </a:r>
          </a:p>
          <a:p>
            <a:endParaRPr lang="en-US" altLang="en-US"/>
          </a:p>
          <a:p>
            <a:r>
              <a:rPr lang="en-US" altLang="en-US"/>
              <a:t>• Number of permutations is:</a:t>
            </a:r>
          </a:p>
          <a:p>
            <a:endParaRPr lang="en-US" altLang="en-US"/>
          </a:p>
          <a:p>
            <a:r>
              <a:rPr lang="en-US" altLang="en-US" i="1">
                <a:solidFill>
                  <a:srgbClr val="FF0000"/>
                </a:solidFill>
              </a:rPr>
              <a:t>P(n,n) =P(3,3) =3! = 6</a:t>
            </a:r>
          </a:p>
          <a:p>
            <a:endParaRPr lang="en-US" altLang="en-US" i="1">
              <a:solidFill>
                <a:srgbClr val="FF0000"/>
              </a:solidFill>
            </a:endParaRPr>
          </a:p>
          <a:p>
            <a:r>
              <a:rPr lang="en-US" altLang="en-US"/>
              <a:t>• Verify:</a:t>
            </a:r>
          </a:p>
          <a:p>
            <a:r>
              <a:rPr lang="en-US" altLang="en-US" i="1">
                <a:solidFill>
                  <a:srgbClr val="FF0000"/>
                </a:solidFill>
              </a:rPr>
              <a:t>abc   acb   bac   bca   cab   cba</a:t>
            </a:r>
            <a:endParaRPr lang="en-US" altLang="en-US">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F45EC86A-8324-7908-2552-C0548E00378E}"/>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Number of Permutations</a:t>
            </a:r>
          </a:p>
        </p:txBody>
      </p:sp>
      <p:sp>
        <p:nvSpPr>
          <p:cNvPr id="27651" name="TextBox 3">
            <a:extLst>
              <a:ext uri="{FF2B5EF4-FFF2-40B4-BE49-F238E27FC236}">
                <a16:creationId xmlns:a16="http://schemas.microsoft.com/office/drawing/2014/main" id="{D193F57C-E0B2-90EA-35E5-82A404C0E7E1}"/>
              </a:ext>
            </a:extLst>
          </p:cNvPr>
          <p:cNvSpPr txBox="1">
            <a:spLocks noChangeArrowheads="1"/>
          </p:cNvSpPr>
          <p:nvPr/>
        </p:nvSpPr>
        <p:spPr bwMode="auto">
          <a:xfrm>
            <a:off x="304800" y="1371600"/>
            <a:ext cx="85344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t>Example 2</a:t>
            </a:r>
          </a:p>
          <a:p>
            <a:r>
              <a:rPr lang="en-US" altLang="en-US"/>
              <a:t>• How many permutations of letters </a:t>
            </a:r>
            <a:r>
              <a:rPr lang="en-US" altLang="en-US">
                <a:solidFill>
                  <a:srgbClr val="FF0000"/>
                </a:solidFill>
              </a:rPr>
              <a:t>A B C D E F G H </a:t>
            </a:r>
            <a:r>
              <a:rPr lang="en-US" altLang="en-US"/>
              <a:t>contain a substring </a:t>
            </a:r>
            <a:r>
              <a:rPr lang="en-US" altLang="en-US">
                <a:solidFill>
                  <a:srgbClr val="FF0000"/>
                </a:solidFill>
              </a:rPr>
              <a:t>ABC</a:t>
            </a:r>
            <a:r>
              <a:rPr lang="en-US" altLang="en-US"/>
              <a:t>.</a:t>
            </a:r>
          </a:p>
          <a:p>
            <a:endParaRPr lang="en-US" altLang="en-US" b="1"/>
          </a:p>
          <a:p>
            <a:r>
              <a:rPr lang="en-US" altLang="en-US" b="1"/>
              <a:t>Idea: consider </a:t>
            </a:r>
            <a:r>
              <a:rPr lang="en-US" altLang="en-US" b="1">
                <a:solidFill>
                  <a:srgbClr val="FF0000"/>
                </a:solidFill>
              </a:rPr>
              <a:t>ABC as one </a:t>
            </a:r>
            <a:r>
              <a:rPr lang="en-US" altLang="en-US" b="1"/>
              <a:t>element and </a:t>
            </a:r>
            <a:r>
              <a:rPr lang="en-US" altLang="en-US" b="1">
                <a:solidFill>
                  <a:srgbClr val="FF0000"/>
                </a:solidFill>
              </a:rPr>
              <a:t>D,E,F,G,H as other 5 </a:t>
            </a:r>
            <a:r>
              <a:rPr lang="en-US" altLang="en-US">
                <a:solidFill>
                  <a:srgbClr val="FF0000"/>
                </a:solidFill>
              </a:rPr>
              <a:t>elements</a:t>
            </a:r>
            <a:r>
              <a:rPr lang="en-US" altLang="en-US"/>
              <a:t> for the total of 6 elements.</a:t>
            </a:r>
          </a:p>
          <a:p>
            <a:endParaRPr lang="en-US" altLang="en-US" b="1"/>
          </a:p>
          <a:p>
            <a:r>
              <a:rPr lang="en-US" altLang="en-US" b="1"/>
              <a:t>Then we need to count the number of permutation of these </a:t>
            </a:r>
            <a:r>
              <a:rPr lang="en-US" altLang="en-US"/>
              <a:t>elements.</a:t>
            </a:r>
          </a:p>
          <a:p>
            <a:endParaRPr lang="en-US" altLang="en-US"/>
          </a:p>
          <a:p>
            <a:r>
              <a:rPr lang="en-US" altLang="en-US">
                <a:solidFill>
                  <a:srgbClr val="FF0000"/>
                </a:solidFill>
              </a:rPr>
              <a:t>6! = 720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94BC3865-1B96-6F72-1658-96A06815FF6B}"/>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K-Permutations</a:t>
            </a:r>
          </a:p>
        </p:txBody>
      </p:sp>
      <p:sp>
        <p:nvSpPr>
          <p:cNvPr id="28675" name="TextBox 3">
            <a:extLst>
              <a:ext uri="{FF2B5EF4-FFF2-40B4-BE49-F238E27FC236}">
                <a16:creationId xmlns:a16="http://schemas.microsoft.com/office/drawing/2014/main" id="{B4B968F2-0D4F-2FA1-D785-C547DF7B4F70}"/>
              </a:ext>
            </a:extLst>
          </p:cNvPr>
          <p:cNvSpPr txBox="1">
            <a:spLocks noChangeArrowheads="1"/>
          </p:cNvSpPr>
          <p:nvPr/>
        </p:nvSpPr>
        <p:spPr bwMode="auto">
          <a:xfrm>
            <a:off x="304800" y="1371600"/>
            <a:ext cx="85344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solidFill>
                  <a:srgbClr val="FF0000"/>
                </a:solidFill>
              </a:rPr>
              <a:t>k-permutation</a:t>
            </a:r>
            <a:r>
              <a:rPr lang="en-US" altLang="en-US" b="1"/>
              <a:t> is an </a:t>
            </a:r>
            <a:r>
              <a:rPr lang="en-US" altLang="en-US" b="1">
                <a:solidFill>
                  <a:srgbClr val="FF0000"/>
                </a:solidFill>
              </a:rPr>
              <a:t>ordered</a:t>
            </a:r>
            <a:r>
              <a:rPr lang="en-US" altLang="en-US" b="1"/>
              <a:t> arrangement of </a:t>
            </a:r>
            <a:r>
              <a:rPr lang="en-US" altLang="en-US" b="1">
                <a:solidFill>
                  <a:srgbClr val="FF0000"/>
                </a:solidFill>
              </a:rPr>
              <a:t>k elements </a:t>
            </a:r>
            <a:r>
              <a:rPr lang="en-US" altLang="en-US" b="1"/>
              <a:t>of a set.</a:t>
            </a:r>
          </a:p>
          <a:p>
            <a:endParaRPr lang="en-US" altLang="en-US" b="1"/>
          </a:p>
          <a:p>
            <a:r>
              <a:rPr lang="en-US" altLang="en-US"/>
              <a:t>• The number of k-permutations of a set with n distinct elements is:</a:t>
            </a:r>
          </a:p>
          <a:p>
            <a:endParaRPr lang="en-US" altLang="en-US"/>
          </a:p>
          <a:p>
            <a:r>
              <a:rPr lang="pt-BR" altLang="en-US" b="1">
                <a:solidFill>
                  <a:srgbClr val="FF0000"/>
                </a:solidFill>
              </a:rPr>
              <a:t>P(n,k) = n(n-1)(n-2)…(n-k+1)= n!/(n-k)!</a:t>
            </a:r>
            <a:endParaRPr lang="en-US" altLang="en-US">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935A019E-27CC-3EFD-7B64-7D4FD9366B47}"/>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K-Permutations</a:t>
            </a:r>
          </a:p>
        </p:txBody>
      </p:sp>
      <p:sp>
        <p:nvSpPr>
          <p:cNvPr id="4" name="TextBox 3">
            <a:extLst>
              <a:ext uri="{FF2B5EF4-FFF2-40B4-BE49-F238E27FC236}">
                <a16:creationId xmlns:a16="http://schemas.microsoft.com/office/drawing/2014/main" id="{797673AB-57C0-0B7C-434A-DF1DC100FFBF}"/>
              </a:ext>
            </a:extLst>
          </p:cNvPr>
          <p:cNvSpPr txBox="1"/>
          <p:nvPr/>
        </p:nvSpPr>
        <p:spPr>
          <a:xfrm>
            <a:off x="304800" y="1371600"/>
            <a:ext cx="8534400" cy="5262563"/>
          </a:xfrm>
          <a:prstGeom prst="rect">
            <a:avLst/>
          </a:prstGeom>
          <a:noFill/>
        </p:spPr>
        <p:txBody>
          <a:bodyPr>
            <a:spAutoFit/>
          </a:bodyPr>
          <a:lstStyle/>
          <a:p>
            <a:pPr>
              <a:defRPr/>
            </a:pPr>
            <a:r>
              <a:rPr lang="en-US" b="1" i="1" dirty="0">
                <a:solidFill>
                  <a:srgbClr val="FF0000"/>
                </a:solidFill>
              </a:rPr>
              <a:t>k-permutation</a:t>
            </a:r>
            <a:r>
              <a:rPr lang="en-US" b="1" i="1" dirty="0"/>
              <a:t> is an </a:t>
            </a:r>
            <a:r>
              <a:rPr lang="en-US" b="1" i="1" dirty="0">
                <a:solidFill>
                  <a:srgbClr val="FF0000"/>
                </a:solidFill>
              </a:rPr>
              <a:t>ordered</a:t>
            </a:r>
            <a:r>
              <a:rPr lang="en-US" b="1" i="1" dirty="0"/>
              <a:t> arrangement of </a:t>
            </a:r>
            <a:r>
              <a:rPr lang="en-US" b="1" i="1" dirty="0">
                <a:solidFill>
                  <a:srgbClr val="FF0000"/>
                </a:solidFill>
              </a:rPr>
              <a:t>k elements </a:t>
            </a:r>
            <a:r>
              <a:rPr lang="en-US" b="1" i="1" dirty="0"/>
              <a:t>of a set.</a:t>
            </a:r>
          </a:p>
          <a:p>
            <a:pPr>
              <a:defRPr/>
            </a:pPr>
            <a:r>
              <a:rPr lang="en-US" dirty="0"/>
              <a:t>• The number of </a:t>
            </a:r>
            <a:r>
              <a:rPr lang="en-US" i="1" dirty="0"/>
              <a:t>k-permutations of a set with n distinct elements </a:t>
            </a:r>
            <a:r>
              <a:rPr lang="en-US" dirty="0"/>
              <a:t>is:</a:t>
            </a:r>
          </a:p>
          <a:p>
            <a:pPr>
              <a:defRPr/>
            </a:pPr>
            <a:r>
              <a:rPr lang="pt-BR" b="1" dirty="0">
                <a:solidFill>
                  <a:srgbClr val="FF0000"/>
                </a:solidFill>
              </a:rPr>
              <a:t>P(n,k) = n(n-1)(n-2)…(n-k+1)= n!/(n-k)!</a:t>
            </a:r>
          </a:p>
          <a:p>
            <a:pPr>
              <a:defRPr/>
            </a:pPr>
            <a:endParaRPr lang="en-US" b="1" dirty="0"/>
          </a:p>
          <a:p>
            <a:pPr>
              <a:defRPr/>
            </a:pPr>
            <a:r>
              <a:rPr lang="en-US" b="1" dirty="0">
                <a:solidFill>
                  <a:srgbClr val="FF0000"/>
                </a:solidFill>
              </a:rPr>
              <a:t>Explanation:</a:t>
            </a:r>
          </a:p>
          <a:p>
            <a:pPr marL="236538" indent="-236538">
              <a:defRPr/>
            </a:pPr>
            <a:r>
              <a:rPr lang="en-US" dirty="0"/>
              <a:t>• Assume we have a set S with n elements. S={a</a:t>
            </a:r>
            <a:r>
              <a:rPr lang="en-US" baseline="-25000" dirty="0"/>
              <a:t>1</a:t>
            </a:r>
            <a:r>
              <a:rPr lang="en-US" dirty="0"/>
              <a:t> a</a:t>
            </a:r>
            <a:r>
              <a:rPr lang="en-US" baseline="-25000" dirty="0"/>
              <a:t>2</a:t>
            </a:r>
            <a:r>
              <a:rPr lang="en-US" dirty="0"/>
              <a:t> … a</a:t>
            </a:r>
            <a:r>
              <a:rPr lang="en-US" baseline="-25000" dirty="0"/>
              <a:t>n</a:t>
            </a:r>
            <a:r>
              <a:rPr lang="en-US" dirty="0"/>
              <a:t>}.</a:t>
            </a:r>
          </a:p>
          <a:p>
            <a:pPr marL="236538" indent="-236538">
              <a:defRPr/>
            </a:pPr>
            <a:r>
              <a:rPr lang="en-US" dirty="0"/>
              <a:t>• The 1st element of the </a:t>
            </a:r>
            <a:r>
              <a:rPr lang="en-US" i="1" dirty="0"/>
              <a:t>k-permutation may be any of the </a:t>
            </a:r>
            <a:r>
              <a:rPr lang="en-US" i="1" dirty="0">
                <a:solidFill>
                  <a:srgbClr val="FF0000"/>
                </a:solidFill>
              </a:rPr>
              <a:t>n</a:t>
            </a:r>
          </a:p>
          <a:p>
            <a:pPr marL="236538" indent="-236538">
              <a:defRPr/>
            </a:pPr>
            <a:r>
              <a:rPr lang="en-US" dirty="0"/>
              <a:t>elements in the set.</a:t>
            </a:r>
          </a:p>
          <a:p>
            <a:pPr marL="236538" indent="-236538">
              <a:defRPr/>
            </a:pPr>
            <a:r>
              <a:rPr lang="en-US" dirty="0"/>
              <a:t>• The 2nd element of the </a:t>
            </a:r>
            <a:r>
              <a:rPr lang="en-US" i="1" dirty="0"/>
              <a:t>k-permutation may be any of the </a:t>
            </a:r>
            <a:r>
              <a:rPr lang="en-US" i="1" dirty="0">
                <a:solidFill>
                  <a:srgbClr val="FF0000"/>
                </a:solidFill>
              </a:rPr>
              <a:t>n-1</a:t>
            </a:r>
          </a:p>
          <a:p>
            <a:pPr marL="236538" indent="-236538">
              <a:defRPr/>
            </a:pPr>
            <a:r>
              <a:rPr lang="en-US" dirty="0"/>
              <a:t>remaining elements of the set.</a:t>
            </a:r>
          </a:p>
          <a:p>
            <a:pPr marL="236538" indent="-236538">
              <a:defRPr/>
            </a:pPr>
            <a:r>
              <a:rPr lang="en-US" dirty="0"/>
              <a:t>• And so on. For last element of the </a:t>
            </a:r>
            <a:r>
              <a:rPr lang="en-US" i="1" dirty="0"/>
              <a:t>k-permutation, there are </a:t>
            </a:r>
            <a:r>
              <a:rPr lang="en-US" i="1" dirty="0">
                <a:solidFill>
                  <a:srgbClr val="FF0000"/>
                </a:solidFill>
              </a:rPr>
              <a:t>n-k+1</a:t>
            </a:r>
            <a:r>
              <a:rPr lang="en-US" i="1" dirty="0"/>
              <a:t> elements remaining to choose from</a:t>
            </a:r>
            <a:endParaRPr lang="en-US" dirty="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D521965-CD76-6D08-0B7A-574C0FAB418A}"/>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K-Permutations</a:t>
            </a:r>
          </a:p>
        </p:txBody>
      </p:sp>
      <p:sp>
        <p:nvSpPr>
          <p:cNvPr id="30723" name="TextBox 3">
            <a:extLst>
              <a:ext uri="{FF2B5EF4-FFF2-40B4-BE49-F238E27FC236}">
                <a16:creationId xmlns:a16="http://schemas.microsoft.com/office/drawing/2014/main" id="{B9EDD6DF-AD7A-8182-605C-82E349CB8519}"/>
              </a:ext>
            </a:extLst>
          </p:cNvPr>
          <p:cNvSpPr txBox="1">
            <a:spLocks noChangeArrowheads="1"/>
          </p:cNvSpPr>
          <p:nvPr/>
        </p:nvSpPr>
        <p:spPr bwMode="auto">
          <a:xfrm>
            <a:off x="304800" y="1371600"/>
            <a:ext cx="85344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t>Example:</a:t>
            </a:r>
          </a:p>
          <a:p>
            <a:r>
              <a:rPr lang="en-US" altLang="en-US"/>
              <a:t>The 2-permutations of set {</a:t>
            </a:r>
            <a:r>
              <a:rPr lang="en-US" altLang="en-US" i="1"/>
              <a:t>a,b,c} are:</a:t>
            </a:r>
          </a:p>
          <a:p>
            <a:endParaRPr lang="en-US" altLang="en-US" i="1"/>
          </a:p>
          <a:p>
            <a:r>
              <a:rPr lang="en-US" altLang="en-US" i="1">
                <a:solidFill>
                  <a:srgbClr val="FF0000"/>
                </a:solidFill>
              </a:rPr>
              <a:t>ab, ac, ba, bc, ca, cb.</a:t>
            </a:r>
          </a:p>
          <a:p>
            <a:endParaRPr lang="en-US" altLang="en-US" i="1"/>
          </a:p>
          <a:p>
            <a:r>
              <a:rPr lang="en-US" altLang="en-US"/>
              <a:t>The number of 2-permutations of this 3-element set is</a:t>
            </a:r>
          </a:p>
          <a:p>
            <a:endParaRPr lang="en-US" altLang="en-US"/>
          </a:p>
          <a:p>
            <a:r>
              <a:rPr lang="pt-BR" altLang="en-US" i="1">
                <a:solidFill>
                  <a:srgbClr val="FF0000"/>
                </a:solidFill>
              </a:rPr>
              <a:t>P(n,k) = P(3,2) = 3 (3-2+1) = 6.</a:t>
            </a:r>
            <a:endParaRPr lang="en-US" altLang="en-US">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7EFB2C5-0A91-696A-75B3-9CD63B05198B}"/>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Combination</a:t>
            </a:r>
          </a:p>
        </p:txBody>
      </p:sp>
      <p:sp>
        <p:nvSpPr>
          <p:cNvPr id="31747" name="TextBox 3">
            <a:extLst>
              <a:ext uri="{FF2B5EF4-FFF2-40B4-BE49-F238E27FC236}">
                <a16:creationId xmlns:a16="http://schemas.microsoft.com/office/drawing/2014/main" id="{BC8CFF43-0986-5A82-471D-DADE25B9AE64}"/>
              </a:ext>
            </a:extLst>
          </p:cNvPr>
          <p:cNvSpPr txBox="1">
            <a:spLocks noChangeArrowheads="1"/>
          </p:cNvSpPr>
          <p:nvPr/>
        </p:nvSpPr>
        <p:spPr bwMode="auto">
          <a:xfrm>
            <a:off x="304800" y="1371600"/>
            <a:ext cx="85344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t>A </a:t>
            </a:r>
            <a:r>
              <a:rPr lang="en-US" altLang="en-US" b="1" i="1">
                <a:solidFill>
                  <a:srgbClr val="FF0000"/>
                </a:solidFill>
              </a:rPr>
              <a:t>k-combination</a:t>
            </a:r>
            <a:r>
              <a:rPr lang="en-US" altLang="en-US" b="1" i="1"/>
              <a:t> of elements of a set is an </a:t>
            </a:r>
            <a:r>
              <a:rPr lang="en-US" altLang="en-US" b="1" i="1">
                <a:solidFill>
                  <a:srgbClr val="FF0000"/>
                </a:solidFill>
              </a:rPr>
              <a:t>unordered selection </a:t>
            </a:r>
            <a:r>
              <a:rPr lang="en-US" altLang="en-US"/>
              <a:t>of </a:t>
            </a:r>
            <a:r>
              <a:rPr lang="en-US" altLang="en-US" i="1">
                <a:solidFill>
                  <a:srgbClr val="FF0000"/>
                </a:solidFill>
              </a:rPr>
              <a:t>k elements </a:t>
            </a:r>
            <a:r>
              <a:rPr lang="en-US" altLang="en-US" i="1"/>
              <a:t>from the set. </a:t>
            </a:r>
          </a:p>
          <a:p>
            <a:endParaRPr lang="en-US" altLang="en-US" i="1"/>
          </a:p>
          <a:p>
            <a:r>
              <a:rPr lang="en-US" altLang="en-US" i="1"/>
              <a:t>Thus, a k-combination is simply a </a:t>
            </a:r>
            <a:r>
              <a:rPr lang="en-US" altLang="en-US"/>
              <a:t>subset of the set with </a:t>
            </a:r>
            <a:r>
              <a:rPr lang="en-US" altLang="en-US" i="1"/>
              <a:t>k elements.</a:t>
            </a:r>
          </a:p>
          <a:p>
            <a:endParaRPr lang="en-US" altLang="en-US" b="1"/>
          </a:p>
          <a:p>
            <a:r>
              <a:rPr lang="en-US" altLang="en-US" b="1"/>
              <a:t>Example:</a:t>
            </a:r>
          </a:p>
          <a:p>
            <a:r>
              <a:rPr lang="en-US" altLang="en-US"/>
              <a:t>• 2-combinations of the set {a,b,c}</a:t>
            </a:r>
          </a:p>
          <a:p>
            <a:endParaRPr lang="en-US" altLang="en-US"/>
          </a:p>
          <a:p>
            <a:r>
              <a:rPr lang="pt-BR" altLang="en-US"/>
              <a:t>a b   a c    b c</a:t>
            </a:r>
          </a:p>
          <a:p>
            <a:endParaRPr lang="en-US" altLang="en-US"/>
          </a:p>
          <a:p>
            <a:r>
              <a:rPr lang="en-US" altLang="en-US">
                <a:solidFill>
                  <a:srgbClr val="FF0000"/>
                </a:solidFill>
              </a:rPr>
              <a:t>a b</a:t>
            </a:r>
            <a:r>
              <a:rPr lang="en-US" altLang="en-US"/>
              <a:t> covers </a:t>
            </a:r>
            <a:r>
              <a:rPr lang="en-US" altLang="en-US">
                <a:solidFill>
                  <a:srgbClr val="FF0000"/>
                </a:solidFill>
              </a:rPr>
              <a:t>2-permutations</a:t>
            </a:r>
            <a:r>
              <a:rPr lang="en-US" altLang="en-US"/>
              <a:t>: </a:t>
            </a:r>
            <a:r>
              <a:rPr lang="en-US" altLang="en-US" b="1">
                <a:solidFill>
                  <a:srgbClr val="FF0000"/>
                </a:solidFill>
              </a:rPr>
              <a:t>a b </a:t>
            </a:r>
            <a:r>
              <a:rPr lang="en-US" altLang="en-US" b="1"/>
              <a:t>and </a:t>
            </a:r>
            <a:r>
              <a:rPr lang="en-US" altLang="en-US" b="1">
                <a:solidFill>
                  <a:srgbClr val="FF0000"/>
                </a:solidFill>
              </a:rPr>
              <a:t>b a</a:t>
            </a:r>
            <a:endParaRPr lang="en-US" altLang="en-US">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FE042BE-85D1-9CFF-E358-D91CAD95E76C}"/>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Combination</a:t>
            </a:r>
          </a:p>
        </p:txBody>
      </p:sp>
      <p:sp>
        <p:nvSpPr>
          <p:cNvPr id="32771" name="TextBox 3">
            <a:extLst>
              <a:ext uri="{FF2B5EF4-FFF2-40B4-BE49-F238E27FC236}">
                <a16:creationId xmlns:a16="http://schemas.microsoft.com/office/drawing/2014/main" id="{CAFF2EC8-A70F-F0EB-3624-F326AF484C36}"/>
              </a:ext>
            </a:extLst>
          </p:cNvPr>
          <p:cNvSpPr txBox="1">
            <a:spLocks noChangeArrowheads="1"/>
          </p:cNvSpPr>
          <p:nvPr/>
        </p:nvSpPr>
        <p:spPr bwMode="auto">
          <a:xfrm>
            <a:off x="304800" y="1371600"/>
            <a:ext cx="85344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FF0000"/>
                </a:solidFill>
              </a:rPr>
              <a:t>Theorem: </a:t>
            </a:r>
            <a:r>
              <a:rPr lang="en-US" altLang="en-US"/>
              <a:t>The number of </a:t>
            </a:r>
            <a:r>
              <a:rPr lang="en-US" altLang="en-US" i="1">
                <a:solidFill>
                  <a:srgbClr val="FF0000"/>
                </a:solidFill>
              </a:rPr>
              <a:t>k-combinations</a:t>
            </a:r>
            <a:r>
              <a:rPr lang="en-US" altLang="en-US" i="1"/>
              <a:t> of a set with n distinct </a:t>
            </a:r>
            <a:r>
              <a:rPr lang="en-US" altLang="en-US"/>
              <a:t>elements, where </a:t>
            </a:r>
            <a:r>
              <a:rPr lang="en-US" altLang="en-US" i="1"/>
              <a:t>n is a positive integer and k is an integer with</a:t>
            </a:r>
          </a:p>
          <a:p>
            <a:endParaRPr lang="en-US" altLang="en-US" i="1"/>
          </a:p>
          <a:p>
            <a:endParaRPr lang="en-US" altLang="en-US" i="1"/>
          </a:p>
          <a:p>
            <a:endParaRPr lang="en-US" altLang="en-US" i="1"/>
          </a:p>
          <a:p>
            <a:endParaRPr lang="en-US" altLang="en-US" i="1"/>
          </a:p>
          <a:p>
            <a:endParaRPr lang="en-US" altLang="en-US" i="1"/>
          </a:p>
        </p:txBody>
      </p:sp>
      <p:graphicFrame>
        <p:nvGraphicFramePr>
          <p:cNvPr id="32772" name="Object 2">
            <a:extLst>
              <a:ext uri="{FF2B5EF4-FFF2-40B4-BE49-F238E27FC236}">
                <a16:creationId xmlns:a16="http://schemas.microsoft.com/office/drawing/2014/main" id="{66F315D6-2E91-4DA3-26E5-0A9182323F46}"/>
              </a:ext>
            </a:extLst>
          </p:cNvPr>
          <p:cNvGraphicFramePr>
            <a:graphicFrameLocks noChangeAspect="1"/>
          </p:cNvGraphicFramePr>
          <p:nvPr/>
        </p:nvGraphicFramePr>
        <p:xfrm>
          <a:off x="2057400" y="2133600"/>
          <a:ext cx="1544638" cy="469900"/>
        </p:xfrm>
        <a:graphic>
          <a:graphicData uri="http://schemas.openxmlformats.org/presentationml/2006/ole">
            <mc:AlternateContent xmlns:mc="http://schemas.openxmlformats.org/markup-compatibility/2006">
              <mc:Choice xmlns:v="urn:schemas-microsoft-com:vml" Requires="v">
                <p:oleObj name="Equation" r:id="rId3" imgW="583693" imgH="177646" progId="Equation.3">
                  <p:embed/>
                </p:oleObj>
              </mc:Choice>
              <mc:Fallback>
                <p:oleObj name="Equation" r:id="rId3" imgW="583693" imgH="177646" progId="Equation.3">
                  <p:embed/>
                  <p:pic>
                    <p:nvPicPr>
                      <p:cNvPr id="32772" name="Object 2">
                        <a:extLst>
                          <a:ext uri="{FF2B5EF4-FFF2-40B4-BE49-F238E27FC236}">
                            <a16:creationId xmlns:a16="http://schemas.microsoft.com/office/drawing/2014/main" id="{66F315D6-2E91-4DA3-26E5-0A9182323F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133600"/>
                        <a:ext cx="1544638"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3" name="Object 3">
            <a:extLst>
              <a:ext uri="{FF2B5EF4-FFF2-40B4-BE49-F238E27FC236}">
                <a16:creationId xmlns:a16="http://schemas.microsoft.com/office/drawing/2014/main" id="{840F5217-5B5F-A2B3-F424-A6425EDF3814}"/>
              </a:ext>
            </a:extLst>
          </p:cNvPr>
          <p:cNvGraphicFramePr>
            <a:graphicFrameLocks noChangeAspect="1"/>
          </p:cNvGraphicFramePr>
          <p:nvPr/>
        </p:nvGraphicFramePr>
        <p:xfrm>
          <a:off x="3505200" y="2743200"/>
          <a:ext cx="2578100" cy="895350"/>
        </p:xfrm>
        <a:graphic>
          <a:graphicData uri="http://schemas.openxmlformats.org/presentationml/2006/ole">
            <mc:AlternateContent xmlns:mc="http://schemas.openxmlformats.org/markup-compatibility/2006">
              <mc:Choice xmlns:v="urn:schemas-microsoft-com:vml" Requires="v">
                <p:oleObj name="Equation" r:id="rId5" imgW="1206500" imgH="419100" progId="Equation.3">
                  <p:embed/>
                </p:oleObj>
              </mc:Choice>
              <mc:Fallback>
                <p:oleObj name="Equation" r:id="rId5" imgW="1206500" imgH="419100" progId="Equation.3">
                  <p:embed/>
                  <p:pic>
                    <p:nvPicPr>
                      <p:cNvPr id="32773" name="Object 3">
                        <a:extLst>
                          <a:ext uri="{FF2B5EF4-FFF2-40B4-BE49-F238E27FC236}">
                            <a16:creationId xmlns:a16="http://schemas.microsoft.com/office/drawing/2014/main" id="{840F5217-5B5F-A2B3-F424-A6425EDF38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2743200"/>
                        <a:ext cx="2578100"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8D2C2C9F-0458-38DF-97A8-8C1C4329C16C}"/>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Combination</a:t>
            </a:r>
          </a:p>
        </p:txBody>
      </p:sp>
      <p:sp>
        <p:nvSpPr>
          <p:cNvPr id="33795" name="TextBox 3">
            <a:extLst>
              <a:ext uri="{FF2B5EF4-FFF2-40B4-BE49-F238E27FC236}">
                <a16:creationId xmlns:a16="http://schemas.microsoft.com/office/drawing/2014/main" id="{CF71F960-853D-4281-406F-5F5155B3AAF0}"/>
              </a:ext>
            </a:extLst>
          </p:cNvPr>
          <p:cNvSpPr txBox="1">
            <a:spLocks noChangeArrowheads="1"/>
          </p:cNvSpPr>
          <p:nvPr/>
        </p:nvSpPr>
        <p:spPr bwMode="auto">
          <a:xfrm>
            <a:off x="304800" y="1371600"/>
            <a:ext cx="85344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FF0000"/>
                </a:solidFill>
              </a:rPr>
              <a:t>Theorem: </a:t>
            </a:r>
            <a:r>
              <a:rPr lang="en-US" altLang="en-US"/>
              <a:t>The number of </a:t>
            </a:r>
            <a:r>
              <a:rPr lang="en-US" altLang="en-US" i="1">
                <a:solidFill>
                  <a:srgbClr val="FF0000"/>
                </a:solidFill>
              </a:rPr>
              <a:t>k-combinations</a:t>
            </a:r>
            <a:r>
              <a:rPr lang="en-US" altLang="en-US" i="1"/>
              <a:t> of a set with n distinct </a:t>
            </a:r>
            <a:r>
              <a:rPr lang="en-US" altLang="en-US"/>
              <a:t>elements, where </a:t>
            </a:r>
            <a:r>
              <a:rPr lang="en-US" altLang="en-US" i="1"/>
              <a:t>n is a positive integer and k is an integer with</a:t>
            </a:r>
          </a:p>
          <a:p>
            <a:endParaRPr lang="en-US" altLang="en-US" i="1"/>
          </a:p>
          <a:p>
            <a:endParaRPr lang="en-US" altLang="en-US" i="1"/>
          </a:p>
          <a:p>
            <a:endParaRPr lang="en-US" altLang="en-US" i="1"/>
          </a:p>
          <a:p>
            <a:r>
              <a:rPr lang="en-US" altLang="en-US" b="1">
                <a:solidFill>
                  <a:srgbClr val="FF0000"/>
                </a:solidFill>
              </a:rPr>
              <a:t>Proof:</a:t>
            </a:r>
            <a:r>
              <a:rPr lang="en-US" altLang="en-US" b="1"/>
              <a:t> </a:t>
            </a:r>
            <a:r>
              <a:rPr lang="en-US" altLang="en-US"/>
              <a:t>The </a:t>
            </a:r>
            <a:r>
              <a:rPr lang="en-US" altLang="en-US" i="1"/>
              <a:t>k-permutations of the set can be obtained by first</a:t>
            </a:r>
            <a:r>
              <a:rPr lang="en-US" altLang="en-US" b="1" i="1"/>
              <a:t> </a:t>
            </a:r>
            <a:r>
              <a:rPr lang="en-US" altLang="en-US"/>
              <a:t>forming the </a:t>
            </a:r>
            <a:r>
              <a:rPr lang="en-US" altLang="en-US" i="1"/>
              <a:t>C(n,k) k-combinations of the set, and then ordering </a:t>
            </a:r>
            <a:r>
              <a:rPr lang="en-US" altLang="en-US"/>
              <a:t>the elements in each </a:t>
            </a:r>
            <a:r>
              <a:rPr lang="en-US" altLang="en-US" i="1"/>
              <a:t>k-combination, which can be done in P(k,k) </a:t>
            </a:r>
            <a:r>
              <a:rPr lang="en-US" altLang="en-US"/>
              <a:t>ways. Consequently,</a:t>
            </a:r>
          </a:p>
          <a:p>
            <a:r>
              <a:rPr lang="en-US" altLang="en-US" i="1">
                <a:solidFill>
                  <a:srgbClr val="FF0000"/>
                </a:solidFill>
              </a:rPr>
              <a:t>P(n,k) = C(n,k) * P(k,k).</a:t>
            </a:r>
          </a:p>
          <a:p>
            <a:r>
              <a:rPr lang="en-US" altLang="en-US"/>
              <a:t>This implies that</a:t>
            </a:r>
          </a:p>
          <a:p>
            <a:r>
              <a:rPr lang="pt-BR" altLang="en-US" i="1">
                <a:solidFill>
                  <a:srgbClr val="FF0000"/>
                </a:solidFill>
              </a:rPr>
              <a:t>C(n,k) = P(n,k) / P(k,k) = P(n,k) / k! = n! / (k! (n-k)!)</a:t>
            </a:r>
            <a:endParaRPr lang="en-US" altLang="en-US" i="1">
              <a:solidFill>
                <a:srgbClr val="FF0000"/>
              </a:solidFill>
            </a:endParaRPr>
          </a:p>
        </p:txBody>
      </p:sp>
      <p:graphicFrame>
        <p:nvGraphicFramePr>
          <p:cNvPr id="33796" name="Object 2">
            <a:extLst>
              <a:ext uri="{FF2B5EF4-FFF2-40B4-BE49-F238E27FC236}">
                <a16:creationId xmlns:a16="http://schemas.microsoft.com/office/drawing/2014/main" id="{A0744B47-FD3D-8649-1300-B89C37E2A708}"/>
              </a:ext>
            </a:extLst>
          </p:cNvPr>
          <p:cNvGraphicFramePr>
            <a:graphicFrameLocks noChangeAspect="1"/>
          </p:cNvGraphicFramePr>
          <p:nvPr/>
        </p:nvGraphicFramePr>
        <p:xfrm>
          <a:off x="2057400" y="2133600"/>
          <a:ext cx="1544638" cy="469900"/>
        </p:xfrm>
        <a:graphic>
          <a:graphicData uri="http://schemas.openxmlformats.org/presentationml/2006/ole">
            <mc:AlternateContent xmlns:mc="http://schemas.openxmlformats.org/markup-compatibility/2006">
              <mc:Choice xmlns:v="urn:schemas-microsoft-com:vml" Requires="v">
                <p:oleObj name="Equation" r:id="rId3" imgW="583693" imgH="177646" progId="Equation.3">
                  <p:embed/>
                </p:oleObj>
              </mc:Choice>
              <mc:Fallback>
                <p:oleObj name="Equation" r:id="rId3" imgW="583693" imgH="177646" progId="Equation.3">
                  <p:embed/>
                  <p:pic>
                    <p:nvPicPr>
                      <p:cNvPr id="33796" name="Object 2">
                        <a:extLst>
                          <a:ext uri="{FF2B5EF4-FFF2-40B4-BE49-F238E27FC236}">
                            <a16:creationId xmlns:a16="http://schemas.microsoft.com/office/drawing/2014/main" id="{A0744B47-FD3D-8649-1300-B89C37E2A7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133600"/>
                        <a:ext cx="1544638"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797" name="Object 3">
            <a:extLst>
              <a:ext uri="{FF2B5EF4-FFF2-40B4-BE49-F238E27FC236}">
                <a16:creationId xmlns:a16="http://schemas.microsoft.com/office/drawing/2014/main" id="{B5EDCCC6-8B15-230E-E200-E8C9C35EB70D}"/>
              </a:ext>
            </a:extLst>
          </p:cNvPr>
          <p:cNvGraphicFramePr>
            <a:graphicFrameLocks noChangeAspect="1"/>
          </p:cNvGraphicFramePr>
          <p:nvPr/>
        </p:nvGraphicFramePr>
        <p:xfrm>
          <a:off x="3733800" y="2362200"/>
          <a:ext cx="2578100" cy="895350"/>
        </p:xfrm>
        <a:graphic>
          <a:graphicData uri="http://schemas.openxmlformats.org/presentationml/2006/ole">
            <mc:AlternateContent xmlns:mc="http://schemas.openxmlformats.org/markup-compatibility/2006">
              <mc:Choice xmlns:v="urn:schemas-microsoft-com:vml" Requires="v">
                <p:oleObj name="Equation" r:id="rId5" imgW="1206500" imgH="419100" progId="Equation.3">
                  <p:embed/>
                </p:oleObj>
              </mc:Choice>
              <mc:Fallback>
                <p:oleObj name="Equation" r:id="rId5" imgW="1206500" imgH="419100" progId="Equation.3">
                  <p:embed/>
                  <p:pic>
                    <p:nvPicPr>
                      <p:cNvPr id="33797" name="Object 3">
                        <a:extLst>
                          <a:ext uri="{FF2B5EF4-FFF2-40B4-BE49-F238E27FC236}">
                            <a16:creationId xmlns:a16="http://schemas.microsoft.com/office/drawing/2014/main" id="{B5EDCCC6-8B15-230E-E200-E8C9C35EB7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2362200"/>
                        <a:ext cx="2578100"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F71FD71-78B0-5D69-6F9B-0054C47B6166}"/>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Combination</a:t>
            </a:r>
          </a:p>
        </p:txBody>
      </p:sp>
      <p:sp>
        <p:nvSpPr>
          <p:cNvPr id="34819" name="TextBox 3">
            <a:extLst>
              <a:ext uri="{FF2B5EF4-FFF2-40B4-BE49-F238E27FC236}">
                <a16:creationId xmlns:a16="http://schemas.microsoft.com/office/drawing/2014/main" id="{0CAB082F-1757-E9C3-F124-EB2D6B7EA930}"/>
              </a:ext>
            </a:extLst>
          </p:cNvPr>
          <p:cNvSpPr txBox="1">
            <a:spLocks noChangeArrowheads="1"/>
          </p:cNvSpPr>
          <p:nvPr/>
        </p:nvSpPr>
        <p:spPr bwMode="auto">
          <a:xfrm>
            <a:off x="304800" y="1371600"/>
            <a:ext cx="8686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FF0000"/>
                </a:solidFill>
              </a:rPr>
              <a:t>Intuition (example): </a:t>
            </a:r>
            <a:r>
              <a:rPr lang="en-US" altLang="en-US"/>
              <a:t>Assume elements A1, A2, A3, A4 and A5 in</a:t>
            </a:r>
          </a:p>
          <a:p>
            <a:r>
              <a:rPr lang="en-US" altLang="en-US"/>
              <a:t>the set. All 3-combinations of elements are:</a:t>
            </a:r>
          </a:p>
        </p:txBody>
      </p:sp>
      <p:sp>
        <p:nvSpPr>
          <p:cNvPr id="34820" name="TextBox 7">
            <a:extLst>
              <a:ext uri="{FF2B5EF4-FFF2-40B4-BE49-F238E27FC236}">
                <a16:creationId xmlns:a16="http://schemas.microsoft.com/office/drawing/2014/main" id="{0C4FBF34-80B7-7D7D-D275-E130C7AAEDDC}"/>
              </a:ext>
            </a:extLst>
          </p:cNvPr>
          <p:cNvSpPr txBox="1">
            <a:spLocks noChangeArrowheads="1"/>
          </p:cNvSpPr>
          <p:nvPr/>
        </p:nvSpPr>
        <p:spPr bwMode="auto">
          <a:xfrm>
            <a:off x="5181600" y="2971800"/>
            <a:ext cx="37338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Each combination cover many 3-permutations</a:t>
            </a:r>
          </a:p>
          <a:p>
            <a:endParaRPr lang="en-US" altLang="en-US"/>
          </a:p>
          <a:p>
            <a:r>
              <a:rPr lang="en-US" altLang="en-US"/>
              <a:t>A1 A2 A3</a:t>
            </a:r>
          </a:p>
          <a:p>
            <a:r>
              <a:rPr lang="en-US" altLang="en-US"/>
              <a:t>A1 A3 A2</a:t>
            </a:r>
          </a:p>
          <a:p>
            <a:r>
              <a:rPr lang="en-US" altLang="en-US"/>
              <a:t>A2 A1 A3</a:t>
            </a:r>
          </a:p>
          <a:p>
            <a:r>
              <a:rPr lang="en-US" altLang="en-US"/>
              <a:t>A2 A3 A1</a:t>
            </a:r>
          </a:p>
          <a:p>
            <a:r>
              <a:rPr lang="en-US" altLang="en-US"/>
              <a:t>A3 A1 A2</a:t>
            </a:r>
          </a:p>
          <a:p>
            <a:r>
              <a:rPr lang="en-US" altLang="en-US"/>
              <a:t>A3 A2 A1</a:t>
            </a:r>
          </a:p>
        </p:txBody>
      </p:sp>
      <p:sp>
        <p:nvSpPr>
          <p:cNvPr id="34821" name="TextBox 8">
            <a:extLst>
              <a:ext uri="{FF2B5EF4-FFF2-40B4-BE49-F238E27FC236}">
                <a16:creationId xmlns:a16="http://schemas.microsoft.com/office/drawing/2014/main" id="{A7D1AE3E-BED4-D8B8-06AC-B6BCD69D539E}"/>
              </a:ext>
            </a:extLst>
          </p:cNvPr>
          <p:cNvSpPr txBox="1">
            <a:spLocks noChangeArrowheads="1"/>
          </p:cNvSpPr>
          <p:nvPr/>
        </p:nvSpPr>
        <p:spPr bwMode="auto">
          <a:xfrm>
            <a:off x="533400" y="2286000"/>
            <a:ext cx="28194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 A1 A2 A3</a:t>
            </a:r>
          </a:p>
          <a:p>
            <a:r>
              <a:rPr lang="en-US" altLang="en-US"/>
              <a:t>• A1 A2 A4</a:t>
            </a:r>
          </a:p>
          <a:p>
            <a:r>
              <a:rPr lang="en-US" altLang="en-US"/>
              <a:t>• A1 A2 A5</a:t>
            </a:r>
          </a:p>
          <a:p>
            <a:r>
              <a:rPr lang="en-US" altLang="en-US"/>
              <a:t>• A1 A3 A4</a:t>
            </a:r>
          </a:p>
          <a:p>
            <a:r>
              <a:rPr lang="en-US" altLang="en-US"/>
              <a:t>• A1 A3 A5</a:t>
            </a:r>
          </a:p>
          <a:p>
            <a:r>
              <a:rPr lang="en-US" altLang="en-US"/>
              <a:t>• A1 A4 A5</a:t>
            </a:r>
          </a:p>
          <a:p>
            <a:r>
              <a:rPr lang="en-US" altLang="en-US"/>
              <a:t>• A2 A3 A4</a:t>
            </a:r>
          </a:p>
          <a:p>
            <a:r>
              <a:rPr lang="en-US" altLang="en-US"/>
              <a:t>• A2 A3 A5</a:t>
            </a:r>
          </a:p>
          <a:p>
            <a:r>
              <a:rPr lang="en-US" altLang="en-US"/>
              <a:t>• A2 A4 A5</a:t>
            </a:r>
          </a:p>
          <a:p>
            <a:r>
              <a:rPr lang="en-US" altLang="en-US"/>
              <a:t>• A3 A4 A5</a:t>
            </a:r>
          </a:p>
          <a:p>
            <a:r>
              <a:rPr lang="en-US" altLang="en-US" b="1">
                <a:solidFill>
                  <a:srgbClr val="FF0000"/>
                </a:solidFill>
              </a:rPr>
              <a:t>Total of 10.</a:t>
            </a:r>
            <a:endParaRPr lang="en-US" altLang="en-US">
              <a:solidFill>
                <a:srgbClr val="FF0000"/>
              </a:solidFill>
            </a:endParaRPr>
          </a:p>
        </p:txBody>
      </p:sp>
      <p:cxnSp>
        <p:nvCxnSpPr>
          <p:cNvPr id="11" name="Straight Arrow Connector 10">
            <a:extLst>
              <a:ext uri="{FF2B5EF4-FFF2-40B4-BE49-F238E27FC236}">
                <a16:creationId xmlns:a16="http://schemas.microsoft.com/office/drawing/2014/main" id="{FE8610F6-B21F-765B-3118-AF0EB6DF546A}"/>
              </a:ext>
            </a:extLst>
          </p:cNvPr>
          <p:cNvCxnSpPr/>
          <p:nvPr/>
        </p:nvCxnSpPr>
        <p:spPr>
          <a:xfrm>
            <a:off x="2133600" y="2590800"/>
            <a:ext cx="2895600" cy="762000"/>
          </a:xfrm>
          <a:prstGeom prst="straightConnector1">
            <a:avLst/>
          </a:prstGeom>
          <a:ln w="57150">
            <a:solidFill>
              <a:srgbClr val="00B05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0919D3AC-B47E-5C91-E6AC-3057192A7746}"/>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Combination</a:t>
            </a:r>
          </a:p>
        </p:txBody>
      </p:sp>
      <p:sp>
        <p:nvSpPr>
          <p:cNvPr id="35843" name="TextBox 3">
            <a:extLst>
              <a:ext uri="{FF2B5EF4-FFF2-40B4-BE49-F238E27FC236}">
                <a16:creationId xmlns:a16="http://schemas.microsoft.com/office/drawing/2014/main" id="{0B0EC329-AE44-DEC7-4D5E-B83197BB4333}"/>
              </a:ext>
            </a:extLst>
          </p:cNvPr>
          <p:cNvSpPr txBox="1">
            <a:spLocks noChangeArrowheads="1"/>
          </p:cNvSpPr>
          <p:nvPr/>
        </p:nvSpPr>
        <p:spPr bwMode="auto">
          <a:xfrm>
            <a:off x="304800" y="1371600"/>
            <a:ext cx="8686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FF0000"/>
                </a:solidFill>
              </a:rPr>
              <a:t>Intuition (example): </a:t>
            </a:r>
            <a:r>
              <a:rPr lang="en-US" altLang="en-US"/>
              <a:t>Assume elements A1, A2, A3, A4 and A5 in</a:t>
            </a:r>
          </a:p>
          <a:p>
            <a:r>
              <a:rPr lang="en-US" altLang="en-US"/>
              <a:t>the set. All 3-combinations of elements are:</a:t>
            </a:r>
          </a:p>
        </p:txBody>
      </p:sp>
      <p:sp>
        <p:nvSpPr>
          <p:cNvPr id="35844" name="TextBox 7">
            <a:extLst>
              <a:ext uri="{FF2B5EF4-FFF2-40B4-BE49-F238E27FC236}">
                <a16:creationId xmlns:a16="http://schemas.microsoft.com/office/drawing/2014/main" id="{802C45D2-83AE-5256-B436-7861B47069A2}"/>
              </a:ext>
            </a:extLst>
          </p:cNvPr>
          <p:cNvSpPr txBox="1">
            <a:spLocks noChangeArrowheads="1"/>
          </p:cNvSpPr>
          <p:nvPr/>
        </p:nvSpPr>
        <p:spPr bwMode="auto">
          <a:xfrm>
            <a:off x="5105400" y="2286000"/>
            <a:ext cx="37338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Each combination cover many 3-permutations</a:t>
            </a:r>
          </a:p>
          <a:p>
            <a:endParaRPr lang="en-US" altLang="en-US"/>
          </a:p>
          <a:p>
            <a:r>
              <a:rPr lang="en-US" altLang="en-US"/>
              <a:t>A1 A2 A3</a:t>
            </a:r>
          </a:p>
          <a:p>
            <a:r>
              <a:rPr lang="en-US" altLang="en-US"/>
              <a:t>A1 A3 A2</a:t>
            </a:r>
          </a:p>
          <a:p>
            <a:r>
              <a:rPr lang="en-US" altLang="en-US"/>
              <a:t>A2 A1 A3</a:t>
            </a:r>
          </a:p>
          <a:p>
            <a:r>
              <a:rPr lang="en-US" altLang="en-US"/>
              <a:t>A2 A3 A1</a:t>
            </a:r>
          </a:p>
          <a:p>
            <a:r>
              <a:rPr lang="en-US" altLang="en-US"/>
              <a:t>A3 A1 A2</a:t>
            </a:r>
          </a:p>
          <a:p>
            <a:r>
              <a:rPr lang="en-US" altLang="en-US"/>
              <a:t>A3 A2 A1</a:t>
            </a:r>
          </a:p>
        </p:txBody>
      </p:sp>
      <p:sp>
        <p:nvSpPr>
          <p:cNvPr id="35845" name="TextBox 8">
            <a:extLst>
              <a:ext uri="{FF2B5EF4-FFF2-40B4-BE49-F238E27FC236}">
                <a16:creationId xmlns:a16="http://schemas.microsoft.com/office/drawing/2014/main" id="{E6F44020-54D0-4F71-9C50-901272FE3B8E}"/>
              </a:ext>
            </a:extLst>
          </p:cNvPr>
          <p:cNvSpPr txBox="1">
            <a:spLocks noChangeArrowheads="1"/>
          </p:cNvSpPr>
          <p:nvPr/>
        </p:nvSpPr>
        <p:spPr bwMode="auto">
          <a:xfrm>
            <a:off x="533400" y="2286000"/>
            <a:ext cx="28194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 A1 A2 A3</a:t>
            </a:r>
          </a:p>
          <a:p>
            <a:r>
              <a:rPr lang="en-US" altLang="en-US"/>
              <a:t>• A1 A2 A4</a:t>
            </a:r>
          </a:p>
          <a:p>
            <a:r>
              <a:rPr lang="en-US" altLang="en-US"/>
              <a:t>• A1 A2 A5</a:t>
            </a:r>
          </a:p>
          <a:p>
            <a:r>
              <a:rPr lang="en-US" altLang="en-US"/>
              <a:t>• A1 A3 A4</a:t>
            </a:r>
          </a:p>
          <a:p>
            <a:r>
              <a:rPr lang="en-US" altLang="en-US"/>
              <a:t>• A1 A3 A5</a:t>
            </a:r>
          </a:p>
          <a:p>
            <a:r>
              <a:rPr lang="en-US" altLang="en-US"/>
              <a:t>• A1 A4 A5</a:t>
            </a:r>
          </a:p>
          <a:p>
            <a:r>
              <a:rPr lang="en-US" altLang="en-US"/>
              <a:t>• A2 A3 A4</a:t>
            </a:r>
          </a:p>
          <a:p>
            <a:r>
              <a:rPr lang="en-US" altLang="en-US"/>
              <a:t>• A2 A3 A5</a:t>
            </a:r>
          </a:p>
          <a:p>
            <a:r>
              <a:rPr lang="en-US" altLang="en-US"/>
              <a:t>• A2 A4 A5</a:t>
            </a:r>
          </a:p>
          <a:p>
            <a:r>
              <a:rPr lang="en-US" altLang="en-US"/>
              <a:t>• A3 A4 A5</a:t>
            </a:r>
          </a:p>
          <a:p>
            <a:r>
              <a:rPr lang="en-US" altLang="en-US" b="1">
                <a:solidFill>
                  <a:srgbClr val="FF0000"/>
                </a:solidFill>
              </a:rPr>
              <a:t>Total of 10.</a:t>
            </a:r>
            <a:endParaRPr lang="en-US" altLang="en-US">
              <a:solidFill>
                <a:srgbClr val="FF0000"/>
              </a:solidFill>
            </a:endParaRPr>
          </a:p>
        </p:txBody>
      </p:sp>
      <p:cxnSp>
        <p:nvCxnSpPr>
          <p:cNvPr id="11" name="Straight Arrow Connector 10">
            <a:extLst>
              <a:ext uri="{FF2B5EF4-FFF2-40B4-BE49-F238E27FC236}">
                <a16:creationId xmlns:a16="http://schemas.microsoft.com/office/drawing/2014/main" id="{E562B53A-F79A-94E2-1158-C9C364A31094}"/>
              </a:ext>
            </a:extLst>
          </p:cNvPr>
          <p:cNvCxnSpPr/>
          <p:nvPr/>
        </p:nvCxnSpPr>
        <p:spPr>
          <a:xfrm>
            <a:off x="2133600" y="2590800"/>
            <a:ext cx="2895600" cy="762000"/>
          </a:xfrm>
          <a:prstGeom prst="straightConnector1">
            <a:avLst/>
          </a:prstGeom>
          <a:ln w="5715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5847" name="TextBox 6">
            <a:extLst>
              <a:ext uri="{FF2B5EF4-FFF2-40B4-BE49-F238E27FC236}">
                <a16:creationId xmlns:a16="http://schemas.microsoft.com/office/drawing/2014/main" id="{1E816028-0306-389D-3AC2-1ADC639BC4E4}"/>
              </a:ext>
            </a:extLst>
          </p:cNvPr>
          <p:cNvSpPr txBox="1">
            <a:spLocks noChangeArrowheads="1"/>
          </p:cNvSpPr>
          <p:nvPr/>
        </p:nvSpPr>
        <p:spPr bwMode="auto">
          <a:xfrm>
            <a:off x="3733800" y="5867400"/>
            <a:ext cx="4038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So: P(5,3) = C(5,3) P(3,3)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58459720-0451-9809-0780-5C3021414A70}"/>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Combination</a:t>
            </a:r>
          </a:p>
        </p:txBody>
      </p:sp>
      <p:sp>
        <p:nvSpPr>
          <p:cNvPr id="36867" name="TextBox 3">
            <a:extLst>
              <a:ext uri="{FF2B5EF4-FFF2-40B4-BE49-F238E27FC236}">
                <a16:creationId xmlns:a16="http://schemas.microsoft.com/office/drawing/2014/main" id="{EDB89346-81B9-9EAE-850F-1C937D4B0A9F}"/>
              </a:ext>
            </a:extLst>
          </p:cNvPr>
          <p:cNvSpPr txBox="1">
            <a:spLocks noChangeArrowheads="1"/>
          </p:cNvSpPr>
          <p:nvPr/>
        </p:nvSpPr>
        <p:spPr bwMode="auto">
          <a:xfrm>
            <a:off x="304800" y="1371600"/>
            <a:ext cx="8686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FF0000"/>
                </a:solidFill>
              </a:rPr>
              <a:t>Intuition (example): </a:t>
            </a:r>
            <a:r>
              <a:rPr lang="en-US" altLang="en-US"/>
              <a:t>Assume elements A1, A2, A3, A4 and A5 in</a:t>
            </a:r>
          </a:p>
          <a:p>
            <a:r>
              <a:rPr lang="en-US" altLang="en-US"/>
              <a:t>the set. All 3-combinations of elements are:</a:t>
            </a:r>
          </a:p>
        </p:txBody>
      </p:sp>
      <p:sp>
        <p:nvSpPr>
          <p:cNvPr id="36868" name="TextBox 7">
            <a:extLst>
              <a:ext uri="{FF2B5EF4-FFF2-40B4-BE49-F238E27FC236}">
                <a16:creationId xmlns:a16="http://schemas.microsoft.com/office/drawing/2014/main" id="{38AF477F-B041-9434-ADB4-5C3AC5FADF86}"/>
              </a:ext>
            </a:extLst>
          </p:cNvPr>
          <p:cNvSpPr txBox="1">
            <a:spLocks noChangeArrowheads="1"/>
          </p:cNvSpPr>
          <p:nvPr/>
        </p:nvSpPr>
        <p:spPr bwMode="auto">
          <a:xfrm>
            <a:off x="5105400" y="2286000"/>
            <a:ext cx="37338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Each combination cover many 3-permutations</a:t>
            </a:r>
          </a:p>
          <a:p>
            <a:endParaRPr lang="en-US" altLang="en-US"/>
          </a:p>
          <a:p>
            <a:r>
              <a:rPr lang="en-US" altLang="en-US"/>
              <a:t>A1 A2 A3</a:t>
            </a:r>
          </a:p>
          <a:p>
            <a:r>
              <a:rPr lang="en-US" altLang="en-US"/>
              <a:t>A1 A3 A2</a:t>
            </a:r>
          </a:p>
          <a:p>
            <a:r>
              <a:rPr lang="en-US" altLang="en-US"/>
              <a:t>A2 A1 A3</a:t>
            </a:r>
          </a:p>
          <a:p>
            <a:r>
              <a:rPr lang="en-US" altLang="en-US"/>
              <a:t>A2 A3 A1</a:t>
            </a:r>
          </a:p>
          <a:p>
            <a:r>
              <a:rPr lang="en-US" altLang="en-US"/>
              <a:t>A3 A1 A2</a:t>
            </a:r>
          </a:p>
          <a:p>
            <a:r>
              <a:rPr lang="en-US" altLang="en-US"/>
              <a:t>A3 A2 A1</a:t>
            </a:r>
          </a:p>
        </p:txBody>
      </p:sp>
      <p:sp>
        <p:nvSpPr>
          <p:cNvPr id="36869" name="TextBox 8">
            <a:extLst>
              <a:ext uri="{FF2B5EF4-FFF2-40B4-BE49-F238E27FC236}">
                <a16:creationId xmlns:a16="http://schemas.microsoft.com/office/drawing/2014/main" id="{6EA1A272-3F19-9966-DB23-8135B99BE82D}"/>
              </a:ext>
            </a:extLst>
          </p:cNvPr>
          <p:cNvSpPr txBox="1">
            <a:spLocks noChangeArrowheads="1"/>
          </p:cNvSpPr>
          <p:nvPr/>
        </p:nvSpPr>
        <p:spPr bwMode="auto">
          <a:xfrm>
            <a:off x="533400" y="2286000"/>
            <a:ext cx="28194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 A1 A2 A3</a:t>
            </a:r>
          </a:p>
          <a:p>
            <a:r>
              <a:rPr lang="en-US" altLang="en-US"/>
              <a:t>• A1 A2 A4</a:t>
            </a:r>
          </a:p>
          <a:p>
            <a:r>
              <a:rPr lang="en-US" altLang="en-US"/>
              <a:t>• A1 A2 A5</a:t>
            </a:r>
          </a:p>
          <a:p>
            <a:r>
              <a:rPr lang="en-US" altLang="en-US"/>
              <a:t>• A1 A3 A4</a:t>
            </a:r>
          </a:p>
          <a:p>
            <a:r>
              <a:rPr lang="en-US" altLang="en-US"/>
              <a:t>• A1 A3 A5</a:t>
            </a:r>
          </a:p>
          <a:p>
            <a:r>
              <a:rPr lang="en-US" altLang="en-US"/>
              <a:t>• A1 A4 A5</a:t>
            </a:r>
          </a:p>
          <a:p>
            <a:r>
              <a:rPr lang="en-US" altLang="en-US"/>
              <a:t>• A2 A3 A4</a:t>
            </a:r>
          </a:p>
          <a:p>
            <a:r>
              <a:rPr lang="en-US" altLang="en-US"/>
              <a:t>• A2 A3 A5</a:t>
            </a:r>
          </a:p>
          <a:p>
            <a:r>
              <a:rPr lang="en-US" altLang="en-US"/>
              <a:t>• A2 A4 A5</a:t>
            </a:r>
          </a:p>
          <a:p>
            <a:r>
              <a:rPr lang="en-US" altLang="en-US"/>
              <a:t>• A3 A4 A5</a:t>
            </a:r>
          </a:p>
          <a:p>
            <a:r>
              <a:rPr lang="en-US" altLang="en-US" b="1">
                <a:solidFill>
                  <a:srgbClr val="FF0000"/>
                </a:solidFill>
              </a:rPr>
              <a:t>Total of 10.</a:t>
            </a:r>
            <a:endParaRPr lang="en-US" altLang="en-US">
              <a:solidFill>
                <a:srgbClr val="FF0000"/>
              </a:solidFill>
            </a:endParaRPr>
          </a:p>
        </p:txBody>
      </p:sp>
      <p:cxnSp>
        <p:nvCxnSpPr>
          <p:cNvPr id="11" name="Straight Arrow Connector 10">
            <a:extLst>
              <a:ext uri="{FF2B5EF4-FFF2-40B4-BE49-F238E27FC236}">
                <a16:creationId xmlns:a16="http://schemas.microsoft.com/office/drawing/2014/main" id="{ED4E3115-096C-10BC-D64F-4E3552C4331C}"/>
              </a:ext>
            </a:extLst>
          </p:cNvPr>
          <p:cNvCxnSpPr/>
          <p:nvPr/>
        </p:nvCxnSpPr>
        <p:spPr>
          <a:xfrm>
            <a:off x="2133600" y="2590800"/>
            <a:ext cx="2895600" cy="762000"/>
          </a:xfrm>
          <a:prstGeom prst="straightConnector1">
            <a:avLst/>
          </a:prstGeom>
          <a:ln w="5715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6871" name="TextBox 6">
            <a:extLst>
              <a:ext uri="{FF2B5EF4-FFF2-40B4-BE49-F238E27FC236}">
                <a16:creationId xmlns:a16="http://schemas.microsoft.com/office/drawing/2014/main" id="{FB16CE4B-3989-9AAF-CA07-9A5045DC5B07}"/>
              </a:ext>
            </a:extLst>
          </p:cNvPr>
          <p:cNvSpPr txBox="1">
            <a:spLocks noChangeArrowheads="1"/>
          </p:cNvSpPr>
          <p:nvPr/>
        </p:nvSpPr>
        <p:spPr bwMode="auto">
          <a:xfrm>
            <a:off x="3733800" y="5867400"/>
            <a:ext cx="4038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t>So: P(5,3) = C(5,3) P(3,3)</a:t>
            </a:r>
          </a:p>
          <a:p>
            <a:r>
              <a:rPr lang="en-US" altLang="en-US"/>
              <a:t>and: C(5,3) = P(5,3)/P(3,3)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0D778191-0777-FD17-3B8D-515A6B853684}"/>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Combination</a:t>
            </a:r>
          </a:p>
        </p:txBody>
      </p:sp>
      <p:sp>
        <p:nvSpPr>
          <p:cNvPr id="37891" name="TextBox 3">
            <a:extLst>
              <a:ext uri="{FF2B5EF4-FFF2-40B4-BE49-F238E27FC236}">
                <a16:creationId xmlns:a16="http://schemas.microsoft.com/office/drawing/2014/main" id="{7A52966A-074C-59A7-B0DA-27CD96061D22}"/>
              </a:ext>
            </a:extLst>
          </p:cNvPr>
          <p:cNvSpPr txBox="1">
            <a:spLocks noChangeArrowheads="1"/>
          </p:cNvSpPr>
          <p:nvPr/>
        </p:nvSpPr>
        <p:spPr bwMode="auto">
          <a:xfrm>
            <a:off x="228600" y="1600200"/>
            <a:ext cx="86868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solidFill>
                  <a:srgbClr val="FF0000"/>
                </a:solidFill>
              </a:rPr>
              <a:t>Example:</a:t>
            </a:r>
          </a:p>
          <a:p>
            <a:r>
              <a:rPr lang="en-US" altLang="en-US"/>
              <a:t>• We need to create a team of 5 player for the competion out of 10 team members. How many different teams is it possible to</a:t>
            </a:r>
          </a:p>
          <a:p>
            <a:r>
              <a:rPr lang="en-US" altLang="en-US"/>
              <a:t>create?</a:t>
            </a:r>
          </a:p>
          <a:p>
            <a:r>
              <a:rPr lang="en-US" altLang="en-US" b="1">
                <a:solidFill>
                  <a:srgbClr val="FF0000"/>
                </a:solidFill>
              </a:rPr>
              <a:t>Answer:</a:t>
            </a:r>
          </a:p>
          <a:p>
            <a:r>
              <a:rPr lang="en-US" altLang="en-US"/>
              <a:t>• When creating a team we do not care about the order in which players were picked. It is important that the player is in.</a:t>
            </a:r>
          </a:p>
          <a:p>
            <a:endParaRPr lang="en-US" altLang="en-US"/>
          </a:p>
          <a:p>
            <a:r>
              <a:rPr lang="en-US" altLang="en-US"/>
              <a:t>Because of that we need to consider unordered sets of</a:t>
            </a:r>
          </a:p>
          <a:p>
            <a:r>
              <a:rPr lang="en-US" altLang="en-US"/>
              <a:t>combinations.</a:t>
            </a:r>
          </a:p>
          <a:p>
            <a:endParaRPr lang="en-US" altLang="en-US"/>
          </a:p>
          <a:p>
            <a:r>
              <a:rPr lang="en-US" altLang="en-US"/>
              <a:t>• </a:t>
            </a:r>
            <a:r>
              <a:rPr lang="en-US" altLang="en-US">
                <a:solidFill>
                  <a:srgbClr val="FF0000"/>
                </a:solidFill>
              </a:rPr>
              <a:t>C(10,5) = 10!/(10-5)!5! = (10.9.8.7.6) / (5 4 3 2 1)</a:t>
            </a:r>
          </a:p>
          <a:p>
            <a:r>
              <a:rPr lang="en-US" altLang="en-US">
                <a:solidFill>
                  <a:srgbClr val="FF0000"/>
                </a:solidFill>
              </a:rPr>
              <a:t>               = 2.3.2.7.3       = 6.14.3  = 6.42  = </a:t>
            </a:r>
            <a:r>
              <a:rPr lang="en-US" altLang="en-US" b="1">
                <a:solidFill>
                  <a:srgbClr val="FF0000"/>
                </a:solidFill>
              </a:rPr>
              <a:t>252</a:t>
            </a:r>
            <a:endParaRPr lang="en-US" altLang="en-US">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376902B6-331A-728A-DD14-81C9E3CFFDA6}"/>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Combination</a:t>
            </a:r>
          </a:p>
        </p:txBody>
      </p:sp>
      <p:sp>
        <p:nvSpPr>
          <p:cNvPr id="38915" name="TextBox 3">
            <a:extLst>
              <a:ext uri="{FF2B5EF4-FFF2-40B4-BE49-F238E27FC236}">
                <a16:creationId xmlns:a16="http://schemas.microsoft.com/office/drawing/2014/main" id="{AB3C73D6-1531-93E8-0950-B77535E456B6}"/>
              </a:ext>
            </a:extLst>
          </p:cNvPr>
          <p:cNvSpPr txBox="1">
            <a:spLocks noChangeArrowheads="1"/>
          </p:cNvSpPr>
          <p:nvPr/>
        </p:nvSpPr>
        <p:spPr bwMode="auto">
          <a:xfrm>
            <a:off x="228600" y="1600200"/>
            <a:ext cx="86868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t>Corrolary:</a:t>
            </a:r>
          </a:p>
          <a:p>
            <a:r>
              <a:rPr lang="en-US" altLang="en-US"/>
              <a:t>• </a:t>
            </a:r>
            <a:r>
              <a:rPr lang="en-US" altLang="en-US" b="1"/>
              <a:t>C(n,k) = C(n,n-k)</a:t>
            </a:r>
          </a:p>
          <a:p>
            <a:endParaRPr lang="en-US" altLang="en-US" b="1"/>
          </a:p>
          <a:p>
            <a:r>
              <a:rPr lang="en-US" altLang="en-US" b="1"/>
              <a:t>Proof.</a:t>
            </a:r>
          </a:p>
          <a:p>
            <a:endParaRPr lang="en-US" altLang="en-US" b="1"/>
          </a:p>
          <a:p>
            <a:r>
              <a:rPr lang="en-US" altLang="en-US"/>
              <a:t>• C(n,k) = n! / (n-k)! k!</a:t>
            </a:r>
          </a:p>
          <a:p>
            <a:r>
              <a:rPr lang="en-US" altLang="en-US"/>
              <a:t>             = n!/ (n-k)! (n – (n-k))!</a:t>
            </a:r>
          </a:p>
          <a:p>
            <a:r>
              <a:rPr lang="en-US" altLang="en-US"/>
              <a:t>             = C(n,n-k)</a:t>
            </a:r>
            <a:endParaRPr lang="en-US" altLang="en-US">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D3008825-E7F7-435A-78F3-41CDB25083D6}"/>
              </a:ext>
            </a:extLst>
          </p:cNvPr>
          <p:cNvSpPr>
            <a:spLocks noGrp="1"/>
          </p:cNvSpPr>
          <p:nvPr>
            <p:ph type="title"/>
          </p:nvPr>
        </p:nvSpPr>
        <p:spPr>
          <a:xfrm>
            <a:off x="0" y="2362200"/>
            <a:ext cx="9144000" cy="990600"/>
          </a:xfrm>
        </p:spPr>
        <p:txBody>
          <a:bodyPr/>
          <a:lstStyle/>
          <a:p>
            <a:r>
              <a:rPr lang="en-US" altLang="en-US">
                <a:solidFill>
                  <a:srgbClr val="FF0000"/>
                </a:solidFill>
                <a:ea typeface="ＭＳ Ｐゴシック" panose="020B0600070205080204" pitchFamily="34" charset="-128"/>
              </a:rPr>
              <a:t>Thank You</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EDDF69F3-E2A4-EE8D-BA2D-12F6D255DFDD}"/>
              </a:ext>
            </a:extLst>
          </p:cNvPr>
          <p:cNvSpPr>
            <a:spLocks noGrp="1" noChangeArrowheads="1"/>
          </p:cNvSpPr>
          <p:nvPr>
            <p:ph type="title"/>
          </p:nvPr>
        </p:nvSpPr>
        <p:spPr>
          <a:xfrm>
            <a:off x="0" y="1600200"/>
            <a:ext cx="9144000" cy="990600"/>
          </a:xfrm>
        </p:spPr>
        <p:txBody>
          <a:bodyPr/>
          <a:lstStyle/>
          <a:p>
            <a:pPr eaLnBrk="1" hangingPunct="1"/>
            <a:r>
              <a:rPr lang="en-US" altLang="en-US" b="1">
                <a:ea typeface="ＭＳ Ｐゴシック" panose="020B0600070205080204" pitchFamily="34" charset="-128"/>
              </a:rPr>
              <a:t>Beyond basic counting rules</a:t>
            </a:r>
          </a:p>
        </p:txBody>
      </p:sp>
      <p:sp>
        <p:nvSpPr>
          <p:cNvPr id="40963" name="TextBox 3">
            <a:extLst>
              <a:ext uri="{FF2B5EF4-FFF2-40B4-BE49-F238E27FC236}">
                <a16:creationId xmlns:a16="http://schemas.microsoft.com/office/drawing/2014/main" id="{07DD21BB-E090-B7F4-1553-EBAD76926BD4}"/>
              </a:ext>
            </a:extLst>
          </p:cNvPr>
          <p:cNvSpPr txBox="1">
            <a:spLocks noChangeArrowheads="1"/>
          </p:cNvSpPr>
          <p:nvPr/>
        </p:nvSpPr>
        <p:spPr bwMode="auto">
          <a:xfrm>
            <a:off x="304800" y="3071813"/>
            <a:ext cx="8534400"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solidFill>
                  <a:srgbClr val="FF0000"/>
                </a:solidFill>
              </a:rPr>
              <a:t>More complex </a:t>
            </a:r>
            <a:r>
              <a:rPr lang="en-US" altLang="en-US" b="1"/>
              <a:t>counting problems typically require a</a:t>
            </a:r>
          </a:p>
          <a:p>
            <a:r>
              <a:rPr lang="en-US" altLang="en-US">
                <a:solidFill>
                  <a:srgbClr val="FF0000"/>
                </a:solidFill>
              </a:rPr>
              <a:t>combination</a:t>
            </a:r>
            <a:r>
              <a:rPr lang="en-US" altLang="en-US"/>
              <a:t> of the sum and product rules.</a:t>
            </a:r>
          </a:p>
          <a:p>
            <a:endParaRPr lang="en-US" altLang="en-US"/>
          </a:p>
          <a:p>
            <a:endParaRPr lang="en-US" altLang="en-US"/>
          </a:p>
          <a:p>
            <a:r>
              <a:rPr lang="en-US" altLang="en-US" b="1">
                <a:solidFill>
                  <a:srgbClr val="FF0000"/>
                </a:solidFill>
              </a:rPr>
              <a:t>Example: A login password:</a:t>
            </a:r>
          </a:p>
          <a:p>
            <a:r>
              <a:rPr lang="en-US" altLang="en-US"/>
              <a:t>• The </a:t>
            </a:r>
            <a:r>
              <a:rPr lang="en-US" altLang="en-US">
                <a:solidFill>
                  <a:srgbClr val="FF0000"/>
                </a:solidFill>
              </a:rPr>
              <a:t>minimum password length </a:t>
            </a:r>
            <a:r>
              <a:rPr lang="en-US" altLang="en-US"/>
              <a:t>is</a:t>
            </a:r>
            <a:r>
              <a:rPr lang="en-US" altLang="en-US">
                <a:solidFill>
                  <a:srgbClr val="FF0000"/>
                </a:solidFill>
              </a:rPr>
              <a:t> 6 </a:t>
            </a:r>
            <a:r>
              <a:rPr lang="en-US" altLang="en-US"/>
              <a:t>and the </a:t>
            </a:r>
            <a:r>
              <a:rPr lang="en-US" altLang="en-US">
                <a:solidFill>
                  <a:srgbClr val="FF0000"/>
                </a:solidFill>
              </a:rPr>
              <a:t>maximum is 8</a:t>
            </a:r>
            <a:r>
              <a:rPr lang="en-US" altLang="en-US"/>
              <a:t>. The password can consist of either an uppercase letter or a digit. There must be at least </a:t>
            </a:r>
            <a:r>
              <a:rPr lang="en-US" altLang="en-US">
                <a:solidFill>
                  <a:srgbClr val="FF0000"/>
                </a:solidFill>
              </a:rPr>
              <a:t>one digit </a:t>
            </a:r>
            <a:r>
              <a:rPr lang="en-US" altLang="en-US"/>
              <a:t>in the password.</a:t>
            </a:r>
          </a:p>
          <a:p>
            <a:endParaRPr lang="en-US" altLang="en-US"/>
          </a:p>
          <a:p>
            <a:r>
              <a:rPr lang="en-US" altLang="en-US"/>
              <a:t>• </a:t>
            </a:r>
            <a:r>
              <a:rPr lang="en-US" altLang="en-US">
                <a:solidFill>
                  <a:srgbClr val="FF0000"/>
                </a:solidFill>
              </a:rPr>
              <a:t>How many different passwords are there?</a:t>
            </a:r>
            <a:endParaRPr lang="en-US" altLang="en-US" baseline="30000">
              <a:solidFill>
                <a:srgbClr val="FF0000"/>
              </a:solidFill>
            </a:endParaRPr>
          </a:p>
        </p:txBody>
      </p:sp>
      <p:sp>
        <p:nvSpPr>
          <p:cNvPr id="40964" name="Rectangle 2">
            <a:extLst>
              <a:ext uri="{FF2B5EF4-FFF2-40B4-BE49-F238E27FC236}">
                <a16:creationId xmlns:a16="http://schemas.microsoft.com/office/drawing/2014/main" id="{BEEE7CF4-F103-018F-D1F4-1FB6E3E2D681}"/>
              </a:ext>
            </a:extLst>
          </p:cNvPr>
          <p:cNvSpPr txBox="1">
            <a:spLocks noChangeArrowheads="1"/>
          </p:cNvSpPr>
          <p:nvPr/>
        </p:nvSpPr>
        <p:spPr bwMode="auto">
          <a:xfrm>
            <a:off x="0" y="76200"/>
            <a:ext cx="9144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4000" b="1">
                <a:solidFill>
                  <a:srgbClr val="262626"/>
                </a:solidFill>
                <a:cs typeface="Arial" panose="020B0604020202020204" pitchFamily="34" charset="0"/>
              </a:rPr>
              <a:t>Extra Topic for Students’ reading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2EC0220-FF35-DD31-C876-F7BC6835E19D}"/>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Beyond basic counting rules</a:t>
            </a:r>
          </a:p>
        </p:txBody>
      </p:sp>
      <p:sp>
        <p:nvSpPr>
          <p:cNvPr id="41987" name="TextBox 3">
            <a:extLst>
              <a:ext uri="{FF2B5EF4-FFF2-40B4-BE49-F238E27FC236}">
                <a16:creationId xmlns:a16="http://schemas.microsoft.com/office/drawing/2014/main" id="{241F2872-3247-2E3C-5612-C7C91284C6D6}"/>
              </a:ext>
            </a:extLst>
          </p:cNvPr>
          <p:cNvSpPr txBox="1">
            <a:spLocks noChangeArrowheads="1"/>
          </p:cNvSpPr>
          <p:nvPr/>
        </p:nvSpPr>
        <p:spPr bwMode="auto">
          <a:xfrm>
            <a:off x="304800" y="1371600"/>
            <a:ext cx="85344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a:p>
            <a:r>
              <a:rPr lang="en-US" altLang="en-US" b="1">
                <a:solidFill>
                  <a:srgbClr val="FF0000"/>
                </a:solidFill>
              </a:rPr>
              <a:t>Example: A login password:</a:t>
            </a:r>
          </a:p>
          <a:p>
            <a:r>
              <a:rPr lang="en-US" altLang="en-US"/>
              <a:t>• The </a:t>
            </a:r>
            <a:r>
              <a:rPr lang="en-US" altLang="en-US">
                <a:solidFill>
                  <a:srgbClr val="FF0000"/>
                </a:solidFill>
              </a:rPr>
              <a:t>minimum password length </a:t>
            </a:r>
            <a:r>
              <a:rPr lang="en-US" altLang="en-US"/>
              <a:t>is</a:t>
            </a:r>
            <a:r>
              <a:rPr lang="en-US" altLang="en-US">
                <a:solidFill>
                  <a:srgbClr val="FF0000"/>
                </a:solidFill>
              </a:rPr>
              <a:t> 6 </a:t>
            </a:r>
            <a:r>
              <a:rPr lang="en-US" altLang="en-US"/>
              <a:t>and the </a:t>
            </a:r>
            <a:r>
              <a:rPr lang="en-US" altLang="en-US">
                <a:solidFill>
                  <a:srgbClr val="FF0000"/>
                </a:solidFill>
              </a:rPr>
              <a:t>maximum is 8</a:t>
            </a:r>
            <a:r>
              <a:rPr lang="en-US" altLang="en-US"/>
              <a:t>. The password can consist of either an uppercase letter or a digit. There must be at least </a:t>
            </a:r>
            <a:r>
              <a:rPr lang="en-US" altLang="en-US">
                <a:solidFill>
                  <a:srgbClr val="FF0000"/>
                </a:solidFill>
              </a:rPr>
              <a:t>one digit </a:t>
            </a:r>
            <a:r>
              <a:rPr lang="en-US" altLang="en-US"/>
              <a:t>in the password.</a:t>
            </a:r>
          </a:p>
          <a:p>
            <a:endParaRPr lang="en-US" altLang="en-US"/>
          </a:p>
          <a:p>
            <a:r>
              <a:rPr lang="en-US" altLang="en-US"/>
              <a:t>• </a:t>
            </a:r>
            <a:r>
              <a:rPr lang="en-US" altLang="en-US">
                <a:solidFill>
                  <a:srgbClr val="FF0000"/>
                </a:solidFill>
              </a:rPr>
              <a:t>How many different passwords are there?</a:t>
            </a:r>
          </a:p>
          <a:p>
            <a:endParaRPr lang="en-US" altLang="en-US" baseline="30000">
              <a:solidFill>
                <a:srgbClr val="FF0000"/>
              </a:solidFill>
            </a:endParaRPr>
          </a:p>
          <a:p>
            <a:r>
              <a:rPr lang="en-US" altLang="en-US" b="1">
                <a:solidFill>
                  <a:srgbClr val="FF0000"/>
                </a:solidFill>
              </a:rPr>
              <a:t>Step 1:</a:t>
            </a:r>
          </a:p>
          <a:p>
            <a:r>
              <a:rPr lang="en-US" altLang="en-US"/>
              <a:t>• The password we select has either 6,7 or 8 characters. So the total number of valid passwords is by the sum rule:</a:t>
            </a:r>
          </a:p>
          <a:p>
            <a:endParaRPr lang="en-US" altLang="en-US"/>
          </a:p>
          <a:p>
            <a:r>
              <a:rPr lang="en-US" altLang="en-US"/>
              <a:t>• </a:t>
            </a:r>
            <a:r>
              <a:rPr lang="en-US" altLang="en-US">
                <a:solidFill>
                  <a:srgbClr val="FF0000"/>
                </a:solidFill>
              </a:rPr>
              <a:t>P = P6+P7+P8</a:t>
            </a:r>
          </a:p>
          <a:p>
            <a:endParaRPr lang="en-US" altLang="en-US"/>
          </a:p>
          <a:p>
            <a:r>
              <a:rPr lang="en-US" altLang="en-US"/>
              <a:t>The number of passwords of length 6,7 and 8 respectively</a:t>
            </a:r>
            <a:endParaRPr lang="en-US" altLang="en-US" baseline="30000">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1F50729-4693-37AD-B443-D2FC6AF5D2E6}"/>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Beyond basic counting rules</a:t>
            </a:r>
          </a:p>
        </p:txBody>
      </p:sp>
      <p:sp>
        <p:nvSpPr>
          <p:cNvPr id="43011" name="TextBox 3">
            <a:extLst>
              <a:ext uri="{FF2B5EF4-FFF2-40B4-BE49-F238E27FC236}">
                <a16:creationId xmlns:a16="http://schemas.microsoft.com/office/drawing/2014/main" id="{0FFA57C7-F22E-6767-8D54-BF3B168F60BB}"/>
              </a:ext>
            </a:extLst>
          </p:cNvPr>
          <p:cNvSpPr txBox="1">
            <a:spLocks noChangeArrowheads="1"/>
          </p:cNvSpPr>
          <p:nvPr/>
        </p:nvSpPr>
        <p:spPr bwMode="auto">
          <a:xfrm>
            <a:off x="304800" y="1371600"/>
            <a:ext cx="85344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solidFill>
                  <a:srgbClr val="FF0000"/>
                </a:solidFill>
              </a:rPr>
              <a:t>Step 1:</a:t>
            </a:r>
          </a:p>
          <a:p>
            <a:r>
              <a:rPr lang="en-US" altLang="en-US"/>
              <a:t>• The password we select has either 6,7 or 8 characters. So the total number of valid passwords is by the sum rule:</a:t>
            </a:r>
          </a:p>
          <a:p>
            <a:endParaRPr lang="en-US" altLang="en-US"/>
          </a:p>
          <a:p>
            <a:r>
              <a:rPr lang="en-US" altLang="en-US"/>
              <a:t>• </a:t>
            </a:r>
            <a:r>
              <a:rPr lang="en-US" altLang="en-US">
                <a:solidFill>
                  <a:srgbClr val="FF0000"/>
                </a:solidFill>
              </a:rPr>
              <a:t>P = P6+P7+P8</a:t>
            </a:r>
            <a:endParaRPr lang="en-US" altLang="en-US"/>
          </a:p>
          <a:p>
            <a:r>
              <a:rPr lang="en-US" altLang="en-US"/>
              <a:t>The number of passwords of length 6,7 and 8 respectively</a:t>
            </a:r>
          </a:p>
          <a:p>
            <a:endParaRPr lang="en-US" altLang="en-US" baseline="30000">
              <a:solidFill>
                <a:srgbClr val="FF0000"/>
              </a:solidFill>
            </a:endParaRPr>
          </a:p>
          <a:p>
            <a:r>
              <a:rPr lang="en-US" altLang="en-US" b="1">
                <a:solidFill>
                  <a:srgbClr val="FF0000"/>
                </a:solidFill>
              </a:rPr>
              <a:t>Step 2:</a:t>
            </a:r>
          </a:p>
          <a:p>
            <a:r>
              <a:rPr lang="en-US" altLang="en-US"/>
              <a:t>• Assume </a:t>
            </a:r>
            <a:r>
              <a:rPr lang="en-US" altLang="en-US">
                <a:solidFill>
                  <a:srgbClr val="FF0000"/>
                </a:solidFill>
              </a:rPr>
              <a:t>passwords with 6 </a:t>
            </a:r>
            <a:r>
              <a:rPr lang="en-US" altLang="en-US"/>
              <a:t>characters (upper-case letters):</a:t>
            </a:r>
          </a:p>
          <a:p>
            <a:r>
              <a:rPr lang="en-US" altLang="en-US"/>
              <a:t>• </a:t>
            </a:r>
            <a:r>
              <a:rPr lang="en-US" altLang="en-US">
                <a:solidFill>
                  <a:srgbClr val="FF0000"/>
                </a:solidFill>
              </a:rPr>
              <a:t>How many are there?</a:t>
            </a:r>
          </a:p>
          <a:p>
            <a:r>
              <a:rPr lang="en-US" altLang="en-US"/>
              <a:t>• If we let each character to be at any position we have:</a:t>
            </a:r>
          </a:p>
          <a:p>
            <a:r>
              <a:rPr lang="en-US" altLang="en-US"/>
              <a:t>– </a:t>
            </a:r>
            <a:r>
              <a:rPr lang="en-US" altLang="en-US">
                <a:solidFill>
                  <a:srgbClr val="FF0000"/>
                </a:solidFill>
              </a:rPr>
              <a:t>P6-nodigits = 26</a:t>
            </a:r>
            <a:r>
              <a:rPr lang="en-US" altLang="en-US" baseline="30000">
                <a:solidFill>
                  <a:srgbClr val="FF0000"/>
                </a:solidFill>
              </a:rPr>
              <a:t>6</a:t>
            </a:r>
            <a:r>
              <a:rPr lang="en-US" altLang="en-US">
                <a:solidFill>
                  <a:srgbClr val="FF0000"/>
                </a:solidFill>
              </a:rPr>
              <a:t> </a:t>
            </a:r>
            <a:r>
              <a:rPr lang="en-US" altLang="en-US"/>
              <a:t>different passwords of length 6</a:t>
            </a:r>
            <a:endParaRPr lang="en-US" altLang="en-US" baseline="30000">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E987CED-5E47-BBB6-210D-5ED63887A144}"/>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Beyond basic counting rules</a:t>
            </a:r>
          </a:p>
        </p:txBody>
      </p:sp>
      <p:sp>
        <p:nvSpPr>
          <p:cNvPr id="44035" name="TextBox 3">
            <a:extLst>
              <a:ext uri="{FF2B5EF4-FFF2-40B4-BE49-F238E27FC236}">
                <a16:creationId xmlns:a16="http://schemas.microsoft.com/office/drawing/2014/main" id="{8F5A03F0-6999-B870-9C7A-EE1532853BD8}"/>
              </a:ext>
            </a:extLst>
          </p:cNvPr>
          <p:cNvSpPr txBox="1">
            <a:spLocks noChangeArrowheads="1"/>
          </p:cNvSpPr>
          <p:nvPr/>
        </p:nvSpPr>
        <p:spPr bwMode="auto">
          <a:xfrm>
            <a:off x="304800" y="1371600"/>
            <a:ext cx="8534400" cy="477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solidFill>
                  <a:srgbClr val="FF0000"/>
                </a:solidFill>
              </a:rPr>
              <a:t>Step 1:</a:t>
            </a:r>
          </a:p>
          <a:p>
            <a:r>
              <a:rPr lang="en-US" altLang="en-US"/>
              <a:t>• The password we select has either 6,7 or 8 characters. So the total number of valid passwords is by the sum rule:</a:t>
            </a:r>
          </a:p>
          <a:p>
            <a:endParaRPr lang="en-US" altLang="en-US"/>
          </a:p>
          <a:p>
            <a:r>
              <a:rPr lang="en-US" altLang="en-US"/>
              <a:t>• </a:t>
            </a:r>
            <a:r>
              <a:rPr lang="en-US" altLang="en-US">
                <a:solidFill>
                  <a:srgbClr val="FF0000"/>
                </a:solidFill>
              </a:rPr>
              <a:t>P = P6+P7+P8</a:t>
            </a:r>
            <a:endParaRPr lang="en-US" altLang="en-US"/>
          </a:p>
          <a:p>
            <a:r>
              <a:rPr lang="en-US" altLang="en-US"/>
              <a:t>The number of passwords of length 6,7 and 8 respectively</a:t>
            </a:r>
          </a:p>
          <a:p>
            <a:endParaRPr lang="en-US" altLang="en-US" baseline="30000">
              <a:solidFill>
                <a:srgbClr val="FF0000"/>
              </a:solidFill>
            </a:endParaRPr>
          </a:p>
          <a:p>
            <a:r>
              <a:rPr lang="en-US" altLang="en-US" b="1">
                <a:solidFill>
                  <a:srgbClr val="FF0000"/>
                </a:solidFill>
              </a:rPr>
              <a:t>Step 2:</a:t>
            </a:r>
          </a:p>
          <a:p>
            <a:r>
              <a:rPr lang="en-US" altLang="en-US"/>
              <a:t>• Assume passwords with 6 characters</a:t>
            </a:r>
          </a:p>
          <a:p>
            <a:r>
              <a:rPr lang="en-US" altLang="en-US">
                <a:solidFill>
                  <a:srgbClr val="FF0000"/>
                </a:solidFill>
              </a:rPr>
              <a:t>       (either digits + upper case letters):</a:t>
            </a:r>
          </a:p>
          <a:p>
            <a:r>
              <a:rPr lang="en-US" altLang="en-US"/>
              <a:t>• </a:t>
            </a:r>
            <a:r>
              <a:rPr lang="en-US" altLang="en-US">
                <a:solidFill>
                  <a:srgbClr val="FF0000"/>
                </a:solidFill>
              </a:rPr>
              <a:t>How many are there?</a:t>
            </a:r>
          </a:p>
          <a:p>
            <a:r>
              <a:rPr lang="en-US" altLang="en-US"/>
              <a:t>• If we let each character to be at any position we have:</a:t>
            </a:r>
          </a:p>
          <a:p>
            <a:r>
              <a:rPr lang="en-US" altLang="en-US"/>
              <a:t>– </a:t>
            </a:r>
            <a:r>
              <a:rPr lang="en-US" altLang="en-US">
                <a:solidFill>
                  <a:srgbClr val="FF0000"/>
                </a:solidFill>
              </a:rPr>
              <a:t>P6-all = (26+10)</a:t>
            </a:r>
            <a:r>
              <a:rPr lang="en-US" altLang="en-US" baseline="30000">
                <a:solidFill>
                  <a:srgbClr val="FF0000"/>
                </a:solidFill>
              </a:rPr>
              <a:t>6</a:t>
            </a:r>
            <a:r>
              <a:rPr lang="en-US" altLang="en-US">
                <a:solidFill>
                  <a:srgbClr val="FF0000"/>
                </a:solidFill>
              </a:rPr>
              <a:t>=(36)</a:t>
            </a:r>
            <a:r>
              <a:rPr lang="en-US" altLang="en-US" baseline="30000">
                <a:solidFill>
                  <a:srgbClr val="FF0000"/>
                </a:solidFill>
              </a:rPr>
              <a:t>6</a:t>
            </a:r>
            <a:r>
              <a:rPr lang="en-US" altLang="en-US">
                <a:solidFill>
                  <a:srgbClr val="FF0000"/>
                </a:solidFill>
              </a:rPr>
              <a:t> </a:t>
            </a:r>
            <a:r>
              <a:rPr lang="en-US" altLang="en-US"/>
              <a:t>different passwords of length 6</a:t>
            </a:r>
            <a:endParaRPr lang="en-US" altLang="en-US" baseline="30000">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3CDFC243-9748-AB2B-4CF0-B9B6048E49F6}"/>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Beyond basic counting rules</a:t>
            </a:r>
          </a:p>
        </p:txBody>
      </p:sp>
      <p:sp>
        <p:nvSpPr>
          <p:cNvPr id="45059" name="TextBox 3">
            <a:extLst>
              <a:ext uri="{FF2B5EF4-FFF2-40B4-BE49-F238E27FC236}">
                <a16:creationId xmlns:a16="http://schemas.microsoft.com/office/drawing/2014/main" id="{0303944C-C5C7-F6D5-07A5-02A5EF748061}"/>
              </a:ext>
            </a:extLst>
          </p:cNvPr>
          <p:cNvSpPr txBox="1">
            <a:spLocks noChangeArrowheads="1"/>
          </p:cNvSpPr>
          <p:nvPr/>
        </p:nvSpPr>
        <p:spPr bwMode="auto">
          <a:xfrm>
            <a:off x="304800" y="1371600"/>
            <a:ext cx="85344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solidFill>
                  <a:srgbClr val="FF0000"/>
                </a:solidFill>
              </a:rPr>
              <a:t>Step 2</a:t>
            </a:r>
          </a:p>
          <a:p>
            <a:r>
              <a:rPr lang="en-US" altLang="en-US"/>
              <a:t>But we </a:t>
            </a:r>
            <a:r>
              <a:rPr lang="en-US" altLang="en-US">
                <a:solidFill>
                  <a:srgbClr val="FF0000"/>
                </a:solidFill>
              </a:rPr>
              <a:t>must have a password with at least one digit</a:t>
            </a:r>
            <a:r>
              <a:rPr lang="en-US" altLang="en-US"/>
              <a:t>. How to</a:t>
            </a:r>
          </a:p>
          <a:p>
            <a:r>
              <a:rPr lang="en-US" altLang="en-US"/>
              <a:t>account for it?</a:t>
            </a:r>
          </a:p>
          <a:p>
            <a:endParaRPr lang="en-US" altLang="en-US"/>
          </a:p>
          <a:p>
            <a:r>
              <a:rPr lang="en-US" altLang="en-US" b="1">
                <a:solidFill>
                  <a:srgbClr val="FF0000"/>
                </a:solidFill>
              </a:rPr>
              <a:t>A trick</a:t>
            </a:r>
            <a:r>
              <a:rPr lang="en-US" altLang="en-US" b="1"/>
              <a:t>. </a:t>
            </a:r>
            <a:r>
              <a:rPr lang="en-US" altLang="en-US"/>
              <a:t>Split the count of all passwords of length 6 into to two mutually exclusive groups:</a:t>
            </a:r>
          </a:p>
          <a:p>
            <a:r>
              <a:rPr lang="en-US" altLang="en-US"/>
              <a:t>• </a:t>
            </a:r>
            <a:r>
              <a:rPr lang="en-US" altLang="en-US" b="1">
                <a:solidFill>
                  <a:srgbClr val="FF0000"/>
                </a:solidFill>
              </a:rPr>
              <a:t>P6-all = P6-digits + P6-nodigits</a:t>
            </a:r>
          </a:p>
          <a:p>
            <a:endParaRPr lang="en-US" altLang="en-US"/>
          </a:p>
          <a:p>
            <a:r>
              <a:rPr lang="en-US" altLang="en-US"/>
              <a:t>1. </a:t>
            </a:r>
            <a:r>
              <a:rPr lang="en-US" altLang="en-US">
                <a:solidFill>
                  <a:srgbClr val="FF0000"/>
                </a:solidFill>
              </a:rPr>
              <a:t>P6-digits</a:t>
            </a:r>
            <a:r>
              <a:rPr lang="en-US" altLang="en-US"/>
              <a:t> – count when the password has one or more digits</a:t>
            </a:r>
          </a:p>
          <a:p>
            <a:r>
              <a:rPr lang="en-US" altLang="en-US"/>
              <a:t>2. </a:t>
            </a:r>
            <a:r>
              <a:rPr lang="en-US" altLang="en-US">
                <a:solidFill>
                  <a:srgbClr val="FF0000"/>
                </a:solidFill>
              </a:rPr>
              <a:t>P6-nodigits</a:t>
            </a:r>
            <a:r>
              <a:rPr lang="en-US" altLang="en-US"/>
              <a:t> – count when the password has no digits</a:t>
            </a:r>
          </a:p>
          <a:p>
            <a:r>
              <a:rPr lang="en-US" altLang="en-US"/>
              <a:t>• We know how to easily compute P6-all and P6-nodigits</a:t>
            </a:r>
          </a:p>
          <a:p>
            <a:r>
              <a:rPr lang="en-US" altLang="en-US"/>
              <a:t>– </a:t>
            </a:r>
            <a:r>
              <a:rPr lang="en-US" altLang="en-US" b="1">
                <a:solidFill>
                  <a:srgbClr val="FF0000"/>
                </a:solidFill>
              </a:rPr>
              <a:t>P6-all = 36</a:t>
            </a:r>
            <a:r>
              <a:rPr lang="en-US" altLang="en-US" b="1" baseline="30000">
                <a:solidFill>
                  <a:srgbClr val="FF0000"/>
                </a:solidFill>
              </a:rPr>
              <a:t>6 </a:t>
            </a:r>
            <a:r>
              <a:rPr lang="en-US" altLang="en-US" b="1"/>
              <a:t>and </a:t>
            </a:r>
            <a:r>
              <a:rPr lang="en-US" altLang="en-US" b="1">
                <a:solidFill>
                  <a:srgbClr val="FF0000"/>
                </a:solidFill>
              </a:rPr>
              <a:t>P6-nodigits = 26</a:t>
            </a:r>
            <a:r>
              <a:rPr lang="en-US" altLang="en-US" b="1" baseline="30000">
                <a:solidFill>
                  <a:srgbClr val="FF0000"/>
                </a:solidFill>
              </a:rPr>
              <a:t>6</a:t>
            </a:r>
          </a:p>
          <a:p>
            <a:r>
              <a:rPr lang="en-US" altLang="en-US"/>
              <a:t>– Then </a:t>
            </a:r>
            <a:r>
              <a:rPr lang="en-US" altLang="en-US" b="1">
                <a:solidFill>
                  <a:srgbClr val="FF0000"/>
                </a:solidFill>
              </a:rPr>
              <a:t>P6-digits = P6-all – P6-nodigits</a:t>
            </a:r>
            <a:endParaRPr lang="en-US" altLang="en-US" baseline="30000">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D8A8BC86-F9A7-D0E6-DF7F-7E4E5DB403BC}"/>
              </a:ext>
            </a:extLst>
          </p:cNvPr>
          <p:cNvSpPr>
            <a:spLocks noGrp="1" noChangeArrowheads="1"/>
          </p:cNvSpPr>
          <p:nvPr>
            <p:ph type="title"/>
          </p:nvPr>
        </p:nvSpPr>
        <p:spPr/>
        <p:txBody>
          <a:bodyPr/>
          <a:lstStyle/>
          <a:p>
            <a:pPr eaLnBrk="1" hangingPunct="1"/>
            <a:r>
              <a:rPr lang="en-US" altLang="en-US" b="1">
                <a:ea typeface="ＭＳ Ｐゴシック" panose="020B0600070205080204" pitchFamily="34" charset="-128"/>
              </a:rPr>
              <a:t>Beyond basic counting rules</a:t>
            </a:r>
          </a:p>
        </p:txBody>
      </p:sp>
      <p:sp>
        <p:nvSpPr>
          <p:cNvPr id="46083" name="TextBox 3">
            <a:extLst>
              <a:ext uri="{FF2B5EF4-FFF2-40B4-BE49-F238E27FC236}">
                <a16:creationId xmlns:a16="http://schemas.microsoft.com/office/drawing/2014/main" id="{3B942B33-96A8-6D99-5DDC-0BE002084E7E}"/>
              </a:ext>
            </a:extLst>
          </p:cNvPr>
          <p:cNvSpPr txBox="1">
            <a:spLocks noChangeArrowheads="1"/>
          </p:cNvSpPr>
          <p:nvPr/>
        </p:nvSpPr>
        <p:spPr bwMode="auto">
          <a:xfrm>
            <a:off x="304800" y="1371600"/>
            <a:ext cx="85344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b="1"/>
              <a:t>Step 1:</a:t>
            </a:r>
          </a:p>
          <a:p>
            <a:r>
              <a:rPr lang="en-US" altLang="en-US"/>
              <a:t>the total number of valid passwords is by the sum rule:</a:t>
            </a:r>
          </a:p>
          <a:p>
            <a:r>
              <a:rPr lang="en-US" altLang="en-US"/>
              <a:t>• </a:t>
            </a:r>
            <a:r>
              <a:rPr lang="en-US" altLang="en-US" b="1">
                <a:solidFill>
                  <a:srgbClr val="FF0000"/>
                </a:solidFill>
              </a:rPr>
              <a:t>P = P6+P7+P8</a:t>
            </a:r>
          </a:p>
          <a:p>
            <a:r>
              <a:rPr lang="en-US" altLang="en-US"/>
              <a:t>• The number of passwords of length 6,7 and 8 respectively</a:t>
            </a:r>
          </a:p>
          <a:p>
            <a:endParaRPr lang="en-US" altLang="en-US" b="1"/>
          </a:p>
          <a:p>
            <a:r>
              <a:rPr lang="en-US" altLang="en-US" b="1"/>
              <a:t>Step 2</a:t>
            </a:r>
          </a:p>
          <a:p>
            <a:r>
              <a:rPr lang="en-US" altLang="en-US"/>
              <a:t>The number of valid passwords of length 6:</a:t>
            </a:r>
          </a:p>
          <a:p>
            <a:r>
              <a:rPr lang="en-US" altLang="en-US" b="1"/>
              <a:t>           </a:t>
            </a:r>
            <a:r>
              <a:rPr lang="en-US" altLang="en-US" b="1">
                <a:solidFill>
                  <a:srgbClr val="FF0000"/>
                </a:solidFill>
              </a:rPr>
              <a:t>P6= P6-digits = P6-all – P6-nodigits</a:t>
            </a:r>
          </a:p>
          <a:p>
            <a:r>
              <a:rPr lang="en-US" altLang="en-US" b="1"/>
              <a:t>                                   </a:t>
            </a:r>
            <a:r>
              <a:rPr lang="en-US" altLang="en-US" b="1">
                <a:solidFill>
                  <a:srgbClr val="FF0000"/>
                </a:solidFill>
              </a:rPr>
              <a:t>= 36</a:t>
            </a:r>
            <a:r>
              <a:rPr lang="en-US" altLang="en-US" b="1" baseline="30000">
                <a:solidFill>
                  <a:srgbClr val="FF0000"/>
                </a:solidFill>
              </a:rPr>
              <a:t>6</a:t>
            </a:r>
            <a:r>
              <a:rPr lang="en-US" altLang="en-US" b="1">
                <a:solidFill>
                  <a:srgbClr val="FF0000"/>
                </a:solidFill>
              </a:rPr>
              <a:t> –26</a:t>
            </a:r>
            <a:r>
              <a:rPr lang="en-US" altLang="en-US" b="1" baseline="30000">
                <a:solidFill>
                  <a:srgbClr val="FF0000"/>
                </a:solidFill>
              </a:rPr>
              <a:t>6</a:t>
            </a:r>
          </a:p>
          <a:p>
            <a:endParaRPr lang="en-US" altLang="en-US" b="1"/>
          </a:p>
          <a:p>
            <a:r>
              <a:rPr lang="en-US" altLang="en-US" b="1">
                <a:solidFill>
                  <a:srgbClr val="FF0000"/>
                </a:solidFill>
              </a:rPr>
              <a:t>Analogically:</a:t>
            </a:r>
          </a:p>
          <a:p>
            <a:r>
              <a:rPr lang="en-US" altLang="en-US" b="1"/>
              <a:t>          </a:t>
            </a:r>
            <a:r>
              <a:rPr lang="en-US" altLang="en-US" b="1">
                <a:solidFill>
                  <a:srgbClr val="FF0000"/>
                </a:solidFill>
              </a:rPr>
              <a:t>P7</a:t>
            </a:r>
            <a:r>
              <a:rPr lang="en-US" altLang="en-US" b="1"/>
              <a:t>= P7-digits = P7-all – P7-nodigits</a:t>
            </a:r>
          </a:p>
          <a:p>
            <a:r>
              <a:rPr lang="en-US" altLang="en-US" b="1"/>
              <a:t>                                  </a:t>
            </a:r>
            <a:r>
              <a:rPr lang="en-US" altLang="en-US" b="1">
                <a:solidFill>
                  <a:srgbClr val="FF0000"/>
                </a:solidFill>
              </a:rPr>
              <a:t>= 36</a:t>
            </a:r>
            <a:r>
              <a:rPr lang="en-US" altLang="en-US" b="1" baseline="30000">
                <a:solidFill>
                  <a:srgbClr val="FF0000"/>
                </a:solidFill>
              </a:rPr>
              <a:t>7</a:t>
            </a:r>
            <a:r>
              <a:rPr lang="en-US" altLang="en-US" b="1">
                <a:solidFill>
                  <a:srgbClr val="FF0000"/>
                </a:solidFill>
              </a:rPr>
              <a:t> –26</a:t>
            </a:r>
            <a:r>
              <a:rPr lang="en-US" altLang="en-US" b="1" baseline="30000">
                <a:solidFill>
                  <a:srgbClr val="FF0000"/>
                </a:solidFill>
              </a:rPr>
              <a:t>7</a:t>
            </a:r>
          </a:p>
          <a:p>
            <a:r>
              <a:rPr lang="en-US" altLang="en-US" b="1"/>
              <a:t>          </a:t>
            </a:r>
            <a:r>
              <a:rPr lang="en-US" altLang="en-US" b="1">
                <a:solidFill>
                  <a:srgbClr val="FF0000"/>
                </a:solidFill>
              </a:rPr>
              <a:t>P8</a:t>
            </a:r>
            <a:r>
              <a:rPr lang="en-US" altLang="en-US" b="1"/>
              <a:t>= P8-digits = P8-all – P8-nodigits</a:t>
            </a:r>
          </a:p>
          <a:p>
            <a:r>
              <a:rPr lang="en-US" altLang="en-US" b="1"/>
              <a:t>                                  </a:t>
            </a:r>
            <a:r>
              <a:rPr lang="en-US" altLang="en-US" b="1">
                <a:solidFill>
                  <a:srgbClr val="FF0000"/>
                </a:solidFill>
              </a:rPr>
              <a:t>= 36</a:t>
            </a:r>
            <a:r>
              <a:rPr lang="en-US" altLang="en-US" b="1" baseline="30000">
                <a:solidFill>
                  <a:srgbClr val="FF0000"/>
                </a:solidFill>
              </a:rPr>
              <a:t>8 </a:t>
            </a:r>
            <a:r>
              <a:rPr lang="en-US" altLang="en-US" b="1">
                <a:solidFill>
                  <a:srgbClr val="FF0000"/>
                </a:solidFill>
              </a:rPr>
              <a:t>–26</a:t>
            </a:r>
            <a:r>
              <a:rPr lang="en-US" altLang="en-US" b="1" baseline="30000">
                <a:solidFill>
                  <a:srgbClr val="FF0000"/>
                </a:solidFill>
              </a:rPr>
              <a:t>8</a:t>
            </a:r>
            <a:endParaRPr lang="en-US" altLang="en-US" baseline="30000">
              <a:solidFill>
                <a:srgbClr val="FF0000"/>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NewsPrint">
  <a:themeElements>
    <a:clrScheme name="NewsPrint">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font script="Jpan" typeface="HGP創英角ｺﾞｼｯｸUB"/>
        <a:font script="Hang" typeface="HY견고딕"/>
        <a:font script="Hans" typeface="微软雅黑"/>
        <a:font script="Hant" typeface="微軟正黑體"/>
        <a:font script="Arab" typeface="Tahoma"/>
        <a:font script="Hebr" typeface="To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25060</TotalTime>
  <Words>3458</Words>
  <Application>Microsoft Office PowerPoint</Application>
  <PresentationFormat>On-screen Show (4:3)</PresentationFormat>
  <Paragraphs>506</Paragraphs>
  <Slides>43</Slides>
  <Notes>42</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NewsPrint</vt:lpstr>
      <vt:lpstr>Counting</vt:lpstr>
      <vt:lpstr>Counting</vt:lpstr>
      <vt:lpstr>Basic Counting Rules</vt:lpstr>
      <vt:lpstr>Product Rule</vt:lpstr>
      <vt:lpstr>Product Rule</vt:lpstr>
      <vt:lpstr>Product Rule</vt:lpstr>
      <vt:lpstr>Product Rule</vt:lpstr>
      <vt:lpstr>Product Rule</vt:lpstr>
      <vt:lpstr>Product Rule</vt:lpstr>
      <vt:lpstr>Product Rule</vt:lpstr>
      <vt:lpstr>Sum Rule</vt:lpstr>
      <vt:lpstr>Sum Rule</vt:lpstr>
      <vt:lpstr>Inclusion Exclusion Principle</vt:lpstr>
      <vt:lpstr>Inclusion Exclusion Principle</vt:lpstr>
      <vt:lpstr>Pigeonhole principle</vt:lpstr>
      <vt:lpstr>Pigeonhole principle</vt:lpstr>
      <vt:lpstr>Pigeonhole principle</vt:lpstr>
      <vt:lpstr>Pigeonhole principle</vt:lpstr>
      <vt:lpstr>Pigeonhole principle</vt:lpstr>
      <vt:lpstr>Generalized Pigeonhole principle</vt:lpstr>
      <vt:lpstr>Generalized Pigeonhole principle</vt:lpstr>
      <vt:lpstr>Permutations</vt:lpstr>
      <vt:lpstr>Number of Permutations</vt:lpstr>
      <vt:lpstr>Number of Permutations</vt:lpstr>
      <vt:lpstr>Number of Permutations</vt:lpstr>
      <vt:lpstr>K-Permutations</vt:lpstr>
      <vt:lpstr>K-Permutations</vt:lpstr>
      <vt:lpstr>K-Permutations</vt:lpstr>
      <vt:lpstr>Combination</vt:lpstr>
      <vt:lpstr>Combination</vt:lpstr>
      <vt:lpstr>Combination</vt:lpstr>
      <vt:lpstr>Combination</vt:lpstr>
      <vt:lpstr>Combination</vt:lpstr>
      <vt:lpstr>Combination</vt:lpstr>
      <vt:lpstr>Combination</vt:lpstr>
      <vt:lpstr>Combination</vt:lpstr>
      <vt:lpstr>Thank You</vt:lpstr>
      <vt:lpstr>Beyond basic counting rules</vt:lpstr>
      <vt:lpstr>Beyond basic counting rules</vt:lpstr>
      <vt:lpstr>Beyond basic counting rules</vt:lpstr>
      <vt:lpstr>Beyond basic counting rules</vt:lpstr>
      <vt:lpstr>Beyond basic counting rules</vt:lpstr>
      <vt:lpstr>Beyond basic counting rules</vt:lpstr>
    </vt:vector>
  </TitlesOfParts>
  <Company>RS Pressman &amp; Associates,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Set to accompany Web Engineering: A Practitioner Approach</dc:title>
  <dc:creator>Roger Pressman</dc:creator>
  <cp:lastModifiedBy>Sagor Ahmed Saron</cp:lastModifiedBy>
  <cp:revision>592</cp:revision>
  <dcterms:created xsi:type="dcterms:W3CDTF">2011-04-14T19:19:04Z</dcterms:created>
  <dcterms:modified xsi:type="dcterms:W3CDTF">2023-11-19T17:30:29Z</dcterms:modified>
</cp:coreProperties>
</file>