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33" r:id="rId1"/>
  </p:sldMasterIdLst>
  <p:notesMasterIdLst>
    <p:notesMasterId r:id="rId49"/>
  </p:notesMasterIdLst>
  <p:sldIdLst>
    <p:sldId id="272" r:id="rId2"/>
    <p:sldId id="321" r:id="rId3"/>
    <p:sldId id="315" r:id="rId4"/>
    <p:sldId id="316" r:id="rId5"/>
    <p:sldId id="318" r:id="rId6"/>
    <p:sldId id="319" r:id="rId7"/>
    <p:sldId id="320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31" r:id="rId16"/>
    <p:sldId id="329" r:id="rId17"/>
    <p:sldId id="330" r:id="rId18"/>
    <p:sldId id="332" r:id="rId19"/>
    <p:sldId id="333" r:id="rId20"/>
    <p:sldId id="334" r:id="rId21"/>
    <p:sldId id="335" r:id="rId22"/>
    <p:sldId id="336" r:id="rId23"/>
    <p:sldId id="338" r:id="rId24"/>
    <p:sldId id="337" r:id="rId25"/>
    <p:sldId id="339" r:id="rId26"/>
    <p:sldId id="340" r:id="rId27"/>
    <p:sldId id="34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50" r:id="rId36"/>
    <p:sldId id="349" r:id="rId37"/>
    <p:sldId id="352" r:id="rId38"/>
    <p:sldId id="353" r:id="rId39"/>
    <p:sldId id="354" r:id="rId40"/>
    <p:sldId id="355" r:id="rId41"/>
    <p:sldId id="356" r:id="rId42"/>
    <p:sldId id="357" r:id="rId43"/>
    <p:sldId id="358" r:id="rId44"/>
    <p:sldId id="359" r:id="rId45"/>
    <p:sldId id="360" r:id="rId46"/>
    <p:sldId id="361" r:id="rId47"/>
    <p:sldId id="314" r:id="rId4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1EA89"/>
    <a:srgbClr val="F8F8F8"/>
    <a:srgbClr val="66FF99"/>
    <a:srgbClr val="018952"/>
    <a:srgbClr val="7B5EC2"/>
    <a:srgbClr val="2FA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11" autoAdjust="0"/>
  </p:normalViewPr>
  <p:slideViewPr>
    <p:cSldViewPr>
      <p:cViewPr>
        <p:scale>
          <a:sx n="60" d="100"/>
          <a:sy n="60" d="100"/>
        </p:scale>
        <p:origin x="-1644" y="-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8" Type="http://schemas.openxmlformats.org/officeDocument/2006/relationships/slide" Target="slides/slide7.xml" /><Relationship Id="rId51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715B800-ACF6-38AB-2BA5-9BB76693F1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2044203C-DEEC-8FC5-81C6-3DC5BC0B1AF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CCADC09B-B572-5BBE-4BB8-5440676E4A2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8E120F93-4300-EFDB-7862-CA0E335C034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80E35588-9088-8462-5B25-F4B572C45D5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B96AB560-C61A-CAA0-A9A1-053CB44056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C2F23275-C5CF-45BF-AFED-B9C7E98C286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4FFA05F6-3FD9-AC62-F566-AAB59C425F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EC11D80-2505-4C3B-862E-5F6F8C7457E0}" type="slidenum">
              <a:rPr lang="en-US" altLang="en-US" sz="1300"/>
              <a:pPr/>
              <a:t>1</a:t>
            </a:fld>
            <a:endParaRPr lang="en-US" altLang="en-US" sz="13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CC1EF2EF-E572-944C-6D35-31523AEBBE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7E556EC9-E5C0-39D9-7DB4-746985007A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073B811C-0749-3A8E-FADC-555D83956B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278287D-921B-4239-8528-A2C5BE0F1476}" type="slidenum">
              <a:rPr lang="en-US" altLang="en-US" sz="1300"/>
              <a:pPr/>
              <a:t>3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1FE222F-3B78-2EB0-961A-C4A3754E34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3473D2B3-4147-BFDA-B4D1-2FA76F191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499802F5-50A4-794E-503B-5F92F721CF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B3986E-C844-43F2-BF6F-156C0F83616D}" type="slidenum">
              <a:rPr lang="en-US" altLang="en-US" sz="1300"/>
              <a:pPr/>
              <a:t>4</a:t>
            </a:fld>
            <a:endParaRPr lang="en-US" altLang="en-US" sz="13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25B4931B-0D4C-BDE6-6E50-FEB819B2C5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08905D4F-22C0-4972-97F0-B4B427CC5F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FA9659A-987E-5EF5-8C84-5A3A127C16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D4AA136-F1F3-4154-95E5-895365D3FD4C}" type="slidenum">
              <a:rPr lang="en-US" altLang="en-US" sz="1300"/>
              <a:pPr/>
              <a:t>5</a:t>
            </a:fld>
            <a:endParaRPr lang="en-US" altLang="en-US" sz="13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882F2760-DC27-E0ED-C32E-2CD620B644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63506B10-9210-6861-F15E-33C463D8B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040A9D1B-553B-22AF-9EE3-A0E8A92246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2D4EDED-932D-4B32-A7BE-8CD9044F9545}" type="slidenum">
              <a:rPr lang="en-US" altLang="en-US" sz="1300"/>
              <a:pPr/>
              <a:t>6</a:t>
            </a:fld>
            <a:endParaRPr lang="en-US" altLang="en-US" sz="13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BDF747FE-8A60-0F40-9D0E-9167530BDF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8D9561B2-50CB-28A8-8F26-ED5EDCB9DC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20F6392-790F-6387-1CEC-FA8D0BE66A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41F3EAB-57E5-4277-B028-B78B04DF0625}" type="slidenum">
              <a:rPr lang="en-US" altLang="en-US" sz="1300"/>
              <a:pPr/>
              <a:t>7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66C4143B-DC46-E439-9480-8302391D6B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0DAE5BCB-3DCC-058B-6FFC-1DB8376CA1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195CFFF2-669D-867A-EC4F-00FEE5AF68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3A3EA75-7594-4CD9-8429-BCFECA49C7F5}" type="slidenum">
              <a:rPr lang="en-US" altLang="en-US" sz="1300"/>
              <a:pPr/>
              <a:t>8</a:t>
            </a:fld>
            <a:endParaRPr lang="en-US" altLang="en-US" sz="13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203372A-3ED1-B773-3264-3051FCA70E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7C14D21-5647-E03A-7862-976EEF5E35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B73CE6AF-9610-82ED-A8A7-14865EFBCF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74FC8C6-894E-4202-A4BC-06DC915F3827}" type="slidenum">
              <a:rPr lang="en-US" altLang="en-US" sz="1300"/>
              <a:pPr/>
              <a:t>9</a:t>
            </a:fld>
            <a:endParaRPr lang="en-US" altLang="en-US" sz="13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B974BC7A-3A8B-C1BB-22AA-D37055B32A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877E349-2BBE-5D8A-C9A4-B2BBB540B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A069E567-1841-3076-E910-A2E38A5D30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04DEF6E-15EA-4211-B588-6AB5B7FF793E}" type="slidenum">
              <a:rPr lang="en-US" altLang="en-US" sz="1300"/>
              <a:pPr/>
              <a:t>10</a:t>
            </a:fld>
            <a:endParaRPr lang="en-US" altLang="en-US" sz="13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EAE8D455-0F6E-D69D-537B-A3FB706A7D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9EA794D3-E589-6CA3-8583-F75893650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2153C403-7B86-E074-174C-4861081C6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41462BC-1EFB-4175-9D66-988DDB868A56}" type="slidenum">
              <a:rPr lang="en-US" altLang="en-US" sz="1300"/>
              <a:pPr/>
              <a:t>11</a:t>
            </a:fld>
            <a:endParaRPr lang="en-US" altLang="en-US" sz="13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B9374E86-EC06-0FF2-CFBE-52DDB4EE46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884DFD53-D00B-D16B-5A42-7BB1A0F1D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086F562F-5B37-F0D7-F95D-DDA6E2FA83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5F7422-EB64-40C2-9864-8DBDB647A801}" type="slidenum">
              <a:rPr lang="en-US" altLang="en-US" sz="1300"/>
              <a:pPr/>
              <a:t>12</a:t>
            </a:fld>
            <a:endParaRPr lang="en-US" altLang="en-US" sz="13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F8D0212-C2A8-BE75-6E38-37C9B15A3D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81CFE556-461B-1970-0FA9-57A2D95986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A38F9024-D147-6F66-DBE5-3F40D8A3CF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3A67D61-23B5-401F-AC6A-5DF28883659F}" type="slidenum">
              <a:rPr lang="en-US" altLang="en-US" sz="1300"/>
              <a:pPr/>
              <a:t>13</a:t>
            </a:fld>
            <a:endParaRPr lang="en-US" altLang="en-US" sz="13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4D1F704A-B316-6886-31BE-943E9E60B4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DE19455F-A5D9-2A28-11B3-48E8538F44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6DC69997-19CE-EA3F-BD52-A97F480A98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9DB34F-3436-4351-B4C1-2A6FAF514BFA}" type="slidenum">
              <a:rPr lang="en-US" altLang="en-US" sz="1300"/>
              <a:pPr/>
              <a:t>14</a:t>
            </a:fld>
            <a:endParaRPr lang="en-US" altLang="en-US" sz="13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25D2427F-6162-16E0-D415-570790A6B1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CB570B1-1457-0DD8-7034-7F333F613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23438049-BAF2-95E1-6FB5-FE44C64706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28EB756-6D85-4AB0-BC21-4F9FA7D43318}" type="slidenum">
              <a:rPr lang="en-US" altLang="en-US" sz="1300"/>
              <a:pPr/>
              <a:t>15</a:t>
            </a:fld>
            <a:endParaRPr lang="en-US" altLang="en-US" sz="13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075FEBB6-5086-C1F7-1C74-71C2F0EB23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07C6B071-04FB-932C-6399-888B211FE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B75E50B7-404A-8075-CBDA-973DABDDF7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43030A4-5F72-4FCF-B430-2EDC8C7BBD8B}" type="slidenum">
              <a:rPr lang="en-US" altLang="en-US" sz="1300"/>
              <a:pPr/>
              <a:t>16</a:t>
            </a:fld>
            <a:endParaRPr lang="en-US" altLang="en-US" sz="13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0C40DD63-C463-5260-1F60-034D5584ED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DFAF60E-B204-60CA-C79F-E368B74DD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3A1D05D2-93EF-6A15-23E2-A0D468934A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09C91EA-5F28-48E5-8509-CF550FF03851}" type="slidenum">
              <a:rPr lang="en-US" altLang="en-US" sz="1300"/>
              <a:pPr/>
              <a:t>17</a:t>
            </a:fld>
            <a:endParaRPr lang="en-US" altLang="en-US" sz="13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FD1818C6-F637-E29B-C03C-6F392B082E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16112480-6B99-E13E-F434-8980488BA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918B6FA2-84C6-1D32-05DD-80C1725991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FFD73E4-A945-45D7-8B37-6FB973B62B3B}" type="slidenum">
              <a:rPr lang="en-US" altLang="en-US" sz="1300"/>
              <a:pPr/>
              <a:t>18</a:t>
            </a:fld>
            <a:endParaRPr lang="en-US" altLang="en-US" sz="13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51249D7A-263D-9403-FD0A-D42D4F846F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C3B3E0AA-87AD-8FE4-F4A4-20395111B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D2109478-ECE7-A030-389B-A1C130403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0DFAE94-B670-41D2-92AB-BB9DB5C7BBD0}" type="slidenum">
              <a:rPr lang="en-US" altLang="en-US" sz="1300"/>
              <a:pPr/>
              <a:t>19</a:t>
            </a:fld>
            <a:endParaRPr lang="en-US" altLang="en-US" sz="13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7490F67-C241-8E51-A13E-AA35D678BE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088636F3-AD24-A41A-30AB-FD6789073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29D269EA-BCFF-E4D7-E983-813A07A13B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7C5E6B3-6E62-4D76-9619-E57ECA49F9E7}" type="slidenum">
              <a:rPr lang="en-US" altLang="en-US" sz="1300"/>
              <a:pPr/>
              <a:t>20</a:t>
            </a:fld>
            <a:endParaRPr lang="en-US" altLang="en-US" sz="13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DBF0569A-AAC6-646B-1BD8-7E38384BF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5746B26F-D25D-95BC-BC08-6B1025725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D2703E45-BD02-070D-EDF0-02CB73684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90F71FF-3ED8-40B3-8FDC-7D9C2810AF24}" type="slidenum">
              <a:rPr lang="en-US" altLang="en-US" sz="1300"/>
              <a:pPr/>
              <a:t>21</a:t>
            </a:fld>
            <a:endParaRPr lang="en-US" altLang="en-US" sz="13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DB80E181-1B46-6C9C-D5DD-7DE7B94D2A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AD8EC085-1429-A3AA-FD16-2A50679EC5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377CC9A-2E5A-A250-FC48-0DC76C9313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E2B9A72-5F80-48BD-BED9-8244F9B789E9}" type="slidenum">
              <a:rPr lang="en-US" altLang="en-US" sz="1300"/>
              <a:pPr/>
              <a:t>22</a:t>
            </a:fld>
            <a:endParaRPr lang="en-US" altLang="en-US" sz="13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1A10FA70-3C8B-2BD3-8DCE-17A7FF596C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5CD733D1-B901-92E5-E69C-97C7B307B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43AE7F17-D7AB-E2F8-5446-9B8AF90910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333CD16-3D83-487D-A82B-60EE4F0CECE9}" type="slidenum">
              <a:rPr lang="en-US" altLang="en-US" sz="1300"/>
              <a:pPr/>
              <a:t>23</a:t>
            </a:fld>
            <a:endParaRPr lang="en-US" altLang="en-US" sz="13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6781378-750C-8B6C-FCF2-E7D6385C15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5DCD493F-B499-1269-6A73-1D8637423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8E664374-665A-784B-B372-C27BC7D35F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205288E-240B-4228-9FE6-8AA88BA26234}" type="slidenum">
              <a:rPr lang="en-US" altLang="en-US" sz="1300"/>
              <a:pPr/>
              <a:t>24</a:t>
            </a:fld>
            <a:endParaRPr lang="en-US" altLang="en-US" sz="13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9090C2FF-07A8-7259-4A5B-340FA1F32F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ACBBB0E5-C347-86D2-C97D-F4D94CE74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6E945178-6653-B878-4EF2-CDB0905515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1A7E0A9-D633-4F97-98C5-D515C77C3A9E}" type="slidenum">
              <a:rPr lang="en-US" altLang="en-US" sz="1300"/>
              <a:pPr/>
              <a:t>25</a:t>
            </a:fld>
            <a:endParaRPr lang="en-US" altLang="en-US" sz="13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E3464630-6F45-177B-2ACB-BB0660B140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46AB8345-CF9D-D295-9436-7625E86C3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30F3A2CD-6F5C-607B-F462-7F33AB6C1E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55DD47C-061B-4F38-A45A-35581AEB0419}" type="slidenum">
              <a:rPr lang="en-US" altLang="en-US" sz="1300"/>
              <a:pPr/>
              <a:t>26</a:t>
            </a:fld>
            <a:endParaRPr lang="en-US" altLang="en-US" sz="13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2C2E832B-3A9C-BD44-BF65-87D85F274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CDE53286-7DC1-100A-945A-301A137FD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14E7809C-6EE1-6344-B08B-49910B8BF2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20B42D5-E353-496F-BDE2-2320531C1B37}" type="slidenum">
              <a:rPr lang="en-US" altLang="en-US" sz="1300"/>
              <a:pPr/>
              <a:t>27</a:t>
            </a:fld>
            <a:endParaRPr lang="en-US" altLang="en-US" sz="13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B9E9BF72-C300-4A48-FFF8-6E94ECE661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4177E726-7B11-FE96-6B7A-CB2121D21B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E26A55FF-3876-813C-174C-3C6E28B14A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5E68DF8-ADA3-4A27-B840-26B64987F7FD}" type="slidenum">
              <a:rPr lang="en-US" altLang="en-US" sz="1300"/>
              <a:pPr/>
              <a:t>28</a:t>
            </a:fld>
            <a:endParaRPr lang="en-US" altLang="en-US" sz="13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D9D3CA99-92AC-E4C1-B918-799A2680B9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85DC641D-8C48-CA2B-6FB6-B93FF97FC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0831AF0C-C424-EB9C-8DF4-F5A1E90575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85B0C82-E294-4C75-ACE9-6D106A5DFC74}" type="slidenum">
              <a:rPr lang="en-US" altLang="en-US" sz="1300"/>
              <a:pPr/>
              <a:t>29</a:t>
            </a:fld>
            <a:endParaRPr lang="en-US" altLang="en-US" sz="13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8A594BD0-4321-D6EE-F21A-4D2D68A963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49B203AD-F63D-D058-01D4-A967803581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20D8A38E-1721-9CD4-1370-F28CDBB500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D14950E-6E74-4044-8FD6-4A2436C2F84D}" type="slidenum">
              <a:rPr lang="en-US" altLang="en-US" sz="1300"/>
              <a:pPr/>
              <a:t>30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E8566D0-B862-F71F-8843-8789362EF3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2A639B9-0D2A-59DA-E2A2-D1D407268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975F461D-6BDF-01EB-8BC2-B71BA86887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6DC7251-D318-4FF9-AD88-8EF871A7DCBA}" type="slidenum">
              <a:rPr lang="en-US" altLang="en-US" sz="1300"/>
              <a:pPr/>
              <a:t>31</a:t>
            </a:fld>
            <a:endParaRPr lang="en-US" altLang="en-US" sz="13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E6607681-2670-AEBD-3EA1-C92596FDD5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BD0FF2D-3E60-9FA2-6DDF-741785850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D13478-B14E-7E8B-934A-CDC8036E4D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50DD336-4F28-436C-89DC-E5ACD9E4A48D}" type="slidenum">
              <a:rPr lang="en-US" altLang="en-US" sz="1300"/>
              <a:pPr/>
              <a:t>32</a:t>
            </a:fld>
            <a:endParaRPr lang="en-US" altLang="en-US" sz="13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6AB90F8F-C8BF-BD41-86AC-BA2261ADF4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96FE7F77-1B05-5AB1-3410-94CFD04642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A462D501-B439-2BFD-8A15-EA1C087EB3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B73FA51-C51B-48BA-8113-12C6826644FA}" type="slidenum">
              <a:rPr lang="en-US" altLang="en-US" sz="1300"/>
              <a:pPr/>
              <a:t>33</a:t>
            </a:fld>
            <a:endParaRPr lang="en-US" altLang="en-US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B68DC3C6-F981-F6B1-0FF3-E26428FA51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119A0A24-01DC-CD08-D805-124CE07E93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AFFB4ACA-E9D3-4AB9-0D96-701056FDFD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4846857-D2C6-40E9-B8D7-38ACBC661153}" type="slidenum">
              <a:rPr lang="en-US" altLang="en-US" sz="1300"/>
              <a:pPr/>
              <a:t>34</a:t>
            </a:fld>
            <a:endParaRPr lang="en-US" altLang="en-US" sz="130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BF93CD89-DDD0-A66F-055D-EB6F55052F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84DE2C5F-1521-EE06-3540-BBDA63A52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2ECB0B7A-5D6C-7BE2-F882-36B7DD0927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06ECAA5-78A7-40D1-9303-E6279ABF7222}" type="slidenum">
              <a:rPr lang="en-US" altLang="en-US" sz="1300"/>
              <a:pPr/>
              <a:t>35</a:t>
            </a:fld>
            <a:endParaRPr lang="en-US" altLang="en-US" sz="13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B1010-93FC-558B-A741-8437DE4484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83E89BBB-BCA8-7BF7-1700-29AC5D6521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2F79E405-E1DB-7533-CCE2-740A0BC9E7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6F01F53-BF18-48ED-8A33-F769203EB500}" type="slidenum">
              <a:rPr lang="en-US" altLang="en-US" sz="1300"/>
              <a:pPr/>
              <a:t>36</a:t>
            </a:fld>
            <a:endParaRPr lang="en-US" altLang="en-US" sz="13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EB51E9CB-2633-5AB1-E9E5-C30FE88373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AA3AD388-D087-3452-FDDB-71BBD92772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FDA9C321-60D3-56FF-AEEA-CEEDEE66F9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3D35365-8664-44BF-9031-8E0DB9F85304}" type="slidenum">
              <a:rPr lang="en-US" altLang="en-US" sz="1300"/>
              <a:pPr/>
              <a:t>37</a:t>
            </a:fld>
            <a:endParaRPr lang="en-US" altLang="en-US" sz="130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7046C37D-DF89-2476-A548-477855F178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B6A2517F-F9A6-26D1-CD80-32AC23C72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397322F7-3682-7DA1-502B-E6367C5E38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E3E814-5791-4C93-A426-0D37DE53215F}" type="slidenum">
              <a:rPr lang="en-US" altLang="en-US" sz="1300"/>
              <a:pPr/>
              <a:t>38</a:t>
            </a:fld>
            <a:endParaRPr lang="en-US" altLang="en-US" sz="13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25223DB5-5946-38B1-0639-D254A836D1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50A59704-C557-8029-B146-AD395AA46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E67E4E64-F3CF-3C90-4A34-7A3A3E586F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75ED224-8A2D-4926-9A34-CFC3E887FB4E}" type="slidenum">
              <a:rPr lang="en-US" altLang="en-US" sz="1300"/>
              <a:pPr/>
              <a:t>39</a:t>
            </a:fld>
            <a:endParaRPr lang="en-US" altLang="en-US" sz="1300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411DB397-7810-428F-1517-651726648F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2B81B64A-0A1B-D1B7-4993-A0A518876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AB9BCFC9-62B4-3A92-8EE1-FDB0D18982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BFE7DA1-361B-415A-B83B-F1864F0CE7AF}" type="slidenum">
              <a:rPr lang="en-US" altLang="en-US" sz="1300"/>
              <a:pPr/>
              <a:t>40</a:t>
            </a:fld>
            <a:endParaRPr lang="en-US" altLang="en-US" sz="13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016E9648-6953-5D44-72B3-B1C1408B82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4C32BCE-D1BA-55A1-E8C6-0B8CB25F1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9FD0A921-3553-F248-6AEE-947574FABA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AC370F8-D8AD-4F99-946B-20AD84524555}" type="slidenum">
              <a:rPr lang="en-US" altLang="en-US" sz="1300"/>
              <a:pPr/>
              <a:t>41</a:t>
            </a:fld>
            <a:endParaRPr lang="en-US" altLang="en-US" sz="1300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130050E4-672D-A76E-CFCE-30541AA0DF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8F876B6C-CDCE-2CF9-FC1C-2F0F0477A3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E8196F7-47B3-4AB2-E5D6-D33F6FA73B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8E903CC-9945-4A22-BE14-3BDAAC8ABCBC}" type="slidenum">
              <a:rPr lang="en-US" altLang="en-US" sz="1300"/>
              <a:pPr/>
              <a:t>42</a:t>
            </a:fld>
            <a:endParaRPr lang="en-US" altLang="en-US" sz="13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83B3FDB-3032-69CD-CA3A-64B068C8A4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A850B85-3655-6BC6-1B05-22E3B90302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899BB9B9-3E4F-2EE7-4115-AF9B2B9B04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135588E-8934-4C3D-9A12-0D4AA8ADFBF5}" type="slidenum">
              <a:rPr lang="en-US" altLang="en-US" sz="1300"/>
              <a:pPr/>
              <a:t>43</a:t>
            </a:fld>
            <a:endParaRPr lang="en-US" altLang="en-US" sz="13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40BA554B-12A2-BA61-5903-44816E4CD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75221BA5-5307-2762-35CA-5CB5D441C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EFA1A714-DBD6-AC47-4AF7-A43012E5C3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CB25A30-E803-4D33-A649-78B29891907E}" type="slidenum">
              <a:rPr lang="en-US" altLang="en-US" sz="1300"/>
              <a:pPr/>
              <a:t>44</a:t>
            </a:fld>
            <a:endParaRPr lang="en-US" altLang="en-US" sz="13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E385D24A-C6AD-C103-C829-F1CB7017F4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D7087C05-2A26-4861-86A8-486CDC96A4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70DEF5B9-E78A-C5B7-B860-C2EFA12A0C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9210486-CF71-4B7A-B7FA-83FC80F4031B}" type="slidenum">
              <a:rPr lang="en-US" altLang="en-US" sz="1300"/>
              <a:pPr/>
              <a:t>45</a:t>
            </a:fld>
            <a:endParaRPr lang="en-US" altLang="en-US" sz="13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C09437F4-7C79-3D7D-A304-1F34412314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1CFC6074-9EA8-298D-A9A4-250404539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77DB824-E7EA-FDD4-B584-4340A9BEA0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E279C55-CF29-4225-A37E-61242702A582}" type="slidenum">
              <a:rPr lang="en-US" altLang="en-US" sz="1300"/>
              <a:pPr/>
              <a:t>46</a:t>
            </a:fld>
            <a:endParaRPr lang="en-US" altLang="en-US" sz="13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31FE82A9-B269-ED8D-B7A1-ABD6575CE1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6C127A4C-E886-6ED5-5460-58F02D1C0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197ABB-C301-F19B-8F58-DF321302C7E9}"/>
              </a:ext>
            </a:extLst>
          </p:cNvPr>
          <p:cNvSpPr/>
          <p:nvPr userDrawn="1"/>
        </p:nvSpPr>
        <p:spPr>
          <a:xfrm>
            <a:off x="0" y="1325563"/>
            <a:ext cx="9144000" cy="46037"/>
          </a:xfrm>
          <a:prstGeom prst="rect">
            <a:avLst/>
          </a:prstGeom>
          <a:solidFill>
            <a:srgbClr val="018952"/>
          </a:solidFill>
          <a:ln>
            <a:solidFill>
              <a:srgbClr val="0189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99708-9B1B-CEB4-F535-CC1BBFA8E94F}"/>
              </a:ext>
            </a:extLst>
          </p:cNvPr>
          <p:cNvSpPr txBox="1"/>
          <p:nvPr userDrawn="1"/>
        </p:nvSpPr>
        <p:spPr>
          <a:xfrm>
            <a:off x="8610600" y="6400800"/>
            <a:ext cx="533400" cy="307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438281B-F0C7-411C-AB25-1FF834553EA8}" type="slidenum">
              <a:rPr lang="en-US" altLang="en-US" sz="1400">
                <a:solidFill>
                  <a:srgbClr val="FF0000"/>
                </a:solidFill>
              </a:rPr>
              <a:pPr/>
              <a:t>‹#›</a:t>
            </a:fld>
            <a:endParaRPr lang="en-US" altLang="en-US" sz="140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F0000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FF0000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FF0000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FF0000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FF0000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032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>
            <a:extLst>
              <a:ext uri="{FF2B5EF4-FFF2-40B4-BE49-F238E27FC236}">
                <a16:creationId xmlns:a16="http://schemas.microsoft.com/office/drawing/2014/main" id="{891FACCB-A94D-7D0A-8C64-DEDD67DCD3E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147" name="Text Placeholder 2">
            <a:extLst>
              <a:ext uri="{FF2B5EF4-FFF2-40B4-BE49-F238E27FC236}">
                <a16:creationId xmlns:a16="http://schemas.microsoft.com/office/drawing/2014/main" id="{97EBFA53-D6AC-8B2D-FFF5-86DB91542E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371600"/>
            <a:ext cx="7543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262626"/>
          </a:solidFill>
          <a:latin typeface="Arial" pitchFamily="34" charset="0"/>
          <a:ea typeface="ＭＳ Ｐゴシック" pitchFamily="34" charset="-128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Arial" pitchFamily="34" charset="0"/>
          <a:ea typeface="ＭＳ Ｐゴシック" pitchFamily="34" charset="-128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Arial" pitchFamily="34" charset="0"/>
          <a:ea typeface="ＭＳ Ｐゴシック" pitchFamily="34" charset="-128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Arial" pitchFamily="34" charset="0"/>
          <a:ea typeface="ＭＳ Ｐゴシック" pitchFamily="34" charset="-128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Arial" pitchFamily="34" charset="0"/>
          <a:ea typeface="ＭＳ Ｐゴシック" pitchFamily="34" charset="-128"/>
          <a:cs typeface="Arial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ＭＳ Ｐゴシック" pitchFamily="34" charset="-128"/>
          <a:cs typeface="ＭＳ Ｐゴシック" charset="0"/>
        </a:defRPr>
      </a:lvl1pPr>
      <a:lvl2pPr marL="593725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ＭＳ Ｐゴシック" pitchFamily="34" charset="-128"/>
          <a:cs typeface="+mn-cs"/>
        </a:defRPr>
      </a:lvl2pPr>
      <a:lvl3pPr marL="8683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ＭＳ Ｐゴシック" pitchFamily="34" charset="-128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ＭＳ Ｐゴシック" pitchFamily="34" charset="-128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ＭＳ Ｐゴシック" pitchFamily="34" charset="-128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8.wmf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6.png" /><Relationship Id="rId4" Type="http://schemas.openxmlformats.org/officeDocument/2006/relationships/image" Target="../media/image9.wmf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0.png" /><Relationship Id="rId4" Type="http://schemas.openxmlformats.org/officeDocument/2006/relationships/image" Target="../media/image11.wmf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7.pn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6.wmf" /><Relationship Id="rId4" Type="http://schemas.openxmlformats.org/officeDocument/2006/relationships/oleObject" Target="../embeddings/oleObject4.bin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 /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8.png" /><Relationship Id="rId4" Type="http://schemas.openxmlformats.org/officeDocument/2006/relationships/image" Target="../media/image27.wmf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 /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1.xml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 /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1.xm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1.xml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1.xml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1.xml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1.xml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 /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1.xml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 /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1.xml" 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 /><Relationship Id="rId2" Type="http://schemas.openxmlformats.org/officeDocument/2006/relationships/notesSlide" Target="../notesSlides/notesSlide42.xml" /><Relationship Id="rId1" Type="http://schemas.openxmlformats.org/officeDocument/2006/relationships/slideLayout" Target="../slideLayouts/slideLayout1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 /><Relationship Id="rId2" Type="http://schemas.openxmlformats.org/officeDocument/2006/relationships/notesSlide" Target="../notesSlides/notesSlide43.xml" /><Relationship Id="rId1" Type="http://schemas.openxmlformats.org/officeDocument/2006/relationships/slideLayout" Target="../slideLayouts/slideLayout1.xml" 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 /><Relationship Id="rId2" Type="http://schemas.openxmlformats.org/officeDocument/2006/relationships/notesSlide" Target="../notesSlides/notesSlide44.xml" /><Relationship Id="rId1" Type="http://schemas.openxmlformats.org/officeDocument/2006/relationships/slideLayout" Target="../slideLayouts/slideLayout1.xml" 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 /><Relationship Id="rId2" Type="http://schemas.openxmlformats.org/officeDocument/2006/relationships/notesSlide" Target="../notesSlides/notesSlide45.xml" /><Relationship Id="rId1" Type="http://schemas.openxmlformats.org/officeDocument/2006/relationships/slideLayout" Target="../slideLayouts/slideLayout1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D7AB6AC-1338-811F-8560-76195D2A0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 </a:t>
            </a:r>
            <a:endParaRPr lang="en-US" altLang="en-US" b="1"/>
          </a:p>
        </p:txBody>
      </p:sp>
      <p:sp>
        <p:nvSpPr>
          <p:cNvPr id="8195" name="Text Box 7">
            <a:extLst>
              <a:ext uri="{FF2B5EF4-FFF2-40B4-BE49-F238E27FC236}">
                <a16:creationId xmlns:a16="http://schemas.microsoft.com/office/drawing/2014/main" id="{24A34946-033A-2AFD-D07D-5FFF8084C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114800"/>
            <a:ext cx="5410200" cy="184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3200" i="1">
              <a:solidFill>
                <a:schemeClr val="tx2"/>
              </a:solidFill>
              <a:latin typeface="Helvetica" panose="020B0604020202020204" pitchFamily="34" charset="0"/>
            </a:endParaRPr>
          </a:p>
          <a:p>
            <a:pPr algn="ctr"/>
            <a:r>
              <a:rPr lang="en-US" altLang="en-US">
                <a:solidFill>
                  <a:srgbClr val="FF0000"/>
                </a:solidFill>
                <a:latin typeface="Helvetica" panose="020B0604020202020204" pitchFamily="34" charset="0"/>
              </a:rPr>
              <a:t>Lecture 17-18</a:t>
            </a:r>
          </a:p>
          <a:p>
            <a:endParaRPr lang="en-US" altLang="en-US" sz="1400" b="1">
              <a:solidFill>
                <a:srgbClr val="FF0000"/>
              </a:solidFill>
            </a:endParaRPr>
          </a:p>
          <a:p>
            <a:endParaRPr lang="en-US" altLang="en-US" sz="1800" b="1" i="1">
              <a:solidFill>
                <a:schemeClr val="tx2"/>
              </a:solidFill>
            </a:endParaRPr>
          </a:p>
          <a:p>
            <a:endParaRPr lang="en-US" altLang="en-US" sz="1400"/>
          </a:p>
          <a:p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385C520B-2A0D-7524-63C4-192832AD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Graph </a:t>
            </a:r>
          </a:p>
        </p:txBody>
      </p:sp>
      <p:sp>
        <p:nvSpPr>
          <p:cNvPr id="9219" name="TextBox 3">
            <a:extLst>
              <a:ext uri="{FF2B5EF4-FFF2-40B4-BE49-F238E27FC236}">
                <a16:creationId xmlns:a16="http://schemas.microsoft.com/office/drawing/2014/main" id="{B7388537-F624-3CEF-0F76-7B6EFF929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Graphs and graph theory can be used to model:</a:t>
            </a:r>
          </a:p>
          <a:p>
            <a:endParaRPr lang="en-US" altLang="en-US" b="1">
              <a:solidFill>
                <a:srgbClr val="FF0000"/>
              </a:solidFill>
            </a:endParaRPr>
          </a:p>
          <a:p>
            <a:r>
              <a:rPr lang="en-US" altLang="en-US"/>
              <a:t>– Computer networks</a:t>
            </a:r>
          </a:p>
          <a:p>
            <a:r>
              <a:rPr lang="en-US" altLang="en-US"/>
              <a:t>– Social networks</a:t>
            </a:r>
          </a:p>
          <a:p>
            <a:r>
              <a:rPr lang="en-US" altLang="en-US"/>
              <a:t>– Communications networks</a:t>
            </a:r>
          </a:p>
          <a:p>
            <a:r>
              <a:rPr lang="en-US" altLang="en-US"/>
              <a:t>– Information networks</a:t>
            </a:r>
          </a:p>
          <a:p>
            <a:r>
              <a:rPr lang="en-US" altLang="en-US"/>
              <a:t>– Software design</a:t>
            </a:r>
          </a:p>
          <a:p>
            <a:r>
              <a:rPr lang="en-US" altLang="en-US"/>
              <a:t>– Transportation networks</a:t>
            </a:r>
          </a:p>
          <a:p>
            <a:r>
              <a:rPr lang="en-US" altLang="en-US"/>
              <a:t>– Biological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B0B47CA-ED1F-651D-B4E6-CC63D1FEF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 </a:t>
            </a:r>
            <a:endParaRPr lang="en-US" altLang="en-US" b="1"/>
          </a:p>
        </p:txBody>
      </p:sp>
      <p:sp>
        <p:nvSpPr>
          <p:cNvPr id="10243" name="TextBox 3">
            <a:extLst>
              <a:ext uri="{FF2B5EF4-FFF2-40B4-BE49-F238E27FC236}">
                <a16:creationId xmlns:a16="http://schemas.microsoft.com/office/drawing/2014/main" id="{C3D7271B-3249-28CE-48EC-3822270D4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52600"/>
            <a:ext cx="80010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</a:t>
            </a:r>
            <a:r>
              <a:rPr lang="en-US" altLang="en-US"/>
              <a:t> A </a:t>
            </a:r>
            <a:r>
              <a:rPr lang="en-US" altLang="en-US" i="1"/>
              <a:t>graph </a:t>
            </a:r>
            <a:r>
              <a:rPr lang="en-US" altLang="en-US" i="1">
                <a:solidFill>
                  <a:srgbClr val="FF0000"/>
                </a:solidFill>
              </a:rPr>
              <a:t>G = (V, E) </a:t>
            </a:r>
            <a:r>
              <a:rPr lang="en-US" altLang="en-US" i="1"/>
              <a:t>consists of a </a:t>
            </a:r>
            <a:r>
              <a:rPr lang="en-US" altLang="en-US" i="1">
                <a:solidFill>
                  <a:srgbClr val="00B050"/>
                </a:solidFill>
              </a:rPr>
              <a:t>nonempty set </a:t>
            </a:r>
            <a:r>
              <a:rPr lang="en-US" altLang="en-US" i="1">
                <a:solidFill>
                  <a:srgbClr val="FF0000"/>
                </a:solidFill>
              </a:rPr>
              <a:t>V of vertices </a:t>
            </a:r>
            <a:r>
              <a:rPr lang="en-US" altLang="en-US" i="1"/>
              <a:t>(or nodes) and </a:t>
            </a:r>
            <a:r>
              <a:rPr lang="en-US" altLang="en-US" i="1">
                <a:solidFill>
                  <a:srgbClr val="FF0000"/>
                </a:solidFill>
              </a:rPr>
              <a:t>a set E of edges</a:t>
            </a:r>
            <a:r>
              <a:rPr lang="en-US" altLang="en-US" i="1"/>
              <a:t>. Each </a:t>
            </a:r>
            <a:r>
              <a:rPr lang="en-US" altLang="en-US" i="1">
                <a:solidFill>
                  <a:srgbClr val="FF0000"/>
                </a:solidFill>
              </a:rPr>
              <a:t>edge </a:t>
            </a:r>
            <a:r>
              <a:rPr lang="en-US" altLang="en-US" i="1"/>
              <a:t>has either one </a:t>
            </a:r>
            <a:r>
              <a:rPr lang="en-US" altLang="en-US"/>
              <a:t>or two vertices associated with it, called its </a:t>
            </a:r>
            <a:r>
              <a:rPr lang="en-US" altLang="en-US" i="1">
                <a:solidFill>
                  <a:srgbClr val="FF0000"/>
                </a:solidFill>
              </a:rPr>
              <a:t>endpoints</a:t>
            </a:r>
            <a:r>
              <a:rPr lang="en-US" altLang="en-US" i="1"/>
              <a:t>. An edge is </a:t>
            </a:r>
            <a:r>
              <a:rPr lang="en-US" altLang="en-US"/>
              <a:t>said to </a:t>
            </a:r>
            <a:r>
              <a:rPr lang="en-US" altLang="en-US" i="1"/>
              <a:t>connect its endpoints.</a:t>
            </a:r>
          </a:p>
          <a:p>
            <a:endParaRPr lang="en-US" altLang="en-US" i="1"/>
          </a:p>
          <a:p>
            <a:endParaRPr lang="en-US" altLang="en-US" i="1"/>
          </a:p>
          <a:p>
            <a:r>
              <a:rPr lang="en-US" altLang="en-US" i="1">
                <a:solidFill>
                  <a:srgbClr val="FF0000"/>
                </a:solidFill>
              </a:rPr>
              <a:t>Example</a:t>
            </a:r>
            <a:endParaRPr lang="en-US" altLang="en-US">
              <a:solidFill>
                <a:srgbClr val="FF0000"/>
              </a:solidFill>
            </a:endParaRPr>
          </a:p>
        </p:txBody>
      </p:sp>
      <p:pic>
        <p:nvPicPr>
          <p:cNvPr id="10244" name="Picture 2">
            <a:extLst>
              <a:ext uri="{FF2B5EF4-FFF2-40B4-BE49-F238E27FC236}">
                <a16:creationId xmlns:a16="http://schemas.microsoft.com/office/drawing/2014/main" id="{D3FF9D2E-6977-F0A8-A3E9-DEF50A56E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572000"/>
            <a:ext cx="298132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22AE979-EA09-993E-5EBC-EA1398C333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Terminology</a:t>
            </a:r>
            <a:endParaRPr lang="en-US" altLang="en-US" b="1"/>
          </a:p>
        </p:txBody>
      </p:sp>
      <p:sp>
        <p:nvSpPr>
          <p:cNvPr id="11267" name="TextBox 3">
            <a:extLst>
              <a:ext uri="{FF2B5EF4-FFF2-40B4-BE49-F238E27FC236}">
                <a16:creationId xmlns:a16="http://schemas.microsoft.com/office/drawing/2014/main" id="{7333E9B7-9973-71DC-C1A8-D4A3C67A3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0010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In a </a:t>
            </a:r>
            <a:r>
              <a:rPr lang="en-US" altLang="en-US" i="1">
                <a:solidFill>
                  <a:srgbClr val="FF0000"/>
                </a:solidFill>
              </a:rPr>
              <a:t>simple graph </a:t>
            </a:r>
            <a:r>
              <a:rPr lang="en-US" altLang="en-US" i="1"/>
              <a:t>each </a:t>
            </a:r>
            <a:r>
              <a:rPr lang="en-US" altLang="en-US" i="1">
                <a:solidFill>
                  <a:srgbClr val="FF0000"/>
                </a:solidFill>
              </a:rPr>
              <a:t>edge connects two different vertices</a:t>
            </a:r>
            <a:r>
              <a:rPr lang="en-US" altLang="en-US" i="1"/>
              <a:t> and </a:t>
            </a:r>
            <a:r>
              <a:rPr lang="en-US" altLang="en-US">
                <a:solidFill>
                  <a:srgbClr val="FF0000"/>
                </a:solidFill>
              </a:rPr>
              <a:t>no two edges connect the same pair </a:t>
            </a:r>
            <a:r>
              <a:rPr lang="en-US" altLang="en-US"/>
              <a:t>of vertices.</a:t>
            </a:r>
          </a:p>
          <a:p>
            <a:endParaRPr lang="en-US" altLang="en-US"/>
          </a:p>
          <a:p>
            <a:r>
              <a:rPr lang="en-US" altLang="en-US"/>
              <a:t> </a:t>
            </a:r>
            <a:r>
              <a:rPr lang="en-US" altLang="en-US" i="1">
                <a:solidFill>
                  <a:srgbClr val="FF0000"/>
                </a:solidFill>
              </a:rPr>
              <a:t>Multigraphs</a:t>
            </a:r>
            <a:r>
              <a:rPr lang="en-US" altLang="en-US" i="1"/>
              <a:t> may have </a:t>
            </a:r>
            <a:r>
              <a:rPr lang="en-US" altLang="en-US" i="1">
                <a:solidFill>
                  <a:srgbClr val="FF0000"/>
                </a:solidFill>
              </a:rPr>
              <a:t>multiple edges connecting the same two </a:t>
            </a:r>
            <a:r>
              <a:rPr lang="en-US" altLang="en-US">
                <a:solidFill>
                  <a:srgbClr val="FF0000"/>
                </a:solidFill>
              </a:rPr>
              <a:t>vertices</a:t>
            </a:r>
            <a:r>
              <a:rPr lang="en-US" altLang="en-US"/>
              <a:t>. When </a:t>
            </a:r>
            <a:r>
              <a:rPr lang="en-US" altLang="en-US" i="1"/>
              <a:t>m different edges connect the vertices u and v, we </a:t>
            </a:r>
            <a:r>
              <a:rPr lang="en-US" altLang="en-US"/>
              <a:t>say that {</a:t>
            </a:r>
            <a:r>
              <a:rPr lang="en-US" altLang="en-US" i="1"/>
              <a:t>u,v} is an edge of multiplicity m. </a:t>
            </a:r>
          </a:p>
          <a:p>
            <a:endParaRPr lang="en-US" altLang="en-US" i="1"/>
          </a:p>
          <a:p>
            <a:r>
              <a:rPr lang="en-US" altLang="en-US"/>
              <a:t>• An edge that connects a </a:t>
            </a:r>
            <a:r>
              <a:rPr lang="en-US" altLang="en-US">
                <a:solidFill>
                  <a:srgbClr val="FF0000"/>
                </a:solidFill>
              </a:rPr>
              <a:t>vertex to itself </a:t>
            </a:r>
            <a:r>
              <a:rPr lang="en-US" altLang="en-US"/>
              <a:t>is called a </a:t>
            </a:r>
            <a:r>
              <a:rPr lang="en-US" altLang="en-US" i="1">
                <a:solidFill>
                  <a:srgbClr val="FF0000"/>
                </a:solidFill>
              </a:rPr>
              <a:t>loop</a:t>
            </a:r>
            <a:r>
              <a:rPr lang="en-US" altLang="en-US" i="1"/>
              <a:t>.</a:t>
            </a:r>
          </a:p>
          <a:p>
            <a:endParaRPr lang="en-US" altLang="en-US" i="1"/>
          </a:p>
          <a:p>
            <a:r>
              <a:rPr lang="en-US" altLang="en-US"/>
              <a:t>• A </a:t>
            </a:r>
            <a:r>
              <a:rPr lang="en-US" altLang="en-US" i="1">
                <a:solidFill>
                  <a:srgbClr val="FF0000"/>
                </a:solidFill>
              </a:rPr>
              <a:t>pseudograph</a:t>
            </a:r>
            <a:r>
              <a:rPr lang="en-US" altLang="en-US" i="1"/>
              <a:t> may include loops, as well as multiple edges </a:t>
            </a:r>
            <a:r>
              <a:rPr lang="en-US" altLang="en-US"/>
              <a:t>connecting the same pair of vertices.</a:t>
            </a:r>
            <a:endParaRPr lang="en-US" altLang="en-US">
              <a:solidFill>
                <a:srgbClr val="FF0000"/>
              </a:solidFill>
            </a:endParaRPr>
          </a:p>
        </p:txBody>
      </p:sp>
      <p:pic>
        <p:nvPicPr>
          <p:cNvPr id="11268" name="Picture 2">
            <a:extLst>
              <a:ext uri="{FF2B5EF4-FFF2-40B4-BE49-F238E27FC236}">
                <a16:creationId xmlns:a16="http://schemas.microsoft.com/office/drawing/2014/main" id="{F4FC4CBA-4A73-8140-45A5-20AB8AABE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524000"/>
            <a:ext cx="106680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2">
            <a:extLst>
              <a:ext uri="{FF2B5EF4-FFF2-40B4-BE49-F238E27FC236}">
                <a16:creationId xmlns:a16="http://schemas.microsoft.com/office/drawing/2014/main" id="{A677935A-7B6A-61EE-EC34-A7CF75F07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5851525"/>
            <a:ext cx="16652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825E8C4-E378-687B-7F5A-C924545A1E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Directed graph</a:t>
            </a:r>
            <a:endParaRPr lang="en-US" altLang="en-US" b="1"/>
          </a:p>
        </p:txBody>
      </p:sp>
      <p:sp>
        <p:nvSpPr>
          <p:cNvPr id="12291" name="TextBox 3">
            <a:extLst>
              <a:ext uri="{FF2B5EF4-FFF2-40B4-BE49-F238E27FC236}">
                <a16:creationId xmlns:a16="http://schemas.microsoft.com/office/drawing/2014/main" id="{E7F4BA56-D750-3E0F-EC8D-5ECADC346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0010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Definition:  </a:t>
            </a:r>
            <a:r>
              <a:rPr lang="en-US" altLang="en-US" sz="2000"/>
              <a:t>A directed graph (or digraph) </a:t>
            </a:r>
            <a:r>
              <a:rPr lang="en-US" altLang="en-US" sz="2000">
                <a:solidFill>
                  <a:srgbClr val="FF0000"/>
                </a:solidFill>
              </a:rPr>
              <a:t>G = (V, E) </a:t>
            </a:r>
            <a:r>
              <a:rPr lang="en-US" altLang="en-US" sz="2000"/>
              <a:t>consists of a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nonempty set V of vertices </a:t>
            </a:r>
            <a:r>
              <a:rPr lang="en-US" altLang="en-US" sz="2000"/>
              <a:t>(or nodes) and </a:t>
            </a:r>
            <a:r>
              <a:rPr lang="en-US" altLang="en-US" sz="2000">
                <a:solidFill>
                  <a:srgbClr val="FF0000"/>
                </a:solidFill>
              </a:rPr>
              <a:t>a set E of directed edges</a:t>
            </a:r>
          </a:p>
          <a:p>
            <a:r>
              <a:rPr lang="en-US" altLang="en-US" sz="2000"/>
              <a:t>(or arcs). Each </a:t>
            </a:r>
            <a:r>
              <a:rPr lang="en-US" altLang="en-US" sz="2000">
                <a:solidFill>
                  <a:srgbClr val="FF0000"/>
                </a:solidFill>
              </a:rPr>
              <a:t>edge </a:t>
            </a:r>
            <a:r>
              <a:rPr lang="en-US" altLang="en-US" sz="2000"/>
              <a:t>is associated with an</a:t>
            </a:r>
            <a:r>
              <a:rPr lang="en-US" altLang="en-US" sz="2000">
                <a:solidFill>
                  <a:srgbClr val="FF0000"/>
                </a:solidFill>
              </a:rPr>
              <a:t> </a:t>
            </a:r>
            <a:r>
              <a:rPr lang="en-US" altLang="en-US" sz="2000">
                <a:solidFill>
                  <a:srgbClr val="00B050"/>
                </a:solidFill>
              </a:rPr>
              <a:t>ordered pair </a:t>
            </a:r>
            <a:r>
              <a:rPr lang="en-US" altLang="en-US" sz="2000">
                <a:solidFill>
                  <a:srgbClr val="FF0000"/>
                </a:solidFill>
              </a:rPr>
              <a:t>of vertices</a:t>
            </a:r>
            <a:r>
              <a:rPr lang="en-US" altLang="en-US" sz="2000"/>
              <a:t>.</a:t>
            </a:r>
          </a:p>
          <a:p>
            <a:r>
              <a:rPr lang="en-US" altLang="en-US" sz="2000"/>
              <a:t>The directed edge associated with the ordered pair (u,v) is said to</a:t>
            </a:r>
          </a:p>
          <a:p>
            <a:r>
              <a:rPr lang="en-US" altLang="en-US" sz="2000" i="1">
                <a:solidFill>
                  <a:srgbClr val="FF0000"/>
                </a:solidFill>
              </a:rPr>
              <a:t>start at u and end at v</a:t>
            </a:r>
            <a:r>
              <a:rPr lang="en-US" altLang="en-US" sz="2000"/>
              <a:t>.</a:t>
            </a:r>
          </a:p>
          <a:p>
            <a:endParaRPr lang="en-US" altLang="en-US" sz="2000"/>
          </a:p>
          <a:p>
            <a:endParaRPr lang="en-US" altLang="en-US" sz="2000">
              <a:solidFill>
                <a:srgbClr val="FF0000"/>
              </a:solidFill>
            </a:endParaRPr>
          </a:p>
          <a:p>
            <a:endParaRPr lang="en-US" altLang="en-US" sz="2000">
              <a:solidFill>
                <a:srgbClr val="FF0000"/>
              </a:solidFill>
            </a:endParaRPr>
          </a:p>
          <a:p>
            <a:endParaRPr lang="en-US" altLang="en-US" sz="2000">
              <a:solidFill>
                <a:srgbClr val="FF0000"/>
              </a:solidFill>
            </a:endParaRPr>
          </a:p>
          <a:p>
            <a:endParaRPr lang="en-US" altLang="en-US" sz="2000">
              <a:solidFill>
                <a:srgbClr val="FF0000"/>
              </a:solidFill>
            </a:endParaRPr>
          </a:p>
          <a:p>
            <a:r>
              <a:rPr lang="en-US" altLang="en-US" sz="2000">
                <a:solidFill>
                  <a:srgbClr val="FF0000"/>
                </a:solidFill>
              </a:rPr>
              <a:t>Remark:</a:t>
            </a:r>
          </a:p>
          <a:p>
            <a:r>
              <a:rPr lang="en-US" altLang="en-US" sz="2000"/>
              <a:t>– Graphs where the end points of an edge are not ordered are said</a:t>
            </a:r>
          </a:p>
          <a:p>
            <a:r>
              <a:rPr lang="en-US" altLang="en-US" sz="2000"/>
              <a:t>to be undirected graphs.</a:t>
            </a:r>
            <a:endParaRPr lang="en-US" altLang="en-US" sz="2000">
              <a:solidFill>
                <a:srgbClr val="FF0000"/>
              </a:solidFill>
            </a:endParaRPr>
          </a:p>
        </p:txBody>
      </p:sp>
      <p:pic>
        <p:nvPicPr>
          <p:cNvPr id="12292" name="Picture 2">
            <a:extLst>
              <a:ext uri="{FF2B5EF4-FFF2-40B4-BE49-F238E27FC236}">
                <a16:creationId xmlns:a16="http://schemas.microsoft.com/office/drawing/2014/main" id="{8EBE1117-47D3-6BD5-99DD-2F37C3A0B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200400"/>
            <a:ext cx="23050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E898B73-AD9D-C577-936A-6AA0B32DF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Directed graph</a:t>
            </a:r>
            <a:endParaRPr lang="en-US" altLang="en-US" b="1"/>
          </a:p>
        </p:txBody>
      </p:sp>
      <p:sp>
        <p:nvSpPr>
          <p:cNvPr id="13315" name="TextBox 3">
            <a:extLst>
              <a:ext uri="{FF2B5EF4-FFF2-40B4-BE49-F238E27FC236}">
                <a16:creationId xmlns:a16="http://schemas.microsoft.com/office/drawing/2014/main" id="{91BCFCAC-181F-FCFB-D8BC-A9E5A0D60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0010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A simple directed graph has no loops and no multiple edges.</a:t>
            </a:r>
          </a:p>
          <a:p>
            <a:r>
              <a:rPr lang="en-US" altLang="en-US" sz="2000" b="1"/>
              <a:t>Example:</a:t>
            </a:r>
          </a:p>
          <a:p>
            <a:endParaRPr lang="en-US" altLang="en-US" sz="2000" b="1"/>
          </a:p>
          <a:p>
            <a:endParaRPr lang="en-US" altLang="en-US" sz="2000" b="1"/>
          </a:p>
          <a:p>
            <a:endParaRPr lang="en-US" altLang="en-US" sz="2000" b="1"/>
          </a:p>
          <a:p>
            <a:endParaRPr lang="en-US" altLang="en-US" sz="2000" b="1"/>
          </a:p>
          <a:p>
            <a:r>
              <a:rPr lang="en-US" altLang="en-US" sz="2000"/>
              <a:t>• A directed multigraph may have multiple directed edges.</a:t>
            </a:r>
          </a:p>
          <a:p>
            <a:r>
              <a:rPr lang="en-US" altLang="en-US" sz="2000"/>
              <a:t>When there are </a:t>
            </a:r>
            <a:r>
              <a:rPr lang="en-US" altLang="en-US" sz="2000">
                <a:solidFill>
                  <a:srgbClr val="FF0000"/>
                </a:solidFill>
              </a:rPr>
              <a:t>m directed edges from the vertex u to the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vertex v</a:t>
            </a:r>
            <a:r>
              <a:rPr lang="en-US" altLang="en-US" sz="2000"/>
              <a:t>, we say that </a:t>
            </a:r>
            <a:r>
              <a:rPr lang="en-US" altLang="en-US" sz="2000">
                <a:solidFill>
                  <a:srgbClr val="FF0000"/>
                </a:solidFill>
              </a:rPr>
              <a:t>(u,v) </a:t>
            </a:r>
            <a:r>
              <a:rPr lang="en-US" altLang="en-US" sz="2000"/>
              <a:t>is an edge of multiplicity </a:t>
            </a:r>
            <a:r>
              <a:rPr lang="en-US" altLang="en-US" sz="2000">
                <a:solidFill>
                  <a:srgbClr val="FF0000"/>
                </a:solidFill>
              </a:rPr>
              <a:t>m</a:t>
            </a:r>
            <a:r>
              <a:rPr lang="en-US" altLang="en-US" sz="2000"/>
              <a:t>.</a:t>
            </a:r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Example:</a:t>
            </a:r>
          </a:p>
          <a:p>
            <a:r>
              <a:rPr lang="en-US" altLang="en-US" sz="2000"/>
              <a:t>• multiplicity of (</a:t>
            </a:r>
            <a:r>
              <a:rPr lang="en-US" altLang="en-US" sz="2000">
                <a:solidFill>
                  <a:srgbClr val="FF0000"/>
                </a:solidFill>
              </a:rPr>
              <a:t>a,b</a:t>
            </a:r>
            <a:r>
              <a:rPr lang="en-US" altLang="en-US" sz="2000"/>
              <a:t>) is ?</a:t>
            </a:r>
          </a:p>
          <a:p>
            <a:r>
              <a:rPr lang="en-US" altLang="en-US" sz="2000"/>
              <a:t>• and the multiplicity of (</a:t>
            </a:r>
            <a:r>
              <a:rPr lang="en-US" altLang="en-US" sz="2000">
                <a:solidFill>
                  <a:srgbClr val="FF0000"/>
                </a:solidFill>
              </a:rPr>
              <a:t>b,c</a:t>
            </a:r>
            <a:r>
              <a:rPr lang="en-US" altLang="en-US" sz="2000"/>
              <a:t>) is ?</a:t>
            </a:r>
            <a:endParaRPr lang="en-US" altLang="en-US" sz="2000">
              <a:solidFill>
                <a:srgbClr val="FF0000"/>
              </a:solidFill>
            </a:endParaRPr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DDA0050D-EC8F-E865-CE9E-5FBECD3BA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05000"/>
            <a:ext cx="23050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3">
            <a:extLst>
              <a:ext uri="{FF2B5EF4-FFF2-40B4-BE49-F238E27FC236}">
                <a16:creationId xmlns:a16="http://schemas.microsoft.com/office/drawing/2014/main" id="{1688CA9D-4705-BA11-44FF-2F00770BD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495800"/>
            <a:ext cx="2489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F78CE65-2C0B-6160-357C-CE7112E25C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Directed graph</a:t>
            </a:r>
            <a:endParaRPr lang="en-US" altLang="en-US" b="1"/>
          </a:p>
        </p:txBody>
      </p:sp>
      <p:sp>
        <p:nvSpPr>
          <p:cNvPr id="14339" name="TextBox 3">
            <a:extLst>
              <a:ext uri="{FF2B5EF4-FFF2-40B4-BE49-F238E27FC236}">
                <a16:creationId xmlns:a16="http://schemas.microsoft.com/office/drawing/2014/main" id="{CA4B181B-066C-17FE-3C08-2E41E5A85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0010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A simple directed graph has no loops and no multiple edges.</a:t>
            </a:r>
          </a:p>
          <a:p>
            <a:r>
              <a:rPr lang="en-US" altLang="en-US" sz="2000" b="1"/>
              <a:t>Example:</a:t>
            </a:r>
          </a:p>
          <a:p>
            <a:endParaRPr lang="en-US" altLang="en-US" sz="2000" b="1"/>
          </a:p>
          <a:p>
            <a:endParaRPr lang="en-US" altLang="en-US" sz="2000" b="1"/>
          </a:p>
          <a:p>
            <a:endParaRPr lang="en-US" altLang="en-US" sz="2000" b="1"/>
          </a:p>
          <a:p>
            <a:endParaRPr lang="en-US" altLang="en-US" sz="2000" b="1"/>
          </a:p>
          <a:p>
            <a:r>
              <a:rPr lang="en-US" altLang="en-US" sz="2000"/>
              <a:t>• A </a:t>
            </a:r>
            <a:r>
              <a:rPr lang="en-US" altLang="en-US" sz="2000" i="1">
                <a:solidFill>
                  <a:srgbClr val="FF0000"/>
                </a:solidFill>
              </a:rPr>
              <a:t>directed multigraph </a:t>
            </a:r>
            <a:r>
              <a:rPr lang="en-US" altLang="en-US" sz="2000"/>
              <a:t>may have multiple directed edges.</a:t>
            </a:r>
          </a:p>
          <a:p>
            <a:r>
              <a:rPr lang="en-US" altLang="en-US" sz="2000"/>
              <a:t>When there are </a:t>
            </a:r>
            <a:r>
              <a:rPr lang="en-US" altLang="en-US" sz="2000">
                <a:solidFill>
                  <a:srgbClr val="FF0000"/>
                </a:solidFill>
              </a:rPr>
              <a:t>m directed edges from the vertex u to the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vertex v</a:t>
            </a:r>
            <a:r>
              <a:rPr lang="en-US" altLang="en-US" sz="2000"/>
              <a:t>, we say that </a:t>
            </a:r>
            <a:r>
              <a:rPr lang="en-US" altLang="en-US" sz="2000">
                <a:solidFill>
                  <a:srgbClr val="FF0000"/>
                </a:solidFill>
              </a:rPr>
              <a:t>(u,v) </a:t>
            </a:r>
            <a:r>
              <a:rPr lang="en-US" altLang="en-US" sz="2000"/>
              <a:t>is an edge of multiplicity </a:t>
            </a:r>
            <a:r>
              <a:rPr lang="en-US" altLang="en-US" sz="2000">
                <a:solidFill>
                  <a:srgbClr val="FF0000"/>
                </a:solidFill>
              </a:rPr>
              <a:t>m</a:t>
            </a:r>
            <a:r>
              <a:rPr lang="en-US" altLang="en-US" sz="2000"/>
              <a:t>.</a:t>
            </a:r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b="1"/>
              <a:t>Example:</a:t>
            </a:r>
          </a:p>
          <a:p>
            <a:r>
              <a:rPr lang="en-US" altLang="en-US" sz="2000"/>
              <a:t>• multiplicity of (</a:t>
            </a:r>
            <a:r>
              <a:rPr lang="en-US" altLang="en-US" sz="2000">
                <a:solidFill>
                  <a:srgbClr val="FF0000"/>
                </a:solidFill>
              </a:rPr>
              <a:t>a,b</a:t>
            </a:r>
            <a:r>
              <a:rPr lang="en-US" altLang="en-US" sz="2000"/>
              <a:t>) is ? </a:t>
            </a:r>
            <a:r>
              <a:rPr lang="en-US" altLang="en-US" sz="2000">
                <a:solidFill>
                  <a:srgbClr val="FF0000"/>
                </a:solidFill>
              </a:rPr>
              <a:t>1</a:t>
            </a:r>
          </a:p>
          <a:p>
            <a:r>
              <a:rPr lang="en-US" altLang="en-US" sz="2000"/>
              <a:t>• and the multiplicity of (</a:t>
            </a:r>
            <a:r>
              <a:rPr lang="en-US" altLang="en-US" sz="2000">
                <a:solidFill>
                  <a:srgbClr val="FF0000"/>
                </a:solidFill>
              </a:rPr>
              <a:t>b,c</a:t>
            </a:r>
            <a:r>
              <a:rPr lang="en-US" altLang="en-US" sz="2000"/>
              <a:t>) is ? </a:t>
            </a:r>
            <a:r>
              <a:rPr lang="en-US" altLang="en-US" sz="2000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14340" name="Picture 2">
            <a:extLst>
              <a:ext uri="{FF2B5EF4-FFF2-40B4-BE49-F238E27FC236}">
                <a16:creationId xmlns:a16="http://schemas.microsoft.com/office/drawing/2014/main" id="{381B35E0-4D4E-3FF5-8619-692766485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05000"/>
            <a:ext cx="23050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3">
            <a:extLst>
              <a:ext uri="{FF2B5EF4-FFF2-40B4-BE49-F238E27FC236}">
                <a16:creationId xmlns:a16="http://schemas.microsoft.com/office/drawing/2014/main" id="{9D76B357-E2EB-AE25-0A69-66724D77D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495800"/>
            <a:ext cx="2489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F3B7C3E-3986-858E-5B5A-D80C5B758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Undirected graph</a:t>
            </a:r>
            <a:endParaRPr lang="en-US" altLang="en-US" b="1"/>
          </a:p>
        </p:txBody>
      </p:sp>
      <p:sp>
        <p:nvSpPr>
          <p:cNvPr id="15363" name="TextBox 3">
            <a:extLst>
              <a:ext uri="{FF2B5EF4-FFF2-40B4-BE49-F238E27FC236}">
                <a16:creationId xmlns:a16="http://schemas.microsoft.com/office/drawing/2014/main" id="{4C19BFE4-648C-F482-3A73-72979CAB4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 1. </a:t>
            </a:r>
            <a:r>
              <a:rPr lang="en-US" altLang="en-US" sz="2000"/>
              <a:t>Two </a:t>
            </a:r>
            <a:r>
              <a:rPr lang="en-US" altLang="en-US" sz="2000">
                <a:solidFill>
                  <a:srgbClr val="FF0000"/>
                </a:solidFill>
              </a:rPr>
              <a:t>vertices u, v </a:t>
            </a:r>
            <a:r>
              <a:rPr lang="en-US" altLang="en-US" sz="2000"/>
              <a:t>in an undirected graph G are</a:t>
            </a:r>
          </a:p>
          <a:p>
            <a:r>
              <a:rPr lang="en-US" altLang="en-US" sz="2000"/>
              <a:t>called </a:t>
            </a:r>
            <a:r>
              <a:rPr lang="en-US" altLang="en-US" sz="2000">
                <a:solidFill>
                  <a:srgbClr val="FF0000"/>
                </a:solidFill>
              </a:rPr>
              <a:t>adjacent</a:t>
            </a:r>
            <a:r>
              <a:rPr lang="en-US" altLang="en-US" sz="2000"/>
              <a:t> (or neighbors) in G if there is an </a:t>
            </a:r>
            <a:r>
              <a:rPr lang="en-US" altLang="en-US" sz="2000">
                <a:solidFill>
                  <a:srgbClr val="FF0000"/>
                </a:solidFill>
              </a:rPr>
              <a:t>edge e</a:t>
            </a:r>
            <a:r>
              <a:rPr lang="en-US" altLang="en-US" sz="2000"/>
              <a:t> between u and v. Such an edge e is called incident with the vertices u and v</a:t>
            </a:r>
          </a:p>
          <a:p>
            <a:r>
              <a:rPr lang="en-US" altLang="en-US" sz="2000"/>
              <a:t>and e is said to connect u and v.</a:t>
            </a:r>
          </a:p>
          <a:p>
            <a:endParaRPr lang="en-US" altLang="en-US" sz="2000"/>
          </a:p>
          <a:p>
            <a:r>
              <a:rPr lang="en-US" altLang="en-US" sz="2000">
                <a:solidFill>
                  <a:srgbClr val="FF0000"/>
                </a:solidFill>
              </a:rPr>
              <a:t>Definition 2. </a:t>
            </a:r>
            <a:r>
              <a:rPr lang="en-US" altLang="en-US" sz="2000"/>
              <a:t>The set of </a:t>
            </a:r>
            <a:r>
              <a:rPr lang="en-US" altLang="en-US" sz="2000">
                <a:solidFill>
                  <a:srgbClr val="FF0000"/>
                </a:solidFill>
              </a:rPr>
              <a:t>all neighbors of a vertex v </a:t>
            </a:r>
            <a:r>
              <a:rPr lang="en-US" altLang="en-US" sz="2000"/>
              <a:t>of G = (V, E),</a:t>
            </a:r>
          </a:p>
          <a:p>
            <a:r>
              <a:rPr lang="en-US" altLang="en-US" sz="2000"/>
              <a:t>denoted by </a:t>
            </a:r>
            <a:r>
              <a:rPr lang="en-US" altLang="en-US" sz="2000">
                <a:solidFill>
                  <a:srgbClr val="FF0000"/>
                </a:solidFill>
              </a:rPr>
              <a:t>N(v)</a:t>
            </a:r>
            <a:r>
              <a:rPr lang="en-US" altLang="en-US" sz="2000"/>
              <a:t>, is called the neighborhood of v. If A is a subset</a:t>
            </a:r>
          </a:p>
          <a:p>
            <a:r>
              <a:rPr lang="en-US" altLang="en-US" sz="2000"/>
              <a:t>of V, we denote by N(A) the set of all vertices in G that are adjacent</a:t>
            </a:r>
          </a:p>
          <a:p>
            <a:r>
              <a:rPr lang="en-US" altLang="en-US" sz="2000"/>
              <a:t>to at least one vertex in A. So,</a:t>
            </a:r>
          </a:p>
          <a:p>
            <a:endParaRPr lang="en-US" altLang="en-US" sz="2000"/>
          </a:p>
          <a:p>
            <a:r>
              <a:rPr lang="en-US" altLang="en-US" sz="2000">
                <a:solidFill>
                  <a:srgbClr val="FF0000"/>
                </a:solidFill>
              </a:rPr>
              <a:t>Definition 3. </a:t>
            </a:r>
            <a:r>
              <a:rPr lang="en-US" altLang="en-US" sz="2000"/>
              <a:t>The </a:t>
            </a:r>
            <a:r>
              <a:rPr lang="en-US" altLang="en-US" sz="2000">
                <a:solidFill>
                  <a:srgbClr val="FF0000"/>
                </a:solidFill>
              </a:rPr>
              <a:t>degree of a vertex </a:t>
            </a:r>
            <a:r>
              <a:rPr lang="en-US" altLang="en-US" sz="2000"/>
              <a:t>in a undirected graph is the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number of edges incident with it</a:t>
            </a:r>
            <a:r>
              <a:rPr lang="en-US" altLang="en-US" sz="2000"/>
              <a:t>, except that a loop at a vertex</a:t>
            </a:r>
          </a:p>
          <a:p>
            <a:r>
              <a:rPr lang="en-US" altLang="en-US" sz="2000"/>
              <a:t>contributes two to the degree of that vertex. The degree of the</a:t>
            </a:r>
          </a:p>
          <a:p>
            <a:r>
              <a:rPr lang="en-US" altLang="en-US" sz="2000"/>
              <a:t>vertex v is denoted by deg(v).</a:t>
            </a:r>
            <a:endParaRPr lang="en-US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F2F5F7F-BEA7-73E7-428E-7F3E85499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Undirected graph</a:t>
            </a:r>
            <a:endParaRPr lang="en-US" altLang="en-US" b="1"/>
          </a:p>
        </p:txBody>
      </p:sp>
      <p:sp>
        <p:nvSpPr>
          <p:cNvPr id="16387" name="TextBox 3">
            <a:extLst>
              <a:ext uri="{FF2B5EF4-FFF2-40B4-BE49-F238E27FC236}">
                <a16:creationId xmlns:a16="http://schemas.microsoft.com/office/drawing/2014/main" id="{A89D74B6-F2E4-8B67-DE16-84196F940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Example: What are the degrees and neighborhoods of the vertices in the graphs </a:t>
            </a:r>
            <a:r>
              <a:rPr lang="en-US" altLang="en-US" sz="2000" i="1"/>
              <a:t>G?</a:t>
            </a:r>
            <a:endParaRPr lang="en-US" altLang="en-US" sz="2000">
              <a:solidFill>
                <a:srgbClr val="FF0000"/>
              </a:solidFill>
            </a:endParaRPr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2E10D04D-AE31-7D3E-DB33-18C1B217E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133600"/>
            <a:ext cx="347662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Box 4">
            <a:extLst>
              <a:ext uri="{FF2B5EF4-FFF2-40B4-BE49-F238E27FC236}">
                <a16:creationId xmlns:a16="http://schemas.microsoft.com/office/drawing/2014/main" id="{7436CE99-1BF9-8ECF-E8DD-163466E43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581400"/>
            <a:ext cx="83820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Solution:</a:t>
            </a:r>
          </a:p>
          <a:p>
            <a:r>
              <a:rPr lang="en-US" altLang="en-US" i="1"/>
              <a:t>G: deg(a) = </a:t>
            </a:r>
            <a:r>
              <a:rPr lang="en-US" altLang="en-US" i="1">
                <a:solidFill>
                  <a:srgbClr val="FF0000"/>
                </a:solidFill>
              </a:rPr>
              <a:t>2</a:t>
            </a:r>
            <a:r>
              <a:rPr lang="en-US" altLang="en-US" i="1"/>
              <a:t>, </a:t>
            </a:r>
          </a:p>
          <a:p>
            <a:r>
              <a:rPr lang="en-US" altLang="en-US" i="1"/>
              <a:t>deg(b) = deg(c) = deg(f ) = </a:t>
            </a:r>
            <a:r>
              <a:rPr lang="en-US" altLang="en-US" i="1">
                <a:solidFill>
                  <a:srgbClr val="FF0000"/>
                </a:solidFill>
              </a:rPr>
              <a:t>4</a:t>
            </a:r>
            <a:r>
              <a:rPr lang="en-US" altLang="en-US" i="1"/>
              <a:t>, </a:t>
            </a:r>
          </a:p>
          <a:p>
            <a:r>
              <a:rPr lang="en-US" altLang="en-US" i="1"/>
              <a:t>deg(d ) = </a:t>
            </a:r>
            <a:r>
              <a:rPr lang="en-US" altLang="en-US" i="1">
                <a:solidFill>
                  <a:srgbClr val="FF0000"/>
                </a:solidFill>
              </a:rPr>
              <a:t>1</a:t>
            </a:r>
            <a:r>
              <a:rPr lang="en-US" altLang="en-US" i="1"/>
              <a:t>,</a:t>
            </a:r>
          </a:p>
          <a:p>
            <a:r>
              <a:rPr lang="en-US" altLang="en-US"/>
              <a:t>deg(</a:t>
            </a:r>
            <a:r>
              <a:rPr lang="en-US" altLang="en-US" i="1"/>
              <a:t>e) = </a:t>
            </a:r>
            <a:r>
              <a:rPr lang="en-US" altLang="en-US" i="1">
                <a:solidFill>
                  <a:srgbClr val="FF0000"/>
                </a:solidFill>
              </a:rPr>
              <a:t>3</a:t>
            </a:r>
            <a:r>
              <a:rPr lang="en-US" altLang="en-US" i="1"/>
              <a:t>, </a:t>
            </a:r>
          </a:p>
          <a:p>
            <a:r>
              <a:rPr lang="en-US" altLang="en-US" i="1"/>
              <a:t>deg(g) = </a:t>
            </a:r>
            <a:r>
              <a:rPr lang="en-US" altLang="en-US" i="1">
                <a:solidFill>
                  <a:srgbClr val="FF0000"/>
                </a:solidFill>
              </a:rPr>
              <a:t>0</a:t>
            </a:r>
            <a:r>
              <a:rPr lang="en-US" altLang="en-US" i="1"/>
              <a:t>.</a:t>
            </a:r>
          </a:p>
          <a:p>
            <a:r>
              <a:rPr lang="pt-BR" altLang="en-US" i="1"/>
              <a:t>N(a) = {b, f }, N(b) = {a, c, e, f }, N(c) = {b, d, e, f },</a:t>
            </a:r>
          </a:p>
          <a:p>
            <a:r>
              <a:rPr lang="pt-BR" altLang="en-US" i="1"/>
              <a:t>N(d) = {c}, N(e) = {b, c , f }, N(f) = {a, b, c, e}, N(g) = </a:t>
            </a:r>
            <a:r>
              <a:rPr lang="en-US" altLang="en-US">
                <a:solidFill>
                  <a:srgbClr val="FF0000"/>
                </a:solidFill>
              </a:rPr>
              <a:t>Ø</a:t>
            </a:r>
            <a:r>
              <a:rPr lang="pt-BR" altLang="en-US" i="1"/>
              <a:t> 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F9E7273-8784-449D-E873-D89E64295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Undirected graph</a:t>
            </a:r>
            <a:endParaRPr lang="en-US" altLang="en-US" b="1"/>
          </a:p>
        </p:txBody>
      </p:sp>
      <p:sp>
        <p:nvSpPr>
          <p:cNvPr id="17411" name="TextBox 3">
            <a:extLst>
              <a:ext uri="{FF2B5EF4-FFF2-40B4-BE49-F238E27FC236}">
                <a16:creationId xmlns:a16="http://schemas.microsoft.com/office/drawing/2014/main" id="{04EB5657-CAA0-79D1-8ABA-8AA886E93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Example: What are the degrees and neighborhoods of the vertices in the graphs </a:t>
            </a:r>
            <a:r>
              <a:rPr lang="en-US" altLang="en-US" sz="2000" i="1"/>
              <a:t>H?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17412" name="TextBox 4">
            <a:extLst>
              <a:ext uri="{FF2B5EF4-FFF2-40B4-BE49-F238E27FC236}">
                <a16:creationId xmlns:a16="http://schemas.microsoft.com/office/drawing/2014/main" id="{3A1B3BDE-B115-C115-1CF4-BAE4EBA66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2000"/>
            <a:ext cx="8382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Solution:</a:t>
            </a:r>
          </a:p>
          <a:p>
            <a:r>
              <a:rPr lang="en-US" altLang="en-US" i="1"/>
              <a:t>H: deg(a) = 4, deg(b) = deg(e) = 6, deg(c) = 1, deg(d) = 5.</a:t>
            </a:r>
          </a:p>
          <a:p>
            <a:r>
              <a:rPr lang="pt-BR" altLang="en-US" i="1"/>
              <a:t>N(a) = {b, d, e}, N(b) = {a, b, c, d, e}, N(c) = {b},</a:t>
            </a:r>
          </a:p>
          <a:p>
            <a:r>
              <a:rPr lang="pt-BR" altLang="en-US" i="1"/>
              <a:t>N(d) = {a, b, e}, N(e) = {a, b ,d}.</a:t>
            </a:r>
            <a:endParaRPr lang="en-US" altLang="en-US"/>
          </a:p>
        </p:txBody>
      </p:sp>
      <p:pic>
        <p:nvPicPr>
          <p:cNvPr id="17413" name="Picture 2">
            <a:extLst>
              <a:ext uri="{FF2B5EF4-FFF2-40B4-BE49-F238E27FC236}">
                <a16:creationId xmlns:a16="http://schemas.microsoft.com/office/drawing/2014/main" id="{E7BC0BFB-8184-D170-C638-8551BF1DC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133600"/>
            <a:ext cx="294798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4CC5DABF-69CE-1413-5ED2-EAC955610F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Undirected graph</a:t>
            </a:r>
            <a:endParaRPr lang="en-US" altLang="en-US" b="1"/>
          </a:p>
        </p:txBody>
      </p:sp>
      <p:sp>
        <p:nvSpPr>
          <p:cNvPr id="1028" name="TextBox 3">
            <a:extLst>
              <a:ext uri="{FF2B5EF4-FFF2-40B4-BE49-F238E27FC236}">
                <a16:creationId xmlns:a16="http://schemas.microsoft.com/office/drawing/2014/main" id="{E2480637-0FAB-F090-F6D1-172219C43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1">
                <a:solidFill>
                  <a:srgbClr val="FF0000"/>
                </a:solidFill>
              </a:rPr>
              <a:t>Theorem 1</a:t>
            </a:r>
            <a:r>
              <a:rPr lang="en-US" altLang="en-US" sz="2000" b="1"/>
              <a:t> </a:t>
            </a:r>
            <a:r>
              <a:rPr lang="en-US" altLang="en-US" sz="2000" b="1" i="1"/>
              <a:t>: If G = (V,E) is an </a:t>
            </a:r>
            <a:r>
              <a:rPr lang="en-US" altLang="en-US" sz="2000"/>
              <a:t>undirected graph with </a:t>
            </a:r>
            <a:r>
              <a:rPr lang="en-US" altLang="en-US" sz="2000" i="1"/>
              <a:t>m edges, then</a:t>
            </a:r>
          </a:p>
          <a:p>
            <a:endParaRPr lang="en-US" altLang="en-US" sz="2000" i="1"/>
          </a:p>
          <a:p>
            <a:endParaRPr lang="en-US" altLang="en-US" sz="2000" i="1"/>
          </a:p>
          <a:p>
            <a:endParaRPr lang="en-US" altLang="en-US" sz="2000"/>
          </a:p>
          <a:p>
            <a:r>
              <a:rPr lang="en-US" altLang="en-US" sz="2000" b="1" i="1"/>
              <a:t>Proof:</a:t>
            </a:r>
          </a:p>
          <a:p>
            <a:r>
              <a:rPr lang="en-US" altLang="en-US" sz="2000"/>
              <a:t>Each </a:t>
            </a:r>
            <a:r>
              <a:rPr lang="en-US" altLang="en-US" sz="2000">
                <a:solidFill>
                  <a:srgbClr val="FF0000"/>
                </a:solidFill>
              </a:rPr>
              <a:t>edge contributes twice </a:t>
            </a:r>
            <a:r>
              <a:rPr lang="en-US" altLang="en-US" sz="2000"/>
              <a:t>to the degree count of all vertices.</a:t>
            </a:r>
          </a:p>
          <a:p>
            <a:r>
              <a:rPr lang="en-US" altLang="en-US" sz="2000"/>
              <a:t>Hence, both the left-hand and right-hand sides of this equation</a:t>
            </a:r>
          </a:p>
          <a:p>
            <a:r>
              <a:rPr lang="en-US" altLang="en-US" sz="2000"/>
              <a:t>equal twice the number of edges.</a:t>
            </a:r>
            <a:endParaRPr lang="en-US" altLang="en-US" sz="2000">
              <a:solidFill>
                <a:srgbClr val="FF0000"/>
              </a:solidFill>
            </a:endParaRPr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E60D7679-ACBD-A5A7-567B-AA1060DCAD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286000"/>
          <a:ext cx="1930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5160" imgH="342720" progId="Equation.3">
                  <p:embed/>
                </p:oleObj>
              </mc:Choice>
              <mc:Fallback>
                <p:oleObj name="Equation" r:id="rId3" imgW="965160" imgH="342720" progId="Equation.3">
                  <p:embed/>
                  <p:pic>
                    <p:nvPicPr>
                      <p:cNvPr id="1026" name="Object 2">
                        <a:extLst>
                          <a:ext uri="{FF2B5EF4-FFF2-40B4-BE49-F238E27FC236}">
                            <a16:creationId xmlns:a16="http://schemas.microsoft.com/office/drawing/2014/main" id="{E60D7679-ACBD-A5A7-567B-AA1060DCAD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286000"/>
                        <a:ext cx="1930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CA691CDA-B897-7FF2-A22B-B57058E6A2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Undirected graph</a:t>
            </a:r>
            <a:endParaRPr lang="en-US" altLang="en-US" b="1"/>
          </a:p>
        </p:txBody>
      </p:sp>
      <p:sp>
        <p:nvSpPr>
          <p:cNvPr id="2052" name="TextBox 3">
            <a:extLst>
              <a:ext uri="{FF2B5EF4-FFF2-40B4-BE49-F238E27FC236}">
                <a16:creationId xmlns:a16="http://schemas.microsoft.com/office/drawing/2014/main" id="{4DB63531-1765-9592-48D9-9C1AEB502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Theorem 2:</a:t>
            </a:r>
            <a:r>
              <a:rPr lang="en-US" altLang="en-US" sz="2000"/>
              <a:t> An </a:t>
            </a:r>
            <a:r>
              <a:rPr lang="en-US" altLang="en-US" sz="2000">
                <a:solidFill>
                  <a:srgbClr val="FF0000"/>
                </a:solidFill>
              </a:rPr>
              <a:t>undirected graph has an even number of vertices of odd degree</a:t>
            </a:r>
            <a:r>
              <a:rPr lang="en-US" altLang="en-US" sz="2000"/>
              <a:t>.</a:t>
            </a:r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 i="1"/>
              <a:t>Proof: Let V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 be the vertices of even degree and V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 be the vertices</a:t>
            </a:r>
          </a:p>
          <a:p>
            <a:r>
              <a:rPr lang="en-US" altLang="en-US" sz="2000"/>
              <a:t>of odd degree in an undirected graph </a:t>
            </a:r>
            <a:r>
              <a:rPr lang="en-US" altLang="en-US" sz="2000" i="1"/>
              <a:t>G = (V, E) with m edges.</a:t>
            </a:r>
          </a:p>
          <a:p>
            <a:r>
              <a:rPr lang="en-US" altLang="en-US" sz="2000"/>
              <a:t>Then</a:t>
            </a:r>
            <a:endParaRPr lang="en-US" altLang="en-US" sz="2000">
              <a:solidFill>
                <a:srgbClr val="FF0000"/>
              </a:solidFill>
            </a:endParaRPr>
          </a:p>
        </p:txBody>
      </p:sp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58943CDC-CB59-AD4F-7DA4-6B06265F6C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3962400"/>
          <a:ext cx="4851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25680" imgH="368280" progId="Equation.3">
                  <p:embed/>
                </p:oleObj>
              </mc:Choice>
              <mc:Fallback>
                <p:oleObj name="Equation" r:id="rId3" imgW="2425680" imgH="368280" progId="Equation.3">
                  <p:embed/>
                  <p:pic>
                    <p:nvPicPr>
                      <p:cNvPr id="2050" name="Object 2">
                        <a:extLst>
                          <a:ext uri="{FF2B5EF4-FFF2-40B4-BE49-F238E27FC236}">
                            <a16:creationId xmlns:a16="http://schemas.microsoft.com/office/drawing/2014/main" id="{58943CDC-CB59-AD4F-7DA4-6B06265F6C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962400"/>
                        <a:ext cx="4851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TextBox 4">
            <a:extLst>
              <a:ext uri="{FF2B5EF4-FFF2-40B4-BE49-F238E27FC236}">
                <a16:creationId xmlns:a16="http://schemas.microsoft.com/office/drawing/2014/main" id="{161477FD-4C05-B1A9-2D6C-CE3CDD17B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724400"/>
            <a:ext cx="1143000" cy="1016000"/>
          </a:xfrm>
          <a:prstGeom prst="rect">
            <a:avLst/>
          </a:prstGeom>
          <a:solidFill>
            <a:srgbClr val="66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must be</a:t>
            </a:r>
          </a:p>
          <a:p>
            <a:r>
              <a:rPr lang="en-US" altLang="en-US" sz="1200"/>
              <a:t>even since</a:t>
            </a:r>
          </a:p>
          <a:p>
            <a:r>
              <a:rPr lang="en-US" altLang="en-US" sz="1200"/>
              <a:t>deg(</a:t>
            </a:r>
            <a:r>
              <a:rPr lang="en-US" altLang="en-US" sz="1200" i="1"/>
              <a:t>v) is</a:t>
            </a:r>
          </a:p>
          <a:p>
            <a:r>
              <a:rPr lang="en-US" altLang="en-US" sz="1200"/>
              <a:t>even for</a:t>
            </a:r>
          </a:p>
          <a:p>
            <a:r>
              <a:rPr lang="en-US" altLang="en-US" sz="1200"/>
              <a:t>each </a:t>
            </a:r>
            <a:r>
              <a:rPr lang="en-US" altLang="en-US" sz="1200" i="1"/>
              <a:t>v ∈ V</a:t>
            </a:r>
            <a:r>
              <a:rPr lang="en-US" altLang="en-US" sz="1200" i="1" baseline="-25000"/>
              <a:t>1</a:t>
            </a:r>
            <a:endParaRPr lang="en-US" altLang="en-US" sz="1200" baseline="-25000"/>
          </a:p>
        </p:txBody>
      </p:sp>
      <p:sp>
        <p:nvSpPr>
          <p:cNvPr id="2054" name="TextBox 5">
            <a:extLst>
              <a:ext uri="{FF2B5EF4-FFF2-40B4-BE49-F238E27FC236}">
                <a16:creationId xmlns:a16="http://schemas.microsoft.com/office/drawing/2014/main" id="{CC507165-E428-52A3-BCCC-E35734EB5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724400"/>
            <a:ext cx="3124200" cy="1384300"/>
          </a:xfrm>
          <a:prstGeom prst="rect">
            <a:avLst/>
          </a:prstGeom>
          <a:solidFill>
            <a:srgbClr val="66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This sum must be even because 2</a:t>
            </a:r>
            <a:r>
              <a:rPr lang="en-US" altLang="en-US" sz="1200" i="1"/>
              <a:t>m</a:t>
            </a:r>
          </a:p>
          <a:p>
            <a:r>
              <a:rPr lang="en-US" altLang="en-US" sz="1200"/>
              <a:t>is even and the sum of the degrees</a:t>
            </a:r>
          </a:p>
          <a:p>
            <a:r>
              <a:rPr lang="en-US" altLang="en-US" sz="1200"/>
              <a:t>of the vertices of even degrees is</a:t>
            </a:r>
          </a:p>
          <a:p>
            <a:r>
              <a:rPr lang="en-US" altLang="en-US" sz="1200"/>
              <a:t>also even. Because this is the sum</a:t>
            </a:r>
          </a:p>
          <a:p>
            <a:r>
              <a:rPr lang="en-US" altLang="en-US" sz="1200"/>
              <a:t>of the degrees of all vertices of odd</a:t>
            </a:r>
          </a:p>
          <a:p>
            <a:r>
              <a:rPr lang="en-US" altLang="en-US" sz="1200"/>
              <a:t>degree in the graph, there must be</a:t>
            </a:r>
          </a:p>
          <a:p>
            <a:r>
              <a:rPr lang="en-US" altLang="en-US" sz="1200"/>
              <a:t>an even number of such vertices.</a:t>
            </a:r>
            <a:endParaRPr lang="en-US" altLang="en-US" sz="1200" baseline="-25000"/>
          </a:p>
        </p:txBody>
      </p:sp>
      <p:pic>
        <p:nvPicPr>
          <p:cNvPr id="2055" name="Picture 2">
            <a:extLst>
              <a:ext uri="{FF2B5EF4-FFF2-40B4-BE49-F238E27FC236}">
                <a16:creationId xmlns:a16="http://schemas.microsoft.com/office/drawing/2014/main" id="{EA1932AE-7450-3C3A-1B54-408D42768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10200"/>
            <a:ext cx="347662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50BF4BB-A1F9-CD0B-8AB0-112E2F7AF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Directed graph</a:t>
            </a:r>
            <a:endParaRPr lang="en-US" altLang="en-US" b="1"/>
          </a:p>
        </p:txBody>
      </p:sp>
      <p:sp>
        <p:nvSpPr>
          <p:cNvPr id="18435" name="TextBox 3">
            <a:extLst>
              <a:ext uri="{FF2B5EF4-FFF2-40B4-BE49-F238E27FC236}">
                <a16:creationId xmlns:a16="http://schemas.microsoft.com/office/drawing/2014/main" id="{46A07492-DB7A-EB25-9426-D7587B04A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Definition: </a:t>
            </a:r>
            <a:r>
              <a:rPr lang="en-US" altLang="en-US" sz="2000"/>
              <a:t>An directed graph G = (V, E) consists of V, a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nonempty set of vertices (or nodes), and E, a set of directed edges</a:t>
            </a:r>
          </a:p>
          <a:p>
            <a:r>
              <a:rPr lang="en-US" altLang="en-US" sz="2000"/>
              <a:t>or arcs. Each edge is </a:t>
            </a:r>
            <a:r>
              <a:rPr lang="en-US" altLang="en-US" sz="2000">
                <a:solidFill>
                  <a:srgbClr val="FF0000"/>
                </a:solidFill>
              </a:rPr>
              <a:t>an ordered pair </a:t>
            </a:r>
            <a:r>
              <a:rPr lang="en-US" altLang="en-US" sz="2000"/>
              <a:t>of vertices. The directed</a:t>
            </a:r>
          </a:p>
          <a:p>
            <a:r>
              <a:rPr lang="en-US" altLang="en-US" sz="2000"/>
              <a:t>edge (u,v) is said to start at u and end at v.</a:t>
            </a:r>
          </a:p>
          <a:p>
            <a:endParaRPr lang="en-US" altLang="en-US" sz="2000"/>
          </a:p>
          <a:p>
            <a:r>
              <a:rPr lang="en-US" altLang="en-US" sz="2000">
                <a:solidFill>
                  <a:srgbClr val="FF0000"/>
                </a:solidFill>
              </a:rPr>
              <a:t>Definition:</a:t>
            </a:r>
            <a:r>
              <a:rPr lang="en-US" altLang="en-US" sz="2000"/>
              <a:t> Let (u,v) be an edge in G. Then u is the </a:t>
            </a:r>
            <a:r>
              <a:rPr lang="en-US" altLang="en-US" sz="2000">
                <a:solidFill>
                  <a:srgbClr val="FF0000"/>
                </a:solidFill>
              </a:rPr>
              <a:t>initial vertex</a:t>
            </a:r>
          </a:p>
          <a:p>
            <a:r>
              <a:rPr lang="en-US" altLang="en-US" sz="2000"/>
              <a:t>of this edge and is adjacent to v and v is the </a:t>
            </a:r>
            <a:r>
              <a:rPr lang="en-US" altLang="en-US" sz="2000">
                <a:solidFill>
                  <a:srgbClr val="FF0000"/>
                </a:solidFill>
              </a:rPr>
              <a:t>terminal</a:t>
            </a:r>
            <a:r>
              <a:rPr lang="en-US" altLang="en-US" sz="2000"/>
              <a:t> (or end)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vertex</a:t>
            </a:r>
            <a:r>
              <a:rPr lang="en-US" altLang="en-US" sz="2000"/>
              <a:t> of this edge and is adjacent from u. The </a:t>
            </a:r>
            <a:r>
              <a:rPr lang="en-US" altLang="en-US" sz="2000">
                <a:solidFill>
                  <a:srgbClr val="FF0000"/>
                </a:solidFill>
              </a:rPr>
              <a:t>initial and terminal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vertices of a loop are the same.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312E004-D25C-03EC-6B20-69DF6C41B5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Directed graph</a:t>
            </a:r>
            <a:endParaRPr lang="en-US" altLang="en-US" b="1"/>
          </a:p>
        </p:txBody>
      </p:sp>
      <p:sp>
        <p:nvSpPr>
          <p:cNvPr id="19459" name="TextBox 3">
            <a:extLst>
              <a:ext uri="{FF2B5EF4-FFF2-40B4-BE49-F238E27FC236}">
                <a16:creationId xmlns:a16="http://schemas.microsoft.com/office/drawing/2014/main" id="{D924A669-CE58-39A6-7E61-CBB3E33E0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Definition: </a:t>
            </a:r>
            <a:r>
              <a:rPr lang="en-US" altLang="en-US" sz="2000"/>
              <a:t>The </a:t>
            </a:r>
            <a:r>
              <a:rPr lang="en-US" altLang="en-US" sz="2000" i="1">
                <a:solidFill>
                  <a:srgbClr val="FF0000"/>
                </a:solidFill>
              </a:rPr>
              <a:t>in-degree </a:t>
            </a:r>
            <a:r>
              <a:rPr lang="en-US" altLang="en-US" sz="2000" i="1"/>
              <a:t>of a vertex v, denoted deg</a:t>
            </a:r>
            <a:r>
              <a:rPr lang="en-US" altLang="en-US" sz="2000" i="1" baseline="30000">
                <a:solidFill>
                  <a:srgbClr val="FF0000"/>
                </a:solidFill>
              </a:rPr>
              <a:t>-</a:t>
            </a:r>
            <a:r>
              <a:rPr lang="en-US" altLang="en-US" sz="2000" i="1"/>
              <a:t> (v), is</a:t>
            </a:r>
          </a:p>
          <a:p>
            <a:r>
              <a:rPr lang="en-US" altLang="en-US" sz="2000"/>
              <a:t>the </a:t>
            </a:r>
            <a:r>
              <a:rPr lang="en-US" altLang="en-US" sz="2000">
                <a:solidFill>
                  <a:srgbClr val="FF0000"/>
                </a:solidFill>
              </a:rPr>
              <a:t>number of edges which terminate at </a:t>
            </a:r>
            <a:r>
              <a:rPr lang="en-US" altLang="en-US" sz="2000" i="1">
                <a:solidFill>
                  <a:srgbClr val="FF0000"/>
                </a:solidFill>
              </a:rPr>
              <a:t>v</a:t>
            </a:r>
            <a:r>
              <a:rPr lang="en-US" altLang="en-US" sz="2000" i="1"/>
              <a:t>. The out-degree of v,</a:t>
            </a:r>
          </a:p>
          <a:p>
            <a:r>
              <a:rPr lang="en-US" altLang="en-US" sz="2000"/>
              <a:t>denoted </a:t>
            </a:r>
            <a:r>
              <a:rPr lang="en-US" altLang="en-US" sz="2000" i="1">
                <a:solidFill>
                  <a:srgbClr val="FF0000"/>
                </a:solidFill>
              </a:rPr>
              <a:t>deg</a:t>
            </a:r>
            <a:r>
              <a:rPr lang="en-US" altLang="en-US" sz="2000" i="1" baseline="30000">
                <a:solidFill>
                  <a:srgbClr val="FF0000"/>
                </a:solidFill>
              </a:rPr>
              <a:t>+</a:t>
            </a:r>
            <a:r>
              <a:rPr lang="en-US" altLang="en-US" sz="2000" i="1">
                <a:solidFill>
                  <a:srgbClr val="FF0000"/>
                </a:solidFill>
              </a:rPr>
              <a:t>(v), </a:t>
            </a:r>
            <a:r>
              <a:rPr lang="en-US" altLang="en-US" sz="2000" i="1"/>
              <a:t>is the </a:t>
            </a:r>
            <a:r>
              <a:rPr lang="en-US" altLang="en-US" sz="2000" i="1">
                <a:solidFill>
                  <a:srgbClr val="FF0000"/>
                </a:solidFill>
              </a:rPr>
              <a:t>number of edges with v as their initial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vertex</a:t>
            </a:r>
            <a:r>
              <a:rPr lang="en-US" altLang="en-US" sz="2000"/>
              <a:t>. Note that a loop at a vertex contributes </a:t>
            </a:r>
            <a:r>
              <a:rPr lang="en-US" altLang="en-US" sz="2000">
                <a:solidFill>
                  <a:srgbClr val="FF0000"/>
                </a:solidFill>
              </a:rPr>
              <a:t>1</a:t>
            </a:r>
            <a:r>
              <a:rPr lang="en-US" altLang="en-US" sz="2000"/>
              <a:t> to </a:t>
            </a:r>
            <a:r>
              <a:rPr lang="en-US" altLang="en-US" sz="2000">
                <a:solidFill>
                  <a:srgbClr val="FF0000"/>
                </a:solidFill>
              </a:rPr>
              <a:t>both</a:t>
            </a:r>
            <a:r>
              <a:rPr lang="en-US" altLang="en-US" sz="2000"/>
              <a:t> the </a:t>
            </a:r>
            <a:r>
              <a:rPr lang="en-US" altLang="en-US" sz="2000">
                <a:solidFill>
                  <a:srgbClr val="FF0000"/>
                </a:solidFill>
              </a:rPr>
              <a:t>indegree</a:t>
            </a:r>
          </a:p>
          <a:p>
            <a:r>
              <a:rPr lang="en-US" altLang="en-US" sz="2000"/>
              <a:t>and the </a:t>
            </a:r>
            <a:r>
              <a:rPr lang="en-US" altLang="en-US" sz="2000">
                <a:solidFill>
                  <a:srgbClr val="FF0000"/>
                </a:solidFill>
              </a:rPr>
              <a:t>out-degree</a:t>
            </a:r>
            <a:r>
              <a:rPr lang="en-US" altLang="en-US" sz="2000"/>
              <a:t> of the vertex</a:t>
            </a:r>
          </a:p>
          <a:p>
            <a:endParaRPr lang="en-US" altLang="en-US" sz="2000">
              <a:solidFill>
                <a:srgbClr val="FF0000"/>
              </a:solidFill>
            </a:endParaRPr>
          </a:p>
          <a:p>
            <a:endParaRPr lang="en-US" altLang="en-US" sz="2000">
              <a:solidFill>
                <a:srgbClr val="FF0000"/>
              </a:solidFill>
            </a:endParaRPr>
          </a:p>
          <a:p>
            <a:r>
              <a:rPr lang="en-US" altLang="en-US" sz="2000">
                <a:solidFill>
                  <a:srgbClr val="FF0000"/>
                </a:solidFill>
              </a:rPr>
              <a:t>Example: </a:t>
            </a:r>
            <a:r>
              <a:rPr lang="en-US" altLang="en-US" sz="2000"/>
              <a:t>Assume graph G</a:t>
            </a:r>
          </a:p>
        </p:txBody>
      </p:sp>
      <p:pic>
        <p:nvPicPr>
          <p:cNvPr id="19460" name="Picture 2">
            <a:extLst>
              <a:ext uri="{FF2B5EF4-FFF2-40B4-BE49-F238E27FC236}">
                <a16:creationId xmlns:a16="http://schemas.microsoft.com/office/drawing/2014/main" id="{3D90E34E-F1AD-05EA-A02D-8F47ABADE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19600"/>
            <a:ext cx="31369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Box 4">
            <a:extLst>
              <a:ext uri="{FF2B5EF4-FFF2-40B4-BE49-F238E27FC236}">
                <a16:creationId xmlns:a16="http://schemas.microsoft.com/office/drawing/2014/main" id="{A54EA5AD-6CC3-7764-23D8-6A4317CD7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434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9462" name="TextBox 5">
            <a:extLst>
              <a:ext uri="{FF2B5EF4-FFF2-40B4-BE49-F238E27FC236}">
                <a16:creationId xmlns:a16="http://schemas.microsoft.com/office/drawing/2014/main" id="{230C39C8-9B04-D7C9-6AED-0B9FEAD08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38650"/>
            <a:ext cx="5105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i="1"/>
              <a:t>deg</a:t>
            </a:r>
            <a:r>
              <a:rPr lang="en-US" altLang="en-US" i="1" baseline="30000">
                <a:solidFill>
                  <a:srgbClr val="FF0000"/>
                </a:solidFill>
              </a:rPr>
              <a:t>-</a:t>
            </a:r>
            <a:r>
              <a:rPr lang="en-US" altLang="en-US" i="1"/>
              <a:t> (a)=2, deg</a:t>
            </a:r>
            <a:r>
              <a:rPr lang="en-US" altLang="en-US" i="1" baseline="30000">
                <a:solidFill>
                  <a:srgbClr val="FF0000"/>
                </a:solidFill>
              </a:rPr>
              <a:t>-</a:t>
            </a:r>
            <a:r>
              <a:rPr lang="en-US" altLang="en-US" i="1"/>
              <a:t> (b)=2, deg</a:t>
            </a:r>
            <a:r>
              <a:rPr lang="en-US" altLang="en-US" i="1" baseline="30000">
                <a:solidFill>
                  <a:srgbClr val="FF0000"/>
                </a:solidFill>
              </a:rPr>
              <a:t>-</a:t>
            </a:r>
            <a:r>
              <a:rPr lang="en-US" altLang="en-US" i="1"/>
              <a:t> (c)=3,        </a:t>
            </a:r>
            <a:endParaRPr lang="en-US" altLang="en-US"/>
          </a:p>
          <a:p>
            <a:r>
              <a:rPr lang="en-US" altLang="en-US" i="1"/>
              <a:t>        </a:t>
            </a:r>
            <a:endParaRPr lang="en-US" altLang="en-US"/>
          </a:p>
          <a:p>
            <a:r>
              <a:rPr lang="en-US" altLang="en-US" i="1"/>
              <a:t> deg</a:t>
            </a:r>
            <a:r>
              <a:rPr lang="en-US" altLang="en-US" i="1" baseline="30000">
                <a:solidFill>
                  <a:srgbClr val="FF0000"/>
                </a:solidFill>
              </a:rPr>
              <a:t>-</a:t>
            </a:r>
            <a:r>
              <a:rPr lang="en-US" altLang="en-US" i="1"/>
              <a:t> (d)=</a:t>
            </a:r>
            <a:r>
              <a:rPr lang="en-US" altLang="en-US" i="1">
                <a:solidFill>
                  <a:srgbClr val="FF0000"/>
                </a:solidFill>
              </a:rPr>
              <a:t>?</a:t>
            </a:r>
            <a:r>
              <a:rPr lang="en-US" altLang="en-US" i="1"/>
              <a:t>, deg</a:t>
            </a:r>
            <a:r>
              <a:rPr lang="en-US" altLang="en-US" i="1" baseline="30000">
                <a:solidFill>
                  <a:srgbClr val="FF0000"/>
                </a:solidFill>
              </a:rPr>
              <a:t>-</a:t>
            </a:r>
            <a:r>
              <a:rPr lang="en-US" altLang="en-US" i="1"/>
              <a:t> (e)=</a:t>
            </a:r>
            <a:r>
              <a:rPr lang="en-US" altLang="en-US" i="1">
                <a:solidFill>
                  <a:srgbClr val="FF0000"/>
                </a:solidFill>
              </a:rPr>
              <a:t>?</a:t>
            </a:r>
            <a:r>
              <a:rPr lang="en-US" altLang="en-US" i="1"/>
              <a:t>, deg</a:t>
            </a:r>
            <a:r>
              <a:rPr lang="en-US" altLang="en-US" i="1" baseline="30000">
                <a:solidFill>
                  <a:srgbClr val="FF0000"/>
                </a:solidFill>
              </a:rPr>
              <a:t>-</a:t>
            </a:r>
            <a:r>
              <a:rPr lang="en-US" altLang="en-US" i="1"/>
              <a:t> (f)=</a:t>
            </a:r>
            <a:r>
              <a:rPr lang="en-US" altLang="en-US" i="1">
                <a:solidFill>
                  <a:srgbClr val="FF0000"/>
                </a:solidFill>
              </a:rPr>
              <a:t>?</a:t>
            </a:r>
            <a:r>
              <a:rPr lang="en-US" altLang="en-US" i="1"/>
              <a:t>       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BBD47A2-FF13-B9D8-26B2-3566F0DC3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Directed graph</a:t>
            </a:r>
            <a:endParaRPr lang="en-US" altLang="en-US" b="1"/>
          </a:p>
        </p:txBody>
      </p:sp>
      <p:sp>
        <p:nvSpPr>
          <p:cNvPr id="20483" name="TextBox 3">
            <a:extLst>
              <a:ext uri="{FF2B5EF4-FFF2-40B4-BE49-F238E27FC236}">
                <a16:creationId xmlns:a16="http://schemas.microsoft.com/office/drawing/2014/main" id="{1D06DD61-0541-8CF1-C66C-DDF70CE58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Definition: </a:t>
            </a:r>
            <a:r>
              <a:rPr lang="en-US" altLang="en-US" sz="2000"/>
              <a:t>The </a:t>
            </a:r>
            <a:r>
              <a:rPr lang="en-US" altLang="en-US" sz="2000" i="1">
                <a:solidFill>
                  <a:srgbClr val="FF0000"/>
                </a:solidFill>
              </a:rPr>
              <a:t>in-degree </a:t>
            </a:r>
            <a:r>
              <a:rPr lang="en-US" altLang="en-US" sz="2000" i="1"/>
              <a:t>of a vertex v, denoted deg</a:t>
            </a:r>
            <a:r>
              <a:rPr lang="en-US" altLang="en-US" sz="2000" i="1" baseline="30000">
                <a:solidFill>
                  <a:srgbClr val="FF0000"/>
                </a:solidFill>
              </a:rPr>
              <a:t>-</a:t>
            </a:r>
            <a:r>
              <a:rPr lang="en-US" altLang="en-US" sz="2000" i="1"/>
              <a:t> (v), is</a:t>
            </a:r>
          </a:p>
          <a:p>
            <a:r>
              <a:rPr lang="en-US" altLang="en-US" sz="2000"/>
              <a:t>the </a:t>
            </a:r>
            <a:r>
              <a:rPr lang="en-US" altLang="en-US" sz="2000">
                <a:solidFill>
                  <a:srgbClr val="FF0000"/>
                </a:solidFill>
              </a:rPr>
              <a:t>number of edges which terminate at </a:t>
            </a:r>
            <a:r>
              <a:rPr lang="en-US" altLang="en-US" sz="2000" i="1">
                <a:solidFill>
                  <a:srgbClr val="FF0000"/>
                </a:solidFill>
              </a:rPr>
              <a:t>v</a:t>
            </a:r>
            <a:r>
              <a:rPr lang="en-US" altLang="en-US" sz="2000" i="1"/>
              <a:t>. The out-degree of v,</a:t>
            </a:r>
          </a:p>
          <a:p>
            <a:r>
              <a:rPr lang="en-US" altLang="en-US" sz="2000"/>
              <a:t>denoted </a:t>
            </a:r>
            <a:r>
              <a:rPr lang="en-US" altLang="en-US" sz="2000" i="1">
                <a:solidFill>
                  <a:srgbClr val="FF0000"/>
                </a:solidFill>
              </a:rPr>
              <a:t>deg</a:t>
            </a:r>
            <a:r>
              <a:rPr lang="en-US" altLang="en-US" sz="2000" i="1" baseline="30000">
                <a:solidFill>
                  <a:srgbClr val="FF0000"/>
                </a:solidFill>
              </a:rPr>
              <a:t>+</a:t>
            </a:r>
            <a:r>
              <a:rPr lang="en-US" altLang="en-US" sz="2000" i="1">
                <a:solidFill>
                  <a:srgbClr val="FF0000"/>
                </a:solidFill>
              </a:rPr>
              <a:t>(v), </a:t>
            </a:r>
            <a:r>
              <a:rPr lang="en-US" altLang="en-US" sz="2000" i="1"/>
              <a:t>is the </a:t>
            </a:r>
            <a:r>
              <a:rPr lang="en-US" altLang="en-US" sz="2000" i="1">
                <a:solidFill>
                  <a:srgbClr val="FF0000"/>
                </a:solidFill>
              </a:rPr>
              <a:t>number of edges with v as their initial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vertex</a:t>
            </a:r>
            <a:r>
              <a:rPr lang="en-US" altLang="en-US" sz="2000"/>
              <a:t>. Note that a loop at a vertex contributes </a:t>
            </a:r>
            <a:r>
              <a:rPr lang="en-US" altLang="en-US" sz="2000">
                <a:solidFill>
                  <a:srgbClr val="FF0000"/>
                </a:solidFill>
              </a:rPr>
              <a:t>1</a:t>
            </a:r>
            <a:r>
              <a:rPr lang="en-US" altLang="en-US" sz="2000"/>
              <a:t> to </a:t>
            </a:r>
            <a:r>
              <a:rPr lang="en-US" altLang="en-US" sz="2000">
                <a:solidFill>
                  <a:srgbClr val="FF0000"/>
                </a:solidFill>
              </a:rPr>
              <a:t>both</a:t>
            </a:r>
            <a:r>
              <a:rPr lang="en-US" altLang="en-US" sz="2000"/>
              <a:t> the </a:t>
            </a:r>
            <a:r>
              <a:rPr lang="en-US" altLang="en-US" sz="2000">
                <a:solidFill>
                  <a:srgbClr val="FF0000"/>
                </a:solidFill>
              </a:rPr>
              <a:t>indegree</a:t>
            </a:r>
          </a:p>
          <a:p>
            <a:r>
              <a:rPr lang="en-US" altLang="en-US" sz="2000"/>
              <a:t>and the </a:t>
            </a:r>
            <a:r>
              <a:rPr lang="en-US" altLang="en-US" sz="2000">
                <a:solidFill>
                  <a:srgbClr val="FF0000"/>
                </a:solidFill>
              </a:rPr>
              <a:t>out-degree</a:t>
            </a:r>
            <a:r>
              <a:rPr lang="en-US" altLang="en-US" sz="2000"/>
              <a:t> of the vertex</a:t>
            </a:r>
          </a:p>
          <a:p>
            <a:endParaRPr lang="en-US" altLang="en-US" sz="2000">
              <a:solidFill>
                <a:srgbClr val="FF0000"/>
              </a:solidFill>
            </a:endParaRPr>
          </a:p>
          <a:p>
            <a:endParaRPr lang="en-US" altLang="en-US" sz="2000">
              <a:solidFill>
                <a:srgbClr val="FF0000"/>
              </a:solidFill>
            </a:endParaRPr>
          </a:p>
          <a:p>
            <a:r>
              <a:rPr lang="en-US" altLang="en-US" sz="2000">
                <a:solidFill>
                  <a:srgbClr val="FF0000"/>
                </a:solidFill>
              </a:rPr>
              <a:t>Example: </a:t>
            </a:r>
            <a:r>
              <a:rPr lang="en-US" altLang="en-US" sz="2000"/>
              <a:t>Assume graph G</a:t>
            </a: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B6ED80E6-B5D5-3CE1-5FEB-AF083A75E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19600"/>
            <a:ext cx="31369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Box 4">
            <a:extLst>
              <a:ext uri="{FF2B5EF4-FFF2-40B4-BE49-F238E27FC236}">
                <a16:creationId xmlns:a16="http://schemas.microsoft.com/office/drawing/2014/main" id="{2164DA98-1ECB-6AF2-773F-27BF2F5C4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434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0486" name="TextBox 5">
            <a:extLst>
              <a:ext uri="{FF2B5EF4-FFF2-40B4-BE49-F238E27FC236}">
                <a16:creationId xmlns:a16="http://schemas.microsoft.com/office/drawing/2014/main" id="{E73B641D-9661-C838-5B39-1BA0DE7CE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38650"/>
            <a:ext cx="5105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i="1"/>
              <a:t>deg</a:t>
            </a:r>
            <a:r>
              <a:rPr lang="en-US" altLang="en-US" i="1" baseline="30000">
                <a:solidFill>
                  <a:srgbClr val="FF0000"/>
                </a:solidFill>
              </a:rPr>
              <a:t>-</a:t>
            </a:r>
            <a:r>
              <a:rPr lang="en-US" altLang="en-US" i="1"/>
              <a:t> (a)=2, deg</a:t>
            </a:r>
            <a:r>
              <a:rPr lang="en-US" altLang="en-US" i="1" baseline="30000">
                <a:solidFill>
                  <a:srgbClr val="FF0000"/>
                </a:solidFill>
              </a:rPr>
              <a:t>-</a:t>
            </a:r>
            <a:r>
              <a:rPr lang="en-US" altLang="en-US" i="1"/>
              <a:t> (b)=2, deg</a:t>
            </a:r>
            <a:r>
              <a:rPr lang="en-US" altLang="en-US" i="1" baseline="30000">
                <a:solidFill>
                  <a:srgbClr val="FF0000"/>
                </a:solidFill>
              </a:rPr>
              <a:t>-</a:t>
            </a:r>
            <a:r>
              <a:rPr lang="en-US" altLang="en-US" i="1"/>
              <a:t> (c)=2,        </a:t>
            </a:r>
            <a:endParaRPr lang="en-US" altLang="en-US"/>
          </a:p>
          <a:p>
            <a:r>
              <a:rPr lang="en-US" altLang="en-US" i="1"/>
              <a:t>        </a:t>
            </a:r>
            <a:endParaRPr lang="en-US" altLang="en-US"/>
          </a:p>
          <a:p>
            <a:r>
              <a:rPr lang="en-US" altLang="en-US" i="1"/>
              <a:t> deg</a:t>
            </a:r>
            <a:r>
              <a:rPr lang="en-US" altLang="en-US" i="1" baseline="30000">
                <a:solidFill>
                  <a:srgbClr val="FF0000"/>
                </a:solidFill>
              </a:rPr>
              <a:t>-</a:t>
            </a:r>
            <a:r>
              <a:rPr lang="en-US" altLang="en-US" i="1"/>
              <a:t> (d)=</a:t>
            </a:r>
            <a:r>
              <a:rPr lang="en-US" altLang="en-US" i="1">
                <a:solidFill>
                  <a:srgbClr val="FF0000"/>
                </a:solidFill>
              </a:rPr>
              <a:t>2</a:t>
            </a:r>
            <a:r>
              <a:rPr lang="en-US" altLang="en-US" i="1"/>
              <a:t>, deg</a:t>
            </a:r>
            <a:r>
              <a:rPr lang="en-US" altLang="en-US" i="1" baseline="30000">
                <a:solidFill>
                  <a:srgbClr val="FF0000"/>
                </a:solidFill>
              </a:rPr>
              <a:t>-</a:t>
            </a:r>
            <a:r>
              <a:rPr lang="en-US" altLang="en-US" i="1"/>
              <a:t> (e)=</a:t>
            </a:r>
            <a:r>
              <a:rPr lang="en-US" altLang="en-US" i="1">
                <a:solidFill>
                  <a:srgbClr val="FF0000"/>
                </a:solidFill>
              </a:rPr>
              <a:t>3</a:t>
            </a:r>
            <a:r>
              <a:rPr lang="en-US" altLang="en-US" i="1"/>
              <a:t>, deg</a:t>
            </a:r>
            <a:r>
              <a:rPr lang="en-US" altLang="en-US" i="1" baseline="30000">
                <a:solidFill>
                  <a:srgbClr val="FF0000"/>
                </a:solidFill>
              </a:rPr>
              <a:t>-</a:t>
            </a:r>
            <a:r>
              <a:rPr lang="en-US" altLang="en-US" i="1"/>
              <a:t> (f)=</a:t>
            </a:r>
            <a:r>
              <a:rPr lang="en-US" altLang="en-US" i="1">
                <a:solidFill>
                  <a:srgbClr val="FF0000"/>
                </a:solidFill>
              </a:rPr>
              <a:t>0</a:t>
            </a:r>
            <a:r>
              <a:rPr lang="en-US" altLang="en-US" i="1"/>
              <a:t>       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B05C314-A964-F355-AFEC-9016ADB6A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Directed graph</a:t>
            </a:r>
            <a:endParaRPr lang="en-US" altLang="en-US" b="1"/>
          </a:p>
        </p:txBody>
      </p:sp>
      <p:sp>
        <p:nvSpPr>
          <p:cNvPr id="21507" name="TextBox 3">
            <a:extLst>
              <a:ext uri="{FF2B5EF4-FFF2-40B4-BE49-F238E27FC236}">
                <a16:creationId xmlns:a16="http://schemas.microsoft.com/office/drawing/2014/main" id="{F9B10C71-FA4C-0BEB-E888-53ADFEB31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Definition: </a:t>
            </a:r>
            <a:r>
              <a:rPr lang="en-US" altLang="en-US" sz="2000"/>
              <a:t>The </a:t>
            </a:r>
            <a:r>
              <a:rPr lang="en-US" altLang="en-US" sz="2000" i="1">
                <a:solidFill>
                  <a:srgbClr val="FF0000"/>
                </a:solidFill>
              </a:rPr>
              <a:t>in-degree </a:t>
            </a:r>
            <a:r>
              <a:rPr lang="en-US" altLang="en-US" sz="2000" i="1"/>
              <a:t>of a vertex v, denoted deg</a:t>
            </a:r>
            <a:r>
              <a:rPr lang="en-US" altLang="en-US" sz="2000" i="1" baseline="30000">
                <a:solidFill>
                  <a:srgbClr val="FF0000"/>
                </a:solidFill>
              </a:rPr>
              <a:t>-</a:t>
            </a:r>
            <a:r>
              <a:rPr lang="en-US" altLang="en-US" sz="2000" i="1"/>
              <a:t> (v), is</a:t>
            </a:r>
          </a:p>
          <a:p>
            <a:r>
              <a:rPr lang="en-US" altLang="en-US" sz="2000"/>
              <a:t>the </a:t>
            </a:r>
            <a:r>
              <a:rPr lang="en-US" altLang="en-US" sz="2000">
                <a:solidFill>
                  <a:srgbClr val="FF0000"/>
                </a:solidFill>
              </a:rPr>
              <a:t>number of edges which terminate at </a:t>
            </a:r>
            <a:r>
              <a:rPr lang="en-US" altLang="en-US" sz="2000" i="1">
                <a:solidFill>
                  <a:srgbClr val="FF0000"/>
                </a:solidFill>
              </a:rPr>
              <a:t>v</a:t>
            </a:r>
            <a:r>
              <a:rPr lang="en-US" altLang="en-US" sz="2000" i="1"/>
              <a:t>. The out-degree of v,</a:t>
            </a:r>
          </a:p>
          <a:p>
            <a:r>
              <a:rPr lang="en-US" altLang="en-US" sz="2000"/>
              <a:t>denoted </a:t>
            </a:r>
            <a:r>
              <a:rPr lang="en-US" altLang="en-US" sz="2000" i="1">
                <a:solidFill>
                  <a:srgbClr val="FF0000"/>
                </a:solidFill>
              </a:rPr>
              <a:t>deg</a:t>
            </a:r>
            <a:r>
              <a:rPr lang="en-US" altLang="en-US" sz="2000" i="1" baseline="30000">
                <a:solidFill>
                  <a:srgbClr val="FF0000"/>
                </a:solidFill>
              </a:rPr>
              <a:t>+</a:t>
            </a:r>
            <a:r>
              <a:rPr lang="en-US" altLang="en-US" sz="2000" i="1">
                <a:solidFill>
                  <a:srgbClr val="FF0000"/>
                </a:solidFill>
              </a:rPr>
              <a:t>(v), </a:t>
            </a:r>
            <a:r>
              <a:rPr lang="en-US" altLang="en-US" sz="2000" i="1"/>
              <a:t>is the </a:t>
            </a:r>
            <a:r>
              <a:rPr lang="en-US" altLang="en-US" sz="2000" i="1">
                <a:solidFill>
                  <a:srgbClr val="FF0000"/>
                </a:solidFill>
              </a:rPr>
              <a:t>number of edges with v as their initial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vertex</a:t>
            </a:r>
            <a:r>
              <a:rPr lang="en-US" altLang="en-US" sz="2000"/>
              <a:t>. Note that a loop at a vertex contributes </a:t>
            </a:r>
            <a:r>
              <a:rPr lang="en-US" altLang="en-US" sz="2000">
                <a:solidFill>
                  <a:srgbClr val="FF0000"/>
                </a:solidFill>
              </a:rPr>
              <a:t>1</a:t>
            </a:r>
            <a:r>
              <a:rPr lang="en-US" altLang="en-US" sz="2000"/>
              <a:t> to </a:t>
            </a:r>
            <a:r>
              <a:rPr lang="en-US" altLang="en-US" sz="2000">
                <a:solidFill>
                  <a:srgbClr val="FF0000"/>
                </a:solidFill>
              </a:rPr>
              <a:t>both</a:t>
            </a:r>
            <a:r>
              <a:rPr lang="en-US" altLang="en-US" sz="2000"/>
              <a:t> the </a:t>
            </a:r>
            <a:r>
              <a:rPr lang="en-US" altLang="en-US" sz="2000">
                <a:solidFill>
                  <a:srgbClr val="FF0000"/>
                </a:solidFill>
              </a:rPr>
              <a:t>indegree</a:t>
            </a:r>
          </a:p>
          <a:p>
            <a:r>
              <a:rPr lang="en-US" altLang="en-US" sz="2000"/>
              <a:t>and the </a:t>
            </a:r>
            <a:r>
              <a:rPr lang="en-US" altLang="en-US" sz="2000">
                <a:solidFill>
                  <a:srgbClr val="FF0000"/>
                </a:solidFill>
              </a:rPr>
              <a:t>out-degree</a:t>
            </a:r>
            <a:r>
              <a:rPr lang="en-US" altLang="en-US" sz="2000"/>
              <a:t> of the vertex</a:t>
            </a:r>
          </a:p>
          <a:p>
            <a:endParaRPr lang="en-US" altLang="en-US" sz="2000">
              <a:solidFill>
                <a:srgbClr val="FF0000"/>
              </a:solidFill>
            </a:endParaRPr>
          </a:p>
          <a:p>
            <a:endParaRPr lang="en-US" altLang="en-US" sz="2000">
              <a:solidFill>
                <a:srgbClr val="FF0000"/>
              </a:solidFill>
            </a:endParaRPr>
          </a:p>
          <a:p>
            <a:r>
              <a:rPr lang="en-US" altLang="en-US" sz="2000">
                <a:solidFill>
                  <a:srgbClr val="FF0000"/>
                </a:solidFill>
              </a:rPr>
              <a:t>Example: </a:t>
            </a:r>
            <a:r>
              <a:rPr lang="en-US" altLang="en-US" sz="2000"/>
              <a:t>Assume graph G</a:t>
            </a:r>
          </a:p>
        </p:txBody>
      </p:sp>
      <p:pic>
        <p:nvPicPr>
          <p:cNvPr id="21508" name="Picture 2">
            <a:extLst>
              <a:ext uri="{FF2B5EF4-FFF2-40B4-BE49-F238E27FC236}">
                <a16:creationId xmlns:a16="http://schemas.microsoft.com/office/drawing/2014/main" id="{42BEAC80-C4B0-657B-BE67-E91146BAE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19600"/>
            <a:ext cx="31369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Box 4">
            <a:extLst>
              <a:ext uri="{FF2B5EF4-FFF2-40B4-BE49-F238E27FC236}">
                <a16:creationId xmlns:a16="http://schemas.microsoft.com/office/drawing/2014/main" id="{DB2E66B4-6FEF-DDE8-3012-1E5FDAC0C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434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0" name="TextBox 5">
            <a:extLst>
              <a:ext uri="{FF2B5EF4-FFF2-40B4-BE49-F238E27FC236}">
                <a16:creationId xmlns:a16="http://schemas.microsoft.com/office/drawing/2014/main" id="{9E37A9BB-556C-F089-A9F6-0C09982D9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38650"/>
            <a:ext cx="5105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i="1"/>
              <a:t>Deg</a:t>
            </a:r>
            <a:r>
              <a:rPr lang="en-US" altLang="en-US" i="1" baseline="30000">
                <a:solidFill>
                  <a:srgbClr val="FF0000"/>
                </a:solidFill>
              </a:rPr>
              <a:t>+</a:t>
            </a:r>
            <a:r>
              <a:rPr lang="en-US" altLang="en-US" i="1"/>
              <a:t> (a)=4, deg</a:t>
            </a:r>
            <a:r>
              <a:rPr lang="en-US" altLang="en-US" i="1" baseline="30000">
                <a:solidFill>
                  <a:srgbClr val="FF0000"/>
                </a:solidFill>
              </a:rPr>
              <a:t>+</a:t>
            </a:r>
            <a:r>
              <a:rPr lang="en-US" altLang="en-US" i="1"/>
              <a:t> (b)=1, deg</a:t>
            </a:r>
            <a:r>
              <a:rPr lang="en-US" altLang="en-US" i="1" baseline="30000">
                <a:solidFill>
                  <a:srgbClr val="FF0000"/>
                </a:solidFill>
              </a:rPr>
              <a:t>+</a:t>
            </a:r>
            <a:r>
              <a:rPr lang="en-US" altLang="en-US" i="1"/>
              <a:t> (c)=2,        </a:t>
            </a:r>
            <a:endParaRPr lang="en-US" altLang="en-US"/>
          </a:p>
          <a:p>
            <a:r>
              <a:rPr lang="en-US" altLang="en-US" i="1"/>
              <a:t>        </a:t>
            </a:r>
            <a:endParaRPr lang="en-US" altLang="en-US"/>
          </a:p>
          <a:p>
            <a:r>
              <a:rPr lang="en-US" altLang="en-US" i="1"/>
              <a:t> deg</a:t>
            </a:r>
            <a:r>
              <a:rPr lang="en-US" altLang="en-US" i="1" baseline="30000">
                <a:solidFill>
                  <a:srgbClr val="FF0000"/>
                </a:solidFill>
              </a:rPr>
              <a:t>+</a:t>
            </a:r>
            <a:r>
              <a:rPr lang="en-US" altLang="en-US" i="1"/>
              <a:t> (d)=</a:t>
            </a:r>
            <a:r>
              <a:rPr lang="en-US" altLang="en-US" i="1">
                <a:solidFill>
                  <a:srgbClr val="FF0000"/>
                </a:solidFill>
              </a:rPr>
              <a:t>?</a:t>
            </a:r>
            <a:r>
              <a:rPr lang="en-US" altLang="en-US" i="1"/>
              <a:t>, deg</a:t>
            </a:r>
            <a:r>
              <a:rPr lang="en-US" altLang="en-US" i="1" baseline="30000">
                <a:solidFill>
                  <a:srgbClr val="FF0000"/>
                </a:solidFill>
              </a:rPr>
              <a:t>+</a:t>
            </a:r>
            <a:r>
              <a:rPr lang="en-US" altLang="en-US" i="1"/>
              <a:t> (e)=</a:t>
            </a:r>
            <a:r>
              <a:rPr lang="en-US" altLang="en-US" i="1">
                <a:solidFill>
                  <a:srgbClr val="FF0000"/>
                </a:solidFill>
              </a:rPr>
              <a:t>?</a:t>
            </a:r>
            <a:r>
              <a:rPr lang="en-US" altLang="en-US" i="1"/>
              <a:t>, deg</a:t>
            </a:r>
            <a:r>
              <a:rPr lang="en-US" altLang="en-US" i="1" baseline="30000">
                <a:solidFill>
                  <a:srgbClr val="FF0000"/>
                </a:solidFill>
              </a:rPr>
              <a:t>+</a:t>
            </a:r>
            <a:r>
              <a:rPr lang="en-US" altLang="en-US" i="1"/>
              <a:t> (f)=</a:t>
            </a:r>
            <a:r>
              <a:rPr lang="en-US" altLang="en-US" i="1">
                <a:solidFill>
                  <a:srgbClr val="FF0000"/>
                </a:solidFill>
              </a:rPr>
              <a:t>?</a:t>
            </a:r>
            <a:r>
              <a:rPr lang="en-US" altLang="en-US" i="1"/>
              <a:t>       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E8D2F9D-E957-0511-7690-846FCB935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Directed graph</a:t>
            </a:r>
            <a:endParaRPr lang="en-US" altLang="en-US" b="1"/>
          </a:p>
        </p:txBody>
      </p:sp>
      <p:sp>
        <p:nvSpPr>
          <p:cNvPr id="22531" name="TextBox 3">
            <a:extLst>
              <a:ext uri="{FF2B5EF4-FFF2-40B4-BE49-F238E27FC236}">
                <a16:creationId xmlns:a16="http://schemas.microsoft.com/office/drawing/2014/main" id="{06D4F101-BB4F-EDBA-EEC7-BA605B12D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Definition: </a:t>
            </a:r>
            <a:r>
              <a:rPr lang="en-US" altLang="en-US" sz="2000"/>
              <a:t>The </a:t>
            </a:r>
            <a:r>
              <a:rPr lang="en-US" altLang="en-US" sz="2000" i="1">
                <a:solidFill>
                  <a:srgbClr val="FF0000"/>
                </a:solidFill>
              </a:rPr>
              <a:t>in-degree </a:t>
            </a:r>
            <a:r>
              <a:rPr lang="en-US" altLang="en-US" sz="2000" i="1"/>
              <a:t>of a vertex v, denoted deg</a:t>
            </a:r>
            <a:r>
              <a:rPr lang="en-US" altLang="en-US" sz="2000" i="1" baseline="30000">
                <a:solidFill>
                  <a:srgbClr val="FF0000"/>
                </a:solidFill>
              </a:rPr>
              <a:t>-</a:t>
            </a:r>
            <a:r>
              <a:rPr lang="en-US" altLang="en-US" sz="2000" i="1"/>
              <a:t> (v), is</a:t>
            </a:r>
          </a:p>
          <a:p>
            <a:r>
              <a:rPr lang="en-US" altLang="en-US" sz="2000"/>
              <a:t>the </a:t>
            </a:r>
            <a:r>
              <a:rPr lang="en-US" altLang="en-US" sz="2000">
                <a:solidFill>
                  <a:srgbClr val="FF0000"/>
                </a:solidFill>
              </a:rPr>
              <a:t>number of edges which terminate at </a:t>
            </a:r>
            <a:r>
              <a:rPr lang="en-US" altLang="en-US" sz="2000" i="1">
                <a:solidFill>
                  <a:srgbClr val="FF0000"/>
                </a:solidFill>
              </a:rPr>
              <a:t>v</a:t>
            </a:r>
            <a:r>
              <a:rPr lang="en-US" altLang="en-US" sz="2000" i="1"/>
              <a:t>. The out-degree of v,</a:t>
            </a:r>
          </a:p>
          <a:p>
            <a:r>
              <a:rPr lang="en-US" altLang="en-US" sz="2000"/>
              <a:t>denoted </a:t>
            </a:r>
            <a:r>
              <a:rPr lang="en-US" altLang="en-US" sz="2000" i="1">
                <a:solidFill>
                  <a:srgbClr val="FF0000"/>
                </a:solidFill>
              </a:rPr>
              <a:t>deg</a:t>
            </a:r>
            <a:r>
              <a:rPr lang="en-US" altLang="en-US" sz="2000" i="1" baseline="30000">
                <a:solidFill>
                  <a:srgbClr val="FF0000"/>
                </a:solidFill>
              </a:rPr>
              <a:t>+</a:t>
            </a:r>
            <a:r>
              <a:rPr lang="en-US" altLang="en-US" sz="2000" i="1">
                <a:solidFill>
                  <a:srgbClr val="FF0000"/>
                </a:solidFill>
              </a:rPr>
              <a:t>(v), </a:t>
            </a:r>
            <a:r>
              <a:rPr lang="en-US" altLang="en-US" sz="2000" i="1"/>
              <a:t>is the </a:t>
            </a:r>
            <a:r>
              <a:rPr lang="en-US" altLang="en-US" sz="2000" i="1">
                <a:solidFill>
                  <a:srgbClr val="FF0000"/>
                </a:solidFill>
              </a:rPr>
              <a:t>number of edges with v as their initial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vertex</a:t>
            </a:r>
            <a:r>
              <a:rPr lang="en-US" altLang="en-US" sz="2000"/>
              <a:t>. Note that a loop at a vertex contributes </a:t>
            </a:r>
            <a:r>
              <a:rPr lang="en-US" altLang="en-US" sz="2000">
                <a:solidFill>
                  <a:srgbClr val="FF0000"/>
                </a:solidFill>
              </a:rPr>
              <a:t>1</a:t>
            </a:r>
            <a:r>
              <a:rPr lang="en-US" altLang="en-US" sz="2000"/>
              <a:t> to </a:t>
            </a:r>
            <a:r>
              <a:rPr lang="en-US" altLang="en-US" sz="2000">
                <a:solidFill>
                  <a:srgbClr val="FF0000"/>
                </a:solidFill>
              </a:rPr>
              <a:t>both</a:t>
            </a:r>
            <a:r>
              <a:rPr lang="en-US" altLang="en-US" sz="2000"/>
              <a:t> the </a:t>
            </a:r>
            <a:r>
              <a:rPr lang="en-US" altLang="en-US" sz="2000">
                <a:solidFill>
                  <a:srgbClr val="FF0000"/>
                </a:solidFill>
              </a:rPr>
              <a:t>indegree</a:t>
            </a:r>
          </a:p>
          <a:p>
            <a:r>
              <a:rPr lang="en-US" altLang="en-US" sz="2000"/>
              <a:t>and the </a:t>
            </a:r>
            <a:r>
              <a:rPr lang="en-US" altLang="en-US" sz="2000">
                <a:solidFill>
                  <a:srgbClr val="FF0000"/>
                </a:solidFill>
              </a:rPr>
              <a:t>out-degree</a:t>
            </a:r>
            <a:r>
              <a:rPr lang="en-US" altLang="en-US" sz="2000"/>
              <a:t> of the vertex</a:t>
            </a:r>
          </a:p>
          <a:p>
            <a:endParaRPr lang="en-US" altLang="en-US" sz="2000">
              <a:solidFill>
                <a:srgbClr val="FF0000"/>
              </a:solidFill>
            </a:endParaRPr>
          </a:p>
          <a:p>
            <a:endParaRPr lang="en-US" altLang="en-US" sz="2000">
              <a:solidFill>
                <a:srgbClr val="FF0000"/>
              </a:solidFill>
            </a:endParaRPr>
          </a:p>
          <a:p>
            <a:r>
              <a:rPr lang="en-US" altLang="en-US" sz="2000">
                <a:solidFill>
                  <a:srgbClr val="FF0000"/>
                </a:solidFill>
              </a:rPr>
              <a:t>Example: </a:t>
            </a:r>
            <a:r>
              <a:rPr lang="en-US" altLang="en-US" sz="2000"/>
              <a:t>Assume graph G</a:t>
            </a:r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0C6515DC-ABBE-F885-7535-0CEAB91BC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19600"/>
            <a:ext cx="31369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Box 4">
            <a:extLst>
              <a:ext uri="{FF2B5EF4-FFF2-40B4-BE49-F238E27FC236}">
                <a16:creationId xmlns:a16="http://schemas.microsoft.com/office/drawing/2014/main" id="{449AC5F9-B403-45D1-0983-B6123A830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434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2534" name="TextBox 5">
            <a:extLst>
              <a:ext uri="{FF2B5EF4-FFF2-40B4-BE49-F238E27FC236}">
                <a16:creationId xmlns:a16="http://schemas.microsoft.com/office/drawing/2014/main" id="{1B5D3A45-4FC6-8C5A-80C7-500918813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438650"/>
            <a:ext cx="5105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i="1"/>
              <a:t>Deg</a:t>
            </a:r>
            <a:r>
              <a:rPr lang="en-US" altLang="en-US" i="1" baseline="30000">
                <a:solidFill>
                  <a:srgbClr val="FF0000"/>
                </a:solidFill>
              </a:rPr>
              <a:t>+</a:t>
            </a:r>
            <a:r>
              <a:rPr lang="en-US" altLang="en-US" i="1"/>
              <a:t> (a)=4, deg</a:t>
            </a:r>
            <a:r>
              <a:rPr lang="en-US" altLang="en-US" i="1" baseline="30000">
                <a:solidFill>
                  <a:srgbClr val="FF0000"/>
                </a:solidFill>
              </a:rPr>
              <a:t>+</a:t>
            </a:r>
            <a:r>
              <a:rPr lang="en-US" altLang="en-US" i="1"/>
              <a:t> (b)=1, deg</a:t>
            </a:r>
            <a:r>
              <a:rPr lang="en-US" altLang="en-US" i="1" baseline="30000">
                <a:solidFill>
                  <a:srgbClr val="FF0000"/>
                </a:solidFill>
              </a:rPr>
              <a:t>+</a:t>
            </a:r>
            <a:r>
              <a:rPr lang="en-US" altLang="en-US" i="1"/>
              <a:t> (c)=2,        </a:t>
            </a:r>
            <a:endParaRPr lang="en-US" altLang="en-US"/>
          </a:p>
          <a:p>
            <a:r>
              <a:rPr lang="en-US" altLang="en-US" i="1"/>
              <a:t>        </a:t>
            </a:r>
            <a:endParaRPr lang="en-US" altLang="en-US"/>
          </a:p>
          <a:p>
            <a:r>
              <a:rPr lang="en-US" altLang="en-US" i="1"/>
              <a:t> deg</a:t>
            </a:r>
            <a:r>
              <a:rPr lang="en-US" altLang="en-US" i="1" baseline="30000">
                <a:solidFill>
                  <a:srgbClr val="FF0000"/>
                </a:solidFill>
              </a:rPr>
              <a:t>+</a:t>
            </a:r>
            <a:r>
              <a:rPr lang="en-US" altLang="en-US" i="1"/>
              <a:t> (d)=</a:t>
            </a:r>
            <a:r>
              <a:rPr lang="en-US" altLang="en-US" i="1">
                <a:solidFill>
                  <a:srgbClr val="FF0000"/>
                </a:solidFill>
              </a:rPr>
              <a:t>2</a:t>
            </a:r>
            <a:r>
              <a:rPr lang="en-US" altLang="en-US" i="1"/>
              <a:t>, deg</a:t>
            </a:r>
            <a:r>
              <a:rPr lang="en-US" altLang="en-US" i="1" baseline="30000">
                <a:solidFill>
                  <a:srgbClr val="FF0000"/>
                </a:solidFill>
              </a:rPr>
              <a:t>+</a:t>
            </a:r>
            <a:r>
              <a:rPr lang="en-US" altLang="en-US" i="1"/>
              <a:t> (e)=</a:t>
            </a:r>
            <a:r>
              <a:rPr lang="en-US" altLang="en-US" i="1">
                <a:solidFill>
                  <a:srgbClr val="FF0000"/>
                </a:solidFill>
              </a:rPr>
              <a:t>3</a:t>
            </a:r>
            <a:r>
              <a:rPr lang="en-US" altLang="en-US" i="1"/>
              <a:t>, deg</a:t>
            </a:r>
            <a:r>
              <a:rPr lang="en-US" altLang="en-US" i="1" baseline="30000">
                <a:solidFill>
                  <a:srgbClr val="FF0000"/>
                </a:solidFill>
              </a:rPr>
              <a:t>+</a:t>
            </a:r>
            <a:r>
              <a:rPr lang="en-US" altLang="en-US" i="1"/>
              <a:t> (f)=</a:t>
            </a:r>
            <a:r>
              <a:rPr lang="en-US" altLang="en-US" i="1">
                <a:solidFill>
                  <a:srgbClr val="FF0000"/>
                </a:solidFill>
              </a:rPr>
              <a:t>0</a:t>
            </a:r>
            <a:r>
              <a:rPr lang="en-US" altLang="en-US" i="1"/>
              <a:t>       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EC8F40D8-4EE0-A16D-6BB1-762B7DBAB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Directed graph</a:t>
            </a:r>
            <a:endParaRPr lang="en-US" altLang="en-US" b="1"/>
          </a:p>
        </p:txBody>
      </p:sp>
      <p:sp>
        <p:nvSpPr>
          <p:cNvPr id="3076" name="TextBox 3">
            <a:extLst>
              <a:ext uri="{FF2B5EF4-FFF2-40B4-BE49-F238E27FC236}">
                <a16:creationId xmlns:a16="http://schemas.microsoft.com/office/drawing/2014/main" id="{7ABE8BA5-E534-F115-CCD8-079E7F688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Theorem:</a:t>
            </a:r>
            <a:r>
              <a:rPr lang="en-US" altLang="en-US" sz="2000"/>
              <a:t> Let </a:t>
            </a:r>
            <a:r>
              <a:rPr lang="en-US" altLang="en-US" sz="2000" i="1"/>
              <a:t>G = (V, E) be a graph with directed edges. Then:</a:t>
            </a:r>
          </a:p>
          <a:p>
            <a:endParaRPr lang="en-US" altLang="en-US" sz="2000" b="1"/>
          </a:p>
          <a:p>
            <a:endParaRPr lang="en-US" altLang="en-US" sz="2000" b="1"/>
          </a:p>
          <a:p>
            <a:endParaRPr lang="en-US" altLang="en-US" sz="2000" b="1"/>
          </a:p>
          <a:p>
            <a:endParaRPr lang="en-US" altLang="en-US" sz="2000" b="1"/>
          </a:p>
          <a:p>
            <a:endParaRPr lang="en-US" altLang="en-US" sz="2000" b="1"/>
          </a:p>
          <a:p>
            <a:endParaRPr lang="en-US" altLang="en-US" sz="2000" b="1"/>
          </a:p>
          <a:p>
            <a:r>
              <a:rPr lang="en-US" altLang="en-US" sz="2000" b="1"/>
              <a:t>Proof:</a:t>
            </a:r>
          </a:p>
          <a:p>
            <a:r>
              <a:rPr lang="en-US" altLang="en-US" sz="2000"/>
              <a:t>The first sum </a:t>
            </a:r>
            <a:r>
              <a:rPr lang="en-US" altLang="en-US" sz="2000">
                <a:solidFill>
                  <a:srgbClr val="FF0000"/>
                </a:solidFill>
              </a:rPr>
              <a:t>counts the number of outgoing edges </a:t>
            </a:r>
            <a:r>
              <a:rPr lang="en-US" altLang="en-US" sz="2000"/>
              <a:t>over all vertices</a:t>
            </a:r>
          </a:p>
          <a:p>
            <a:r>
              <a:rPr lang="en-US" altLang="en-US" sz="2000"/>
              <a:t>and the </a:t>
            </a:r>
            <a:r>
              <a:rPr lang="en-US" altLang="en-US" sz="2000">
                <a:solidFill>
                  <a:srgbClr val="FF0000"/>
                </a:solidFill>
              </a:rPr>
              <a:t>second sum counts the number of incoming edges </a:t>
            </a:r>
            <a:r>
              <a:rPr lang="en-US" altLang="en-US" sz="2000"/>
              <a:t>over all</a:t>
            </a:r>
          </a:p>
          <a:p>
            <a:r>
              <a:rPr lang="en-US" altLang="en-US" sz="2000"/>
              <a:t>vertices. It follows that </a:t>
            </a:r>
            <a:r>
              <a:rPr lang="en-US" altLang="en-US" sz="2000">
                <a:solidFill>
                  <a:srgbClr val="FF0000"/>
                </a:solidFill>
              </a:rPr>
              <a:t>both sums equal the number of edges</a:t>
            </a:r>
            <a:r>
              <a:rPr lang="en-US" altLang="en-US" sz="2000"/>
              <a:t> in the</a:t>
            </a:r>
          </a:p>
          <a:p>
            <a:r>
              <a:rPr lang="en-US" altLang="en-US" sz="2000"/>
              <a:t>graph.</a:t>
            </a:r>
          </a:p>
        </p:txBody>
      </p:sp>
      <p:sp>
        <p:nvSpPr>
          <p:cNvPr id="3077" name="TextBox 4">
            <a:extLst>
              <a:ext uri="{FF2B5EF4-FFF2-40B4-BE49-F238E27FC236}">
                <a16:creationId xmlns:a16="http://schemas.microsoft.com/office/drawing/2014/main" id="{A9D31F10-F935-EB51-675D-D3BFC794C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434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CF7594D2-8BBF-7161-8DB7-1F09770BC7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200" y="2311400"/>
          <a:ext cx="3683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41400" imgH="342720" progId="Equation.3">
                  <p:embed/>
                </p:oleObj>
              </mc:Choice>
              <mc:Fallback>
                <p:oleObj name="Equation" r:id="rId3" imgW="1841400" imgH="342720" progId="Equation.3">
                  <p:embed/>
                  <p:pic>
                    <p:nvPicPr>
                      <p:cNvPr id="3074" name="Object 2">
                        <a:extLst>
                          <a:ext uri="{FF2B5EF4-FFF2-40B4-BE49-F238E27FC236}">
                            <a16:creationId xmlns:a16="http://schemas.microsoft.com/office/drawing/2014/main" id="{CF7594D2-8BBF-7161-8DB7-1F09770BC7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311400"/>
                        <a:ext cx="36830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8" name="Picture 2">
            <a:extLst>
              <a:ext uri="{FF2B5EF4-FFF2-40B4-BE49-F238E27FC236}">
                <a16:creationId xmlns:a16="http://schemas.microsoft.com/office/drawing/2014/main" id="{FD2D9BDA-EC22-8CD7-0CE8-032D837C9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34000"/>
            <a:ext cx="23241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4C17E12-12D7-505E-4104-09A8B2A85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Complete graph</a:t>
            </a:r>
            <a:endParaRPr lang="en-US" altLang="en-US" b="1"/>
          </a:p>
        </p:txBody>
      </p:sp>
      <p:sp>
        <p:nvSpPr>
          <p:cNvPr id="23555" name="TextBox 3">
            <a:extLst>
              <a:ext uri="{FF2B5EF4-FFF2-40B4-BE49-F238E27FC236}">
                <a16:creationId xmlns:a16="http://schemas.microsoft.com/office/drawing/2014/main" id="{3C19E36B-5263-028E-86C0-42BB08F80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A </a:t>
            </a:r>
            <a:r>
              <a:rPr lang="en-US" altLang="en-US" sz="2000" i="1">
                <a:solidFill>
                  <a:srgbClr val="FF0000"/>
                </a:solidFill>
              </a:rPr>
              <a:t>complete graph </a:t>
            </a:r>
            <a:r>
              <a:rPr lang="en-US" altLang="en-US" sz="2000" i="1"/>
              <a:t>on n vertices, denoted by K</a:t>
            </a:r>
            <a:r>
              <a:rPr lang="en-US" altLang="en-US" sz="2000" i="1" baseline="-25000"/>
              <a:t>n</a:t>
            </a:r>
            <a:r>
              <a:rPr lang="en-US" altLang="en-US" sz="2000" i="1"/>
              <a:t>, is the simple</a:t>
            </a:r>
          </a:p>
          <a:p>
            <a:r>
              <a:rPr lang="en-US" altLang="en-US" sz="2000"/>
              <a:t>graph that contains </a:t>
            </a:r>
            <a:r>
              <a:rPr lang="en-US" altLang="en-US" sz="2000">
                <a:solidFill>
                  <a:srgbClr val="FF0000"/>
                </a:solidFill>
              </a:rPr>
              <a:t>exactly one edge between each pair of distinct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vertices</a:t>
            </a:r>
            <a:r>
              <a:rPr lang="en-US" altLang="en-US" sz="2000"/>
              <a:t>.</a:t>
            </a:r>
            <a:endParaRPr lang="en-US" altLang="en-US" sz="2000" b="1"/>
          </a:p>
          <a:p>
            <a:endParaRPr lang="en-US" altLang="en-US" sz="2000" b="1"/>
          </a:p>
          <a:p>
            <a:endParaRPr lang="en-US" altLang="en-US" sz="2000" b="1"/>
          </a:p>
        </p:txBody>
      </p:sp>
      <p:sp>
        <p:nvSpPr>
          <p:cNvPr id="23556" name="TextBox 4">
            <a:extLst>
              <a:ext uri="{FF2B5EF4-FFF2-40B4-BE49-F238E27FC236}">
                <a16:creationId xmlns:a16="http://schemas.microsoft.com/office/drawing/2014/main" id="{58FDA64B-3A16-92F5-59A6-7437AD3EB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434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23557" name="Picture 3">
            <a:extLst>
              <a:ext uri="{FF2B5EF4-FFF2-40B4-BE49-F238E27FC236}">
                <a16:creationId xmlns:a16="http://schemas.microsoft.com/office/drawing/2014/main" id="{408470EE-8C93-E99F-41DC-449AD908A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00400"/>
            <a:ext cx="8482013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E896321-027C-180C-5F55-460C286293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Cycle</a:t>
            </a:r>
            <a:endParaRPr lang="en-US" altLang="en-US" b="1"/>
          </a:p>
        </p:txBody>
      </p:sp>
      <p:sp>
        <p:nvSpPr>
          <p:cNvPr id="24579" name="TextBox 3">
            <a:extLst>
              <a:ext uri="{FF2B5EF4-FFF2-40B4-BE49-F238E27FC236}">
                <a16:creationId xmlns:a16="http://schemas.microsoft.com/office/drawing/2014/main" id="{536AC375-FFF7-5D0E-C3CA-4D2675E32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A </a:t>
            </a:r>
            <a:r>
              <a:rPr lang="en-US" altLang="en-US" sz="2000" i="1"/>
              <a:t>cycle </a:t>
            </a:r>
            <a:r>
              <a:rPr lang="en-US" altLang="en-US" sz="2000" i="1">
                <a:solidFill>
                  <a:srgbClr val="FF0000"/>
                </a:solidFill>
              </a:rPr>
              <a:t>C</a:t>
            </a:r>
            <a:r>
              <a:rPr lang="en-US" altLang="en-US" sz="2000" i="1" baseline="-25000">
                <a:solidFill>
                  <a:srgbClr val="FF0000"/>
                </a:solidFill>
              </a:rPr>
              <a:t>n</a:t>
            </a:r>
            <a:r>
              <a:rPr lang="en-US" altLang="en-US" sz="2000" i="1">
                <a:solidFill>
                  <a:srgbClr val="FF0000"/>
                </a:solidFill>
              </a:rPr>
              <a:t> </a:t>
            </a:r>
            <a:r>
              <a:rPr lang="en-US" altLang="en-US" sz="2000" i="1"/>
              <a:t>for</a:t>
            </a:r>
            <a:r>
              <a:rPr lang="en-US" altLang="en-US" sz="2000" i="1">
                <a:solidFill>
                  <a:srgbClr val="FF0000"/>
                </a:solidFill>
              </a:rPr>
              <a:t> n ≥ 3 </a:t>
            </a:r>
            <a:r>
              <a:rPr lang="en-US" altLang="en-US" sz="2000" i="1"/>
              <a:t>consists of </a:t>
            </a:r>
            <a:r>
              <a:rPr lang="en-US" altLang="en-US" sz="2000" i="1">
                <a:solidFill>
                  <a:srgbClr val="FF0000"/>
                </a:solidFill>
              </a:rPr>
              <a:t>n vertices </a:t>
            </a:r>
            <a:r>
              <a:rPr lang="en-US" altLang="en-US" sz="2000" i="1"/>
              <a:t>v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, v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 ,⋯ , v</a:t>
            </a:r>
            <a:r>
              <a:rPr lang="en-US" altLang="en-US" sz="2000" i="1" baseline="-25000"/>
              <a:t>n</a:t>
            </a:r>
            <a:r>
              <a:rPr lang="en-US" altLang="en-US" sz="2000" i="1"/>
              <a:t>, and edges</a:t>
            </a:r>
          </a:p>
          <a:p>
            <a:r>
              <a:rPr lang="en-US" altLang="en-US" sz="2000"/>
              <a:t>{</a:t>
            </a:r>
            <a:r>
              <a:rPr lang="en-US" altLang="en-US" sz="2000" i="1"/>
              <a:t>v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, v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}, {v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, v</a:t>
            </a:r>
            <a:r>
              <a:rPr lang="en-US" altLang="en-US" sz="2000" i="1" baseline="-25000"/>
              <a:t>3</a:t>
            </a:r>
            <a:r>
              <a:rPr lang="en-US" altLang="en-US" sz="2000" i="1"/>
              <a:t>} ,⋯ , {v</a:t>
            </a:r>
            <a:r>
              <a:rPr lang="en-US" altLang="en-US" sz="2000" i="1" baseline="-25000"/>
              <a:t>n-1</a:t>
            </a:r>
            <a:r>
              <a:rPr lang="en-US" altLang="en-US" sz="2000" i="1"/>
              <a:t>, v</a:t>
            </a:r>
            <a:r>
              <a:rPr lang="en-US" altLang="en-US" sz="2000" i="1" baseline="-25000"/>
              <a:t>n</a:t>
            </a:r>
            <a:r>
              <a:rPr lang="en-US" altLang="en-US" sz="2000" i="1"/>
              <a:t>}, {v</a:t>
            </a:r>
            <a:r>
              <a:rPr lang="en-US" altLang="en-US" sz="2000" i="1" baseline="-25000"/>
              <a:t>n</a:t>
            </a:r>
            <a:r>
              <a:rPr lang="en-US" altLang="en-US" sz="2000" i="1"/>
              <a:t>, v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}.</a:t>
            </a:r>
            <a:endParaRPr lang="en-US" altLang="en-US" sz="2000" b="1"/>
          </a:p>
          <a:p>
            <a:endParaRPr lang="en-US" altLang="en-US" sz="2000" b="1"/>
          </a:p>
        </p:txBody>
      </p:sp>
      <p:sp>
        <p:nvSpPr>
          <p:cNvPr id="24580" name="TextBox 4">
            <a:extLst>
              <a:ext uri="{FF2B5EF4-FFF2-40B4-BE49-F238E27FC236}">
                <a16:creationId xmlns:a16="http://schemas.microsoft.com/office/drawing/2014/main" id="{BA83AC5F-E233-C489-9474-630483BF9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434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24581" name="Picture 2">
            <a:extLst>
              <a:ext uri="{FF2B5EF4-FFF2-40B4-BE49-F238E27FC236}">
                <a16:creationId xmlns:a16="http://schemas.microsoft.com/office/drawing/2014/main" id="{7C2095C5-64FD-A28F-8E03-E76769C0D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200400"/>
            <a:ext cx="7475538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98B4EB0-BA18-90C7-20FD-A3719F185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N-dimensional hypercube</a:t>
            </a:r>
          </a:p>
        </p:txBody>
      </p:sp>
      <p:sp>
        <p:nvSpPr>
          <p:cNvPr id="25603" name="TextBox 3">
            <a:extLst>
              <a:ext uri="{FF2B5EF4-FFF2-40B4-BE49-F238E27FC236}">
                <a16:creationId xmlns:a16="http://schemas.microsoft.com/office/drawing/2014/main" id="{ED7029C7-61ED-5C1F-1D0F-5F7B32B24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An </a:t>
            </a:r>
            <a:r>
              <a:rPr lang="en-US" altLang="en-US" sz="2000" i="1"/>
              <a:t>n-dimensional hypercube, or n-cube, </a:t>
            </a:r>
            <a:r>
              <a:rPr lang="en-US" altLang="en-US" sz="2000" i="1">
                <a:solidFill>
                  <a:srgbClr val="FF0000"/>
                </a:solidFill>
              </a:rPr>
              <a:t>Q</a:t>
            </a:r>
            <a:r>
              <a:rPr lang="en-US" altLang="en-US" sz="2000" i="1" baseline="-25000">
                <a:solidFill>
                  <a:srgbClr val="FF0000"/>
                </a:solidFill>
              </a:rPr>
              <a:t>n</a:t>
            </a:r>
            <a:r>
              <a:rPr lang="en-US" altLang="en-US" sz="2000" i="1"/>
              <a:t>, is a graph with </a:t>
            </a:r>
            <a:r>
              <a:rPr lang="en-US" altLang="en-US" sz="2000" i="1">
                <a:solidFill>
                  <a:srgbClr val="FF0000"/>
                </a:solidFill>
              </a:rPr>
              <a:t>2</a:t>
            </a:r>
            <a:r>
              <a:rPr lang="en-US" altLang="en-US" sz="2000" i="1" baseline="30000">
                <a:solidFill>
                  <a:srgbClr val="FF0000"/>
                </a:solidFill>
              </a:rPr>
              <a:t>n</a:t>
            </a:r>
          </a:p>
          <a:p>
            <a:r>
              <a:rPr lang="en-US" altLang="en-US" sz="2000"/>
              <a:t>vertices </a:t>
            </a:r>
            <a:r>
              <a:rPr lang="en-US" altLang="en-US" sz="2000">
                <a:solidFill>
                  <a:srgbClr val="FF0000"/>
                </a:solidFill>
              </a:rPr>
              <a:t>representing all bit strings of length </a:t>
            </a:r>
            <a:r>
              <a:rPr lang="en-US" altLang="en-US" sz="2000" i="1">
                <a:solidFill>
                  <a:srgbClr val="FF0000"/>
                </a:solidFill>
              </a:rPr>
              <a:t>n</a:t>
            </a:r>
            <a:r>
              <a:rPr lang="en-US" altLang="en-US" sz="2000" i="1"/>
              <a:t>, where there is an</a:t>
            </a:r>
          </a:p>
          <a:p>
            <a:r>
              <a:rPr lang="en-US" altLang="en-US" sz="2000"/>
              <a:t>edge between two vertices that differ in exactly one bit position.</a:t>
            </a:r>
          </a:p>
        </p:txBody>
      </p:sp>
      <p:sp>
        <p:nvSpPr>
          <p:cNvPr id="25604" name="TextBox 4">
            <a:extLst>
              <a:ext uri="{FF2B5EF4-FFF2-40B4-BE49-F238E27FC236}">
                <a16:creationId xmlns:a16="http://schemas.microsoft.com/office/drawing/2014/main" id="{94F7E414-CE7D-4EFE-9ED4-760312EC2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434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25605" name="Picture 2">
            <a:extLst>
              <a:ext uri="{FF2B5EF4-FFF2-40B4-BE49-F238E27FC236}">
                <a16:creationId xmlns:a16="http://schemas.microsoft.com/office/drawing/2014/main" id="{AF983CEA-9A6F-0B30-8915-EB94DD7B8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819400"/>
            <a:ext cx="6324600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02F7700-5747-C6E0-97E5-0F538756B7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Bipartite Graph </a:t>
            </a:r>
            <a:endParaRPr lang="en-US" altLang="en-US" b="1"/>
          </a:p>
        </p:txBody>
      </p:sp>
      <p:sp>
        <p:nvSpPr>
          <p:cNvPr id="26627" name="TextBox 3">
            <a:extLst>
              <a:ext uri="{FF2B5EF4-FFF2-40B4-BE49-F238E27FC236}">
                <a16:creationId xmlns:a16="http://schemas.microsoft.com/office/drawing/2014/main" id="{8A19D22C-4440-D7C5-1536-18DEFCC04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229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1"/>
              <a:t>Definition: A simple graph </a:t>
            </a:r>
            <a:r>
              <a:rPr lang="en-US" altLang="en-US" sz="2000" b="1" i="1"/>
              <a:t>G is bipartite if V can be partitioned</a:t>
            </a:r>
          </a:p>
          <a:p>
            <a:r>
              <a:rPr lang="en-US" altLang="en-US" sz="2000"/>
              <a:t>into </a:t>
            </a:r>
            <a:r>
              <a:rPr lang="en-US" altLang="en-US" sz="2000">
                <a:solidFill>
                  <a:srgbClr val="FF0000"/>
                </a:solidFill>
              </a:rPr>
              <a:t>two disjoint subsets </a:t>
            </a:r>
            <a:r>
              <a:rPr lang="en-US" altLang="en-US" sz="2000" i="1"/>
              <a:t>V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 and V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 such that </a:t>
            </a:r>
            <a:r>
              <a:rPr lang="en-US" altLang="en-US" sz="2000" i="1">
                <a:solidFill>
                  <a:srgbClr val="FF0000"/>
                </a:solidFill>
              </a:rPr>
              <a:t>every edge connects a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vertex in </a:t>
            </a:r>
            <a:r>
              <a:rPr lang="en-US" altLang="en-US" sz="2000" i="1">
                <a:solidFill>
                  <a:srgbClr val="FF0000"/>
                </a:solidFill>
              </a:rPr>
              <a:t>V</a:t>
            </a:r>
            <a:r>
              <a:rPr lang="en-US" altLang="en-US" sz="2000" i="1" baseline="-25000">
                <a:solidFill>
                  <a:srgbClr val="FF0000"/>
                </a:solidFill>
              </a:rPr>
              <a:t>1</a:t>
            </a:r>
            <a:r>
              <a:rPr lang="en-US" altLang="en-US" sz="2000" i="1">
                <a:solidFill>
                  <a:srgbClr val="FF0000"/>
                </a:solidFill>
              </a:rPr>
              <a:t> and a vertex in V</a:t>
            </a:r>
            <a:r>
              <a:rPr lang="en-US" altLang="en-US" sz="2000" i="1" baseline="-25000">
                <a:solidFill>
                  <a:srgbClr val="FF0000"/>
                </a:solidFill>
              </a:rPr>
              <a:t>2</a:t>
            </a:r>
            <a:r>
              <a:rPr lang="en-US" altLang="en-US" sz="2000" i="1"/>
              <a:t>. In other words, there are no edges</a:t>
            </a:r>
          </a:p>
          <a:p>
            <a:r>
              <a:rPr lang="en-US" altLang="en-US" sz="2000"/>
              <a:t>which connect two vertices in </a:t>
            </a:r>
            <a:r>
              <a:rPr lang="en-US" altLang="en-US" sz="2000" i="1"/>
              <a:t>V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 or in V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.</a:t>
            </a:r>
            <a:endParaRPr lang="en-US" altLang="en-US" sz="2000" b="1"/>
          </a:p>
        </p:txBody>
      </p:sp>
      <p:sp>
        <p:nvSpPr>
          <p:cNvPr id="26628" name="TextBox 4">
            <a:extLst>
              <a:ext uri="{FF2B5EF4-FFF2-40B4-BE49-F238E27FC236}">
                <a16:creationId xmlns:a16="http://schemas.microsoft.com/office/drawing/2014/main" id="{AA9AD943-FC3B-5838-FFA2-6DEDA7E09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434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26629" name="Picture 2">
            <a:extLst>
              <a:ext uri="{FF2B5EF4-FFF2-40B4-BE49-F238E27FC236}">
                <a16:creationId xmlns:a16="http://schemas.microsoft.com/office/drawing/2014/main" id="{7F3ADC48-2E7A-9A43-E563-E8BD6F58B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581400"/>
            <a:ext cx="503237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5AB0B27-1C92-640A-3345-1DFFFB97B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Bipartite Graph </a:t>
            </a:r>
            <a:endParaRPr lang="en-US" altLang="en-US" b="1"/>
          </a:p>
        </p:txBody>
      </p:sp>
      <p:sp>
        <p:nvSpPr>
          <p:cNvPr id="27651" name="TextBox 3">
            <a:extLst>
              <a:ext uri="{FF2B5EF4-FFF2-40B4-BE49-F238E27FC236}">
                <a16:creationId xmlns:a16="http://schemas.microsoft.com/office/drawing/2014/main" id="{45C1EACD-F18D-D1C4-F549-94DD8E5A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Example: </a:t>
            </a:r>
            <a:r>
              <a:rPr lang="en-US" altLang="en-US"/>
              <a:t>Show that </a:t>
            </a:r>
            <a:r>
              <a:rPr lang="en-US" altLang="en-US" i="1"/>
              <a:t>C</a:t>
            </a:r>
            <a:r>
              <a:rPr lang="en-US" altLang="en-US" i="1" baseline="-25000"/>
              <a:t>6 </a:t>
            </a:r>
            <a:r>
              <a:rPr lang="en-US" altLang="en-US" i="1"/>
              <a:t>is bipartite.</a:t>
            </a:r>
            <a:endParaRPr lang="en-US" altLang="en-US" b="1"/>
          </a:p>
        </p:txBody>
      </p:sp>
      <p:pic>
        <p:nvPicPr>
          <p:cNvPr id="27652" name="Picture 2">
            <a:extLst>
              <a:ext uri="{FF2B5EF4-FFF2-40B4-BE49-F238E27FC236}">
                <a16:creationId xmlns:a16="http://schemas.microsoft.com/office/drawing/2014/main" id="{55104165-6F23-35ED-D870-6188609E0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133600"/>
            <a:ext cx="1600200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349FE1D-B6BB-50ED-6F2F-6156C5882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Bipartite Graph </a:t>
            </a:r>
            <a:endParaRPr lang="en-US" altLang="en-US" b="1"/>
          </a:p>
        </p:txBody>
      </p:sp>
      <p:sp>
        <p:nvSpPr>
          <p:cNvPr id="28675" name="TextBox 3">
            <a:extLst>
              <a:ext uri="{FF2B5EF4-FFF2-40B4-BE49-F238E27FC236}">
                <a16:creationId xmlns:a16="http://schemas.microsoft.com/office/drawing/2014/main" id="{FCB72300-396F-BE75-973D-B0962E6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Example: </a:t>
            </a:r>
            <a:r>
              <a:rPr lang="en-US" altLang="en-US"/>
              <a:t>Show that </a:t>
            </a:r>
            <a:r>
              <a:rPr lang="en-US" altLang="en-US" i="1"/>
              <a:t>C</a:t>
            </a:r>
            <a:r>
              <a:rPr lang="en-US" altLang="en-US" i="1" baseline="-25000"/>
              <a:t>6 </a:t>
            </a:r>
            <a:r>
              <a:rPr lang="en-US" altLang="en-US" i="1"/>
              <a:t>is bipartite.</a:t>
            </a:r>
            <a:endParaRPr lang="en-US" altLang="en-US" b="1"/>
          </a:p>
        </p:txBody>
      </p:sp>
      <p:pic>
        <p:nvPicPr>
          <p:cNvPr id="28676" name="Picture 2">
            <a:extLst>
              <a:ext uri="{FF2B5EF4-FFF2-40B4-BE49-F238E27FC236}">
                <a16:creationId xmlns:a16="http://schemas.microsoft.com/office/drawing/2014/main" id="{C713B90E-6C46-E265-40CE-CD6830314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133600"/>
            <a:ext cx="1600200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TextBox 6">
            <a:extLst>
              <a:ext uri="{FF2B5EF4-FFF2-40B4-BE49-F238E27FC236}">
                <a16:creationId xmlns:a16="http://schemas.microsoft.com/office/drawing/2014/main" id="{182F7A18-FCD6-D9AF-A0DD-CBEF0CBA5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962400"/>
            <a:ext cx="7848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Solution:</a:t>
            </a:r>
            <a:r>
              <a:rPr lang="en-US" altLang="en-US" b="1"/>
              <a:t> </a:t>
            </a:r>
            <a:r>
              <a:rPr lang="en-US" altLang="en-US"/>
              <a:t> We can partition the vertex set into </a:t>
            </a:r>
            <a:r>
              <a:rPr lang="en-US" altLang="en-US" i="1">
                <a:solidFill>
                  <a:srgbClr val="FF0000"/>
                </a:solidFill>
              </a:rPr>
              <a:t>V</a:t>
            </a:r>
            <a:r>
              <a:rPr lang="en-US" altLang="en-US" i="1" baseline="-25000">
                <a:solidFill>
                  <a:srgbClr val="FF0000"/>
                </a:solidFill>
              </a:rPr>
              <a:t>1</a:t>
            </a:r>
            <a:r>
              <a:rPr lang="en-US" altLang="en-US" i="1">
                <a:solidFill>
                  <a:srgbClr val="FF0000"/>
                </a:solidFill>
              </a:rPr>
              <a:t> = {v</a:t>
            </a:r>
            <a:r>
              <a:rPr lang="en-US" altLang="en-US" i="1" baseline="-25000">
                <a:solidFill>
                  <a:srgbClr val="FF0000"/>
                </a:solidFill>
              </a:rPr>
              <a:t>1</a:t>
            </a:r>
            <a:r>
              <a:rPr lang="en-US" altLang="en-US" i="1">
                <a:solidFill>
                  <a:srgbClr val="FF0000"/>
                </a:solidFill>
              </a:rPr>
              <a:t>, v</a:t>
            </a:r>
            <a:r>
              <a:rPr lang="en-US" altLang="en-US" i="1" baseline="-25000">
                <a:solidFill>
                  <a:srgbClr val="FF0000"/>
                </a:solidFill>
              </a:rPr>
              <a:t>3</a:t>
            </a:r>
            <a:r>
              <a:rPr lang="en-US" altLang="en-US" i="1">
                <a:solidFill>
                  <a:srgbClr val="FF0000"/>
                </a:solidFill>
              </a:rPr>
              <a:t>, v</a:t>
            </a:r>
            <a:r>
              <a:rPr lang="en-US" altLang="en-US" i="1" baseline="-25000">
                <a:solidFill>
                  <a:srgbClr val="FF0000"/>
                </a:solidFill>
              </a:rPr>
              <a:t>5</a:t>
            </a:r>
            <a:r>
              <a:rPr lang="en-US" altLang="en-US" i="1">
                <a:solidFill>
                  <a:srgbClr val="FF0000"/>
                </a:solidFill>
              </a:rPr>
              <a:t>} </a:t>
            </a:r>
            <a:r>
              <a:rPr lang="en-US" altLang="en-US" i="1"/>
              <a:t>and </a:t>
            </a:r>
            <a:r>
              <a:rPr lang="en-US" altLang="en-US" i="1">
                <a:solidFill>
                  <a:srgbClr val="FF0000"/>
                </a:solidFill>
              </a:rPr>
              <a:t>V</a:t>
            </a:r>
            <a:r>
              <a:rPr lang="en-US" altLang="en-US" i="1" baseline="-25000">
                <a:solidFill>
                  <a:srgbClr val="FF0000"/>
                </a:solidFill>
              </a:rPr>
              <a:t>2</a:t>
            </a:r>
            <a:r>
              <a:rPr lang="en-US" altLang="en-US" i="1">
                <a:solidFill>
                  <a:srgbClr val="FF0000"/>
                </a:solidFill>
              </a:rPr>
              <a:t> = </a:t>
            </a:r>
            <a:r>
              <a:rPr lang="en-US" altLang="en-US">
                <a:solidFill>
                  <a:srgbClr val="FF0000"/>
                </a:solidFill>
              </a:rPr>
              <a:t>{</a:t>
            </a:r>
            <a:r>
              <a:rPr lang="en-US" altLang="en-US" i="1">
                <a:solidFill>
                  <a:srgbClr val="FF0000"/>
                </a:solidFill>
              </a:rPr>
              <a:t>v</a:t>
            </a:r>
            <a:r>
              <a:rPr lang="en-US" altLang="en-US" i="1" baseline="-25000">
                <a:solidFill>
                  <a:srgbClr val="FF0000"/>
                </a:solidFill>
              </a:rPr>
              <a:t>2</a:t>
            </a:r>
            <a:r>
              <a:rPr lang="en-US" altLang="en-US" i="1">
                <a:solidFill>
                  <a:srgbClr val="FF0000"/>
                </a:solidFill>
              </a:rPr>
              <a:t>, v</a:t>
            </a:r>
            <a:r>
              <a:rPr lang="en-US" altLang="en-US" i="1" baseline="-25000">
                <a:solidFill>
                  <a:srgbClr val="FF0000"/>
                </a:solidFill>
              </a:rPr>
              <a:t>4</a:t>
            </a:r>
            <a:r>
              <a:rPr lang="en-US" altLang="en-US" i="1">
                <a:solidFill>
                  <a:srgbClr val="FF0000"/>
                </a:solidFill>
              </a:rPr>
              <a:t>, v</a:t>
            </a:r>
            <a:r>
              <a:rPr lang="en-US" altLang="en-US" i="1" baseline="-25000">
                <a:solidFill>
                  <a:srgbClr val="FF0000"/>
                </a:solidFill>
              </a:rPr>
              <a:t>6</a:t>
            </a:r>
            <a:r>
              <a:rPr lang="en-US" altLang="en-US" i="1">
                <a:solidFill>
                  <a:srgbClr val="FF0000"/>
                </a:solidFill>
              </a:rPr>
              <a:t>} </a:t>
            </a:r>
            <a:r>
              <a:rPr lang="en-US" altLang="en-US" i="1"/>
              <a:t>so that every edge of C</a:t>
            </a:r>
            <a:r>
              <a:rPr lang="en-US" altLang="en-US" i="1" baseline="-25000"/>
              <a:t>6 </a:t>
            </a:r>
            <a:r>
              <a:rPr lang="en-US" altLang="en-US" i="1"/>
              <a:t>connects a vertex in V</a:t>
            </a:r>
            <a:r>
              <a:rPr lang="en-US" altLang="en-US" i="1" baseline="-25000"/>
              <a:t>1</a:t>
            </a:r>
            <a:r>
              <a:rPr lang="en-US" altLang="en-US" i="1"/>
              <a:t> and V</a:t>
            </a:r>
            <a:r>
              <a:rPr lang="en-US" altLang="en-US" i="1" baseline="-25000"/>
              <a:t>2</a:t>
            </a:r>
            <a:r>
              <a:rPr lang="en-US" altLang="en-US" i="1"/>
              <a:t> .</a:t>
            </a:r>
            <a:endParaRPr lang="en-US" altLang="en-US"/>
          </a:p>
        </p:txBody>
      </p:sp>
      <p:pic>
        <p:nvPicPr>
          <p:cNvPr id="28678" name="Picture 3">
            <a:extLst>
              <a:ext uri="{FF2B5EF4-FFF2-40B4-BE49-F238E27FC236}">
                <a16:creationId xmlns:a16="http://schemas.microsoft.com/office/drawing/2014/main" id="{ED83F867-E281-2EDA-27FE-6824A8712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334000"/>
            <a:ext cx="3048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359BC63-BD47-CE56-D837-4B026AA65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Bipartite Graph </a:t>
            </a:r>
            <a:endParaRPr lang="en-US" altLang="en-US" b="1"/>
          </a:p>
        </p:txBody>
      </p:sp>
      <p:sp>
        <p:nvSpPr>
          <p:cNvPr id="29699" name="TextBox 3">
            <a:extLst>
              <a:ext uri="{FF2B5EF4-FFF2-40B4-BE49-F238E27FC236}">
                <a16:creationId xmlns:a16="http://schemas.microsoft.com/office/drawing/2014/main" id="{10A78C33-04A1-17D4-2944-CADE2134F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Example: </a:t>
            </a:r>
            <a:r>
              <a:rPr lang="en-US" altLang="en-US"/>
              <a:t>Show that </a:t>
            </a:r>
            <a:r>
              <a:rPr lang="en-US" altLang="en-US" i="1"/>
              <a:t>C</a:t>
            </a:r>
            <a:r>
              <a:rPr lang="en-US" altLang="en-US" i="1" baseline="-25000"/>
              <a:t>3 </a:t>
            </a:r>
            <a:r>
              <a:rPr lang="en-US" altLang="en-US" i="1"/>
              <a:t>is not bipartite.</a:t>
            </a:r>
            <a:endParaRPr lang="en-US" altLang="en-US" b="1"/>
          </a:p>
        </p:txBody>
      </p:sp>
      <p:pic>
        <p:nvPicPr>
          <p:cNvPr id="29700" name="Picture 2">
            <a:extLst>
              <a:ext uri="{FF2B5EF4-FFF2-40B4-BE49-F238E27FC236}">
                <a16:creationId xmlns:a16="http://schemas.microsoft.com/office/drawing/2014/main" id="{78C31945-BF32-89FE-8AD5-9E6F36225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133600"/>
            <a:ext cx="16859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B76A11C-C11C-FB24-9D39-4F09804FF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Bipartite Graph </a:t>
            </a:r>
            <a:endParaRPr lang="en-US" altLang="en-US" b="1"/>
          </a:p>
        </p:txBody>
      </p:sp>
      <p:sp>
        <p:nvSpPr>
          <p:cNvPr id="30723" name="TextBox 3">
            <a:extLst>
              <a:ext uri="{FF2B5EF4-FFF2-40B4-BE49-F238E27FC236}">
                <a16:creationId xmlns:a16="http://schemas.microsoft.com/office/drawing/2014/main" id="{A6EB2335-B6F6-3A28-09B4-E4EF21818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Example: </a:t>
            </a:r>
            <a:r>
              <a:rPr lang="en-US" altLang="en-US"/>
              <a:t>Show that </a:t>
            </a:r>
            <a:r>
              <a:rPr lang="en-US" altLang="en-US" i="1"/>
              <a:t>C</a:t>
            </a:r>
            <a:r>
              <a:rPr lang="en-US" altLang="en-US" i="1" baseline="-25000"/>
              <a:t>3 </a:t>
            </a:r>
            <a:r>
              <a:rPr lang="en-US" altLang="en-US" i="1"/>
              <a:t>is not bipartite.</a:t>
            </a:r>
            <a:endParaRPr lang="en-US" altLang="en-US" b="1"/>
          </a:p>
        </p:txBody>
      </p:sp>
      <p:sp>
        <p:nvSpPr>
          <p:cNvPr id="30724" name="TextBox 6">
            <a:extLst>
              <a:ext uri="{FF2B5EF4-FFF2-40B4-BE49-F238E27FC236}">
                <a16:creationId xmlns:a16="http://schemas.microsoft.com/office/drawing/2014/main" id="{7A88BD11-22C8-D180-F122-4FAFEAF12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962400"/>
            <a:ext cx="7848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Solution: </a:t>
            </a:r>
            <a:r>
              <a:rPr lang="en-US" altLang="en-US"/>
              <a:t>If we divide the vertex set of </a:t>
            </a:r>
            <a:r>
              <a:rPr lang="en-US" altLang="en-US" i="1"/>
              <a:t>C</a:t>
            </a:r>
            <a:r>
              <a:rPr lang="en-US" altLang="en-US" i="1" baseline="-25000"/>
              <a:t>3</a:t>
            </a:r>
            <a:r>
              <a:rPr lang="en-US" altLang="en-US" i="1"/>
              <a:t> into two nonempty sets, </a:t>
            </a:r>
            <a:r>
              <a:rPr lang="en-US" altLang="en-US" i="1">
                <a:solidFill>
                  <a:srgbClr val="FF0000"/>
                </a:solidFill>
              </a:rPr>
              <a:t>one of the </a:t>
            </a:r>
            <a:r>
              <a:rPr lang="en-US" altLang="en-US">
                <a:solidFill>
                  <a:srgbClr val="FF0000"/>
                </a:solidFill>
              </a:rPr>
              <a:t>two must contain two vertices</a:t>
            </a:r>
            <a:r>
              <a:rPr lang="en-US" altLang="en-US"/>
              <a:t>. But in </a:t>
            </a:r>
            <a:r>
              <a:rPr lang="en-US" altLang="en-US" i="1"/>
              <a:t>C</a:t>
            </a:r>
            <a:r>
              <a:rPr lang="en-US" altLang="en-US" i="1" baseline="-25000"/>
              <a:t>3</a:t>
            </a:r>
            <a:r>
              <a:rPr lang="en-US" altLang="en-US" i="1"/>
              <a:t> every vertex is connected </a:t>
            </a:r>
            <a:r>
              <a:rPr lang="en-US" altLang="en-US"/>
              <a:t>to every other vertex. Therefore, the two vertices in the same partition are connected. Hence, </a:t>
            </a:r>
            <a:r>
              <a:rPr lang="en-US" altLang="en-US" i="1">
                <a:solidFill>
                  <a:srgbClr val="FF0000"/>
                </a:solidFill>
              </a:rPr>
              <a:t>C</a:t>
            </a:r>
            <a:r>
              <a:rPr lang="en-US" altLang="en-US" i="1" baseline="-25000">
                <a:solidFill>
                  <a:srgbClr val="FF0000"/>
                </a:solidFill>
              </a:rPr>
              <a:t>3</a:t>
            </a:r>
            <a:r>
              <a:rPr lang="en-US" altLang="en-US" i="1">
                <a:solidFill>
                  <a:srgbClr val="FF0000"/>
                </a:solidFill>
              </a:rPr>
              <a:t> is not bipartite</a:t>
            </a:r>
            <a:r>
              <a:rPr lang="en-US" altLang="en-US" i="1"/>
              <a:t>.</a:t>
            </a:r>
            <a:endParaRPr lang="en-US" altLang="en-US"/>
          </a:p>
        </p:txBody>
      </p:sp>
      <p:pic>
        <p:nvPicPr>
          <p:cNvPr id="30725" name="Picture 2">
            <a:extLst>
              <a:ext uri="{FF2B5EF4-FFF2-40B4-BE49-F238E27FC236}">
                <a16:creationId xmlns:a16="http://schemas.microsoft.com/office/drawing/2014/main" id="{FC2962E7-7B6A-0F6B-E441-C7BD5BAEA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133600"/>
            <a:ext cx="16859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FD35E70-BF80-60E7-9D85-FCD574310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Complete Bipartite Graph </a:t>
            </a:r>
            <a:endParaRPr lang="en-US" altLang="en-US" b="1"/>
          </a:p>
        </p:txBody>
      </p:sp>
      <p:sp>
        <p:nvSpPr>
          <p:cNvPr id="31747" name="TextBox 3">
            <a:extLst>
              <a:ext uri="{FF2B5EF4-FFF2-40B4-BE49-F238E27FC236}">
                <a16:creationId xmlns:a16="http://schemas.microsoft.com/office/drawing/2014/main" id="{D979E89B-7311-AD80-69FA-53C66BA1C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 </a:t>
            </a:r>
            <a:r>
              <a:rPr lang="en-US" altLang="en-US"/>
              <a:t>A </a:t>
            </a:r>
            <a:r>
              <a:rPr lang="en-US" altLang="en-US" i="1"/>
              <a:t>complete bipartite graph K</a:t>
            </a:r>
            <a:r>
              <a:rPr lang="en-US" altLang="en-US" i="1">
                <a:solidFill>
                  <a:srgbClr val="FF0000"/>
                </a:solidFill>
              </a:rPr>
              <a:t>m,n</a:t>
            </a:r>
            <a:r>
              <a:rPr lang="en-US" altLang="en-US" i="1"/>
              <a:t> is a graph that has its </a:t>
            </a:r>
            <a:r>
              <a:rPr lang="en-US" altLang="en-US"/>
              <a:t>vertex set partitioned into two subsets </a:t>
            </a:r>
            <a:r>
              <a:rPr lang="en-US" altLang="en-US" i="1">
                <a:solidFill>
                  <a:srgbClr val="FF0000"/>
                </a:solidFill>
              </a:rPr>
              <a:t>V</a:t>
            </a:r>
            <a:r>
              <a:rPr lang="en-US" altLang="en-US" i="1" baseline="-25000">
                <a:solidFill>
                  <a:srgbClr val="FF0000"/>
                </a:solidFill>
              </a:rPr>
              <a:t>1</a:t>
            </a:r>
            <a:r>
              <a:rPr lang="en-US" altLang="en-US" i="1" baseline="-25000"/>
              <a:t> </a:t>
            </a:r>
            <a:r>
              <a:rPr lang="en-US" altLang="en-US" i="1"/>
              <a:t>of size </a:t>
            </a:r>
            <a:r>
              <a:rPr lang="en-US" altLang="en-US" i="1">
                <a:solidFill>
                  <a:srgbClr val="FF0000"/>
                </a:solidFill>
              </a:rPr>
              <a:t>m</a:t>
            </a:r>
            <a:r>
              <a:rPr lang="en-US" altLang="en-US" i="1"/>
              <a:t> and </a:t>
            </a:r>
            <a:r>
              <a:rPr lang="en-US" altLang="en-US" i="1">
                <a:solidFill>
                  <a:srgbClr val="FF0000"/>
                </a:solidFill>
              </a:rPr>
              <a:t>V</a:t>
            </a:r>
            <a:r>
              <a:rPr lang="en-US" altLang="en-US" i="1" baseline="-25000">
                <a:solidFill>
                  <a:srgbClr val="FF0000"/>
                </a:solidFill>
              </a:rPr>
              <a:t>2</a:t>
            </a:r>
            <a:r>
              <a:rPr lang="en-US" altLang="en-US" i="1"/>
              <a:t> of size </a:t>
            </a:r>
            <a:r>
              <a:rPr lang="en-US" altLang="en-US" i="1">
                <a:solidFill>
                  <a:srgbClr val="FF0000"/>
                </a:solidFill>
              </a:rPr>
              <a:t>n</a:t>
            </a:r>
            <a:r>
              <a:rPr lang="en-US" altLang="en-US" i="1"/>
              <a:t> such that there is an edge from every vertex in V</a:t>
            </a:r>
            <a:r>
              <a:rPr lang="en-US" altLang="en-US" i="1" baseline="-25000"/>
              <a:t>1</a:t>
            </a:r>
            <a:r>
              <a:rPr lang="en-US" altLang="en-US" i="1"/>
              <a:t> to every vertex </a:t>
            </a:r>
            <a:r>
              <a:rPr lang="en-US" altLang="en-US"/>
              <a:t>in </a:t>
            </a:r>
            <a:r>
              <a:rPr lang="en-US" altLang="en-US" i="1"/>
              <a:t>V</a:t>
            </a:r>
            <a:r>
              <a:rPr lang="en-US" altLang="en-US" i="1" baseline="-25000"/>
              <a:t>2</a:t>
            </a:r>
            <a:r>
              <a:rPr lang="en-US" altLang="en-US" i="1"/>
              <a:t>.</a:t>
            </a:r>
          </a:p>
          <a:p>
            <a:endParaRPr lang="en-US" altLang="en-US" i="1"/>
          </a:p>
          <a:p>
            <a:endParaRPr lang="en-US" altLang="en-US" i="1"/>
          </a:p>
          <a:p>
            <a:r>
              <a:rPr lang="en-US" altLang="en-US">
                <a:solidFill>
                  <a:srgbClr val="FF0000"/>
                </a:solidFill>
              </a:rPr>
              <a:t>Example:</a:t>
            </a:r>
            <a:r>
              <a:rPr lang="en-US" altLang="en-US"/>
              <a:t> We display four complete bipartite graphs here.</a:t>
            </a:r>
          </a:p>
        </p:txBody>
      </p:sp>
      <p:pic>
        <p:nvPicPr>
          <p:cNvPr id="31748" name="Picture 2">
            <a:extLst>
              <a:ext uri="{FF2B5EF4-FFF2-40B4-BE49-F238E27FC236}">
                <a16:creationId xmlns:a16="http://schemas.microsoft.com/office/drawing/2014/main" id="{E06658DD-4965-6D40-EF58-C453491C6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419600"/>
            <a:ext cx="51054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4A3B240-4A56-9899-0196-386384DB1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Subgraph</a:t>
            </a:r>
            <a:endParaRPr lang="en-US" altLang="en-US" b="1"/>
          </a:p>
        </p:txBody>
      </p:sp>
      <p:sp>
        <p:nvSpPr>
          <p:cNvPr id="32771" name="TextBox 3">
            <a:extLst>
              <a:ext uri="{FF2B5EF4-FFF2-40B4-BE49-F238E27FC236}">
                <a16:creationId xmlns:a16="http://schemas.microsoft.com/office/drawing/2014/main" id="{33F90EE9-3697-5EE7-A528-55BA788ED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 </a:t>
            </a:r>
            <a:r>
              <a:rPr lang="en-US" altLang="en-US"/>
              <a:t>A </a:t>
            </a:r>
            <a:r>
              <a:rPr lang="en-US" altLang="en-US" i="1"/>
              <a:t>subgraph of a graph G = (V,E) is a graph (W,F), </a:t>
            </a:r>
            <a:r>
              <a:rPr lang="en-US" altLang="en-US"/>
              <a:t>where </a:t>
            </a:r>
            <a:r>
              <a:rPr lang="en-US" altLang="en-US" i="1">
                <a:solidFill>
                  <a:srgbClr val="FF0000"/>
                </a:solidFill>
              </a:rPr>
              <a:t>W ⊂ V </a:t>
            </a:r>
            <a:r>
              <a:rPr lang="en-US" altLang="en-US" i="1"/>
              <a:t>and </a:t>
            </a:r>
            <a:r>
              <a:rPr lang="en-US" altLang="en-US" i="1">
                <a:solidFill>
                  <a:srgbClr val="FF0000"/>
                </a:solidFill>
              </a:rPr>
              <a:t>F ⊂ E</a:t>
            </a:r>
            <a:r>
              <a:rPr lang="en-US" altLang="en-US" i="1"/>
              <a:t>. A </a:t>
            </a:r>
            <a:r>
              <a:rPr lang="en-US" altLang="en-US" i="1">
                <a:solidFill>
                  <a:srgbClr val="FF0000"/>
                </a:solidFill>
              </a:rPr>
              <a:t>subgraph</a:t>
            </a:r>
            <a:r>
              <a:rPr lang="en-US" altLang="en-US" i="1"/>
              <a:t> H of G is a </a:t>
            </a:r>
            <a:r>
              <a:rPr lang="en-US" altLang="en-US" i="1">
                <a:solidFill>
                  <a:srgbClr val="FF0000"/>
                </a:solidFill>
              </a:rPr>
              <a:t>proper </a:t>
            </a:r>
            <a:r>
              <a:rPr lang="en-US" altLang="en-US" i="1"/>
              <a:t>subgraph </a:t>
            </a:r>
            <a:r>
              <a:rPr lang="en-US" altLang="en-US"/>
              <a:t>of </a:t>
            </a:r>
            <a:r>
              <a:rPr lang="en-US" altLang="en-US" i="1"/>
              <a:t>G if </a:t>
            </a:r>
            <a:r>
              <a:rPr lang="en-US" altLang="en-US" i="1">
                <a:solidFill>
                  <a:srgbClr val="FF0000"/>
                </a:solidFill>
              </a:rPr>
              <a:t>H ≠ G</a:t>
            </a:r>
            <a:r>
              <a:rPr lang="en-US" altLang="en-US" i="1"/>
              <a:t>.</a:t>
            </a:r>
          </a:p>
          <a:p>
            <a:endParaRPr lang="en-US" altLang="en-US" i="1"/>
          </a:p>
          <a:p>
            <a:endParaRPr lang="en-US" altLang="en-US" i="1"/>
          </a:p>
          <a:p>
            <a:r>
              <a:rPr lang="en-US" altLang="en-US"/>
              <a:t>Example: </a:t>
            </a:r>
            <a:r>
              <a:rPr lang="en-US" altLang="en-US" i="1"/>
              <a:t>K</a:t>
            </a:r>
            <a:r>
              <a:rPr lang="en-US" altLang="en-US" i="1" baseline="-25000"/>
              <a:t>5 </a:t>
            </a:r>
            <a:r>
              <a:rPr lang="en-US" altLang="en-US" i="1"/>
              <a:t>and one of its subgraphs.</a:t>
            </a:r>
            <a:endParaRPr lang="en-US" altLang="en-US"/>
          </a:p>
        </p:txBody>
      </p:sp>
      <p:pic>
        <p:nvPicPr>
          <p:cNvPr id="32772" name="Picture 2">
            <a:extLst>
              <a:ext uri="{FF2B5EF4-FFF2-40B4-BE49-F238E27FC236}">
                <a16:creationId xmlns:a16="http://schemas.microsoft.com/office/drawing/2014/main" id="{2527AA6B-8B7B-F48F-5B12-B2480547A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343400"/>
            <a:ext cx="48244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127CCF9-26BC-CBBA-5E55-386D6AEC4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Subgraph</a:t>
            </a:r>
            <a:endParaRPr lang="en-US" altLang="en-US" b="1"/>
          </a:p>
        </p:txBody>
      </p:sp>
      <p:sp>
        <p:nvSpPr>
          <p:cNvPr id="33795" name="TextBox 3">
            <a:extLst>
              <a:ext uri="{FF2B5EF4-FFF2-40B4-BE49-F238E27FC236}">
                <a16:creationId xmlns:a16="http://schemas.microsoft.com/office/drawing/2014/main" id="{40DCD504-EED7-F42C-C7B6-C429AB4A9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Definition: Let </a:t>
            </a:r>
            <a:r>
              <a:rPr lang="en-US" altLang="en-US" i="1"/>
              <a:t>G = (V, E) be a simple graph. The </a:t>
            </a:r>
            <a:r>
              <a:rPr lang="en-US" altLang="en-US" i="1">
                <a:solidFill>
                  <a:srgbClr val="FF0000"/>
                </a:solidFill>
              </a:rPr>
              <a:t>subgraph induced </a:t>
            </a:r>
            <a:r>
              <a:rPr lang="en-US" altLang="en-US" i="1"/>
              <a:t>by a subset </a:t>
            </a:r>
            <a:r>
              <a:rPr lang="en-US" altLang="en-US" i="1">
                <a:solidFill>
                  <a:srgbClr val="FF0000"/>
                </a:solidFill>
              </a:rPr>
              <a:t>W</a:t>
            </a:r>
            <a:r>
              <a:rPr lang="en-US" altLang="en-US" i="1"/>
              <a:t> of the vertex set V is the graph </a:t>
            </a:r>
            <a:r>
              <a:rPr lang="en-US" altLang="en-US" i="1">
                <a:solidFill>
                  <a:srgbClr val="FF0000"/>
                </a:solidFill>
              </a:rPr>
              <a:t>(W,F)</a:t>
            </a:r>
            <a:r>
              <a:rPr lang="en-US" altLang="en-US" i="1"/>
              <a:t>, </a:t>
            </a:r>
            <a:r>
              <a:rPr lang="en-US" altLang="en-US"/>
              <a:t>where the edge set </a:t>
            </a:r>
            <a:r>
              <a:rPr lang="en-US" altLang="en-US" i="1"/>
              <a:t>F contains an edge in E </a:t>
            </a:r>
            <a:r>
              <a:rPr lang="en-US" altLang="en-US" i="1">
                <a:solidFill>
                  <a:srgbClr val="FF0000"/>
                </a:solidFill>
              </a:rPr>
              <a:t>if and only if both </a:t>
            </a:r>
            <a:r>
              <a:rPr lang="en-US" altLang="en-US">
                <a:solidFill>
                  <a:srgbClr val="FF0000"/>
                </a:solidFill>
              </a:rPr>
              <a:t>endpoints are in </a:t>
            </a:r>
            <a:r>
              <a:rPr lang="en-US" altLang="en-US" i="1">
                <a:solidFill>
                  <a:srgbClr val="FF0000"/>
                </a:solidFill>
              </a:rPr>
              <a:t>W</a:t>
            </a:r>
            <a:r>
              <a:rPr lang="en-US" altLang="en-US" i="1"/>
              <a:t>.</a:t>
            </a:r>
          </a:p>
          <a:p>
            <a:endParaRPr lang="en-US" altLang="en-US" i="1"/>
          </a:p>
          <a:p>
            <a:endParaRPr lang="en-US" altLang="en-US" i="1"/>
          </a:p>
          <a:p>
            <a:r>
              <a:rPr lang="en-US" altLang="en-US"/>
              <a:t>Example: </a:t>
            </a:r>
            <a:r>
              <a:rPr lang="en-US" altLang="en-US" i="1"/>
              <a:t>K</a:t>
            </a:r>
            <a:r>
              <a:rPr lang="en-US" altLang="en-US" i="1" baseline="-25000"/>
              <a:t>5</a:t>
            </a:r>
            <a:r>
              <a:rPr lang="en-US" altLang="en-US" i="1"/>
              <a:t> and the subgraph induced by </a:t>
            </a:r>
            <a:r>
              <a:rPr lang="en-US" altLang="en-US" i="1">
                <a:solidFill>
                  <a:srgbClr val="FF0000"/>
                </a:solidFill>
              </a:rPr>
              <a:t>W = {a,b,c,e}.</a:t>
            </a:r>
            <a:endParaRPr lang="en-US" altLang="en-US">
              <a:solidFill>
                <a:srgbClr val="FF0000"/>
              </a:solidFill>
            </a:endParaRPr>
          </a:p>
        </p:txBody>
      </p:sp>
      <p:pic>
        <p:nvPicPr>
          <p:cNvPr id="33796" name="Picture 2">
            <a:extLst>
              <a:ext uri="{FF2B5EF4-FFF2-40B4-BE49-F238E27FC236}">
                <a16:creationId xmlns:a16="http://schemas.microsoft.com/office/drawing/2014/main" id="{1C4BB3A7-3B66-5960-9A13-E89542C0D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191000"/>
            <a:ext cx="483552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4080F496-5158-F8E1-8E25-ACB6AF768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Union of Graph</a:t>
            </a:r>
            <a:endParaRPr lang="en-US" altLang="en-US" b="1"/>
          </a:p>
        </p:txBody>
      </p:sp>
      <p:sp>
        <p:nvSpPr>
          <p:cNvPr id="34819" name="TextBox 3">
            <a:extLst>
              <a:ext uri="{FF2B5EF4-FFF2-40B4-BE49-F238E27FC236}">
                <a16:creationId xmlns:a16="http://schemas.microsoft.com/office/drawing/2014/main" id="{9596A3A4-94EA-63DD-830E-14073523F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 </a:t>
            </a:r>
            <a:r>
              <a:rPr lang="en-US" altLang="en-US"/>
              <a:t>The </a:t>
            </a:r>
            <a:r>
              <a:rPr lang="en-US" altLang="en-US" i="1"/>
              <a:t>union of two simple graphs G</a:t>
            </a:r>
            <a:r>
              <a:rPr lang="en-US" altLang="en-US" i="1" baseline="-25000"/>
              <a:t>1</a:t>
            </a:r>
            <a:r>
              <a:rPr lang="en-US" altLang="en-US" i="1"/>
              <a:t> = (V</a:t>
            </a:r>
            <a:r>
              <a:rPr lang="en-US" altLang="en-US" i="1" baseline="-25000"/>
              <a:t>1</a:t>
            </a:r>
            <a:r>
              <a:rPr lang="en-US" altLang="en-US" i="1"/>
              <a:t>, E</a:t>
            </a:r>
            <a:r>
              <a:rPr lang="en-US" altLang="en-US" i="1" baseline="-25000"/>
              <a:t>1</a:t>
            </a:r>
            <a:r>
              <a:rPr lang="en-US" altLang="en-US" i="1"/>
              <a:t>) and G</a:t>
            </a:r>
            <a:r>
              <a:rPr lang="en-US" altLang="en-US" i="1" baseline="-25000"/>
              <a:t>2</a:t>
            </a:r>
            <a:r>
              <a:rPr lang="en-US" altLang="en-US" i="1"/>
              <a:t> = (V</a:t>
            </a:r>
            <a:r>
              <a:rPr lang="en-US" altLang="en-US" i="1" baseline="-25000"/>
              <a:t>2</a:t>
            </a:r>
            <a:r>
              <a:rPr lang="en-US" altLang="en-US" i="1"/>
              <a:t>, E</a:t>
            </a:r>
            <a:r>
              <a:rPr lang="en-US" altLang="en-US" i="1" baseline="-25000"/>
              <a:t>2</a:t>
            </a:r>
            <a:r>
              <a:rPr lang="en-US" altLang="en-US" i="1"/>
              <a:t>) is the simple graph with vertex set V</a:t>
            </a:r>
            <a:r>
              <a:rPr lang="en-US" altLang="en-US" i="1" baseline="-25000"/>
              <a:t>1</a:t>
            </a:r>
            <a:r>
              <a:rPr lang="en-US" altLang="en-US" i="1"/>
              <a:t> ⋃ V</a:t>
            </a:r>
            <a:r>
              <a:rPr lang="en-US" altLang="en-US" i="1" baseline="-25000"/>
              <a:t>2</a:t>
            </a:r>
            <a:r>
              <a:rPr lang="en-US" altLang="en-US" i="1"/>
              <a:t> and edge set E</a:t>
            </a:r>
            <a:r>
              <a:rPr lang="en-US" altLang="en-US" i="1" baseline="-25000"/>
              <a:t>1</a:t>
            </a:r>
            <a:r>
              <a:rPr lang="en-US" altLang="en-US" i="1"/>
              <a:t> ⋃ E</a:t>
            </a:r>
            <a:r>
              <a:rPr lang="en-US" altLang="en-US" i="1" baseline="-25000"/>
              <a:t>2</a:t>
            </a:r>
            <a:r>
              <a:rPr lang="en-US" altLang="en-US" i="1"/>
              <a:t>. The union of G</a:t>
            </a:r>
            <a:r>
              <a:rPr lang="en-US" altLang="en-US" i="1" baseline="-25000"/>
              <a:t>1</a:t>
            </a:r>
            <a:r>
              <a:rPr lang="en-US" altLang="en-US" i="1"/>
              <a:t> and G</a:t>
            </a:r>
            <a:r>
              <a:rPr lang="en-US" altLang="en-US" i="1" baseline="-25000"/>
              <a:t>2</a:t>
            </a:r>
            <a:r>
              <a:rPr lang="en-US" altLang="en-US" i="1"/>
              <a:t> is denoted by G</a:t>
            </a:r>
            <a:r>
              <a:rPr lang="en-US" altLang="en-US" i="1" baseline="-25000"/>
              <a:t>1</a:t>
            </a:r>
            <a:r>
              <a:rPr lang="en-US" altLang="en-US" i="1"/>
              <a:t> ⋃ G</a:t>
            </a:r>
            <a:r>
              <a:rPr lang="en-US" altLang="en-US" i="1" baseline="-25000"/>
              <a:t>2</a:t>
            </a:r>
            <a:r>
              <a:rPr lang="en-US" altLang="en-US" i="1"/>
              <a:t>.</a:t>
            </a:r>
          </a:p>
          <a:p>
            <a:endParaRPr lang="en-US" altLang="en-US" i="1"/>
          </a:p>
          <a:p>
            <a:r>
              <a:rPr lang="en-US" altLang="en-US">
                <a:solidFill>
                  <a:srgbClr val="FF0000"/>
                </a:solidFill>
              </a:rPr>
              <a:t>Example:</a:t>
            </a:r>
          </a:p>
        </p:txBody>
      </p:sp>
      <p:pic>
        <p:nvPicPr>
          <p:cNvPr id="34820" name="Picture 2">
            <a:extLst>
              <a:ext uri="{FF2B5EF4-FFF2-40B4-BE49-F238E27FC236}">
                <a16:creationId xmlns:a16="http://schemas.microsoft.com/office/drawing/2014/main" id="{B1C69D3B-A255-30C6-EF88-67893C936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343400"/>
            <a:ext cx="75438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37C5E09-8BF3-C1FA-C2F7-2F7480B14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Representation: Adjacency List</a:t>
            </a:r>
            <a:endParaRPr lang="en-US" altLang="en-US" b="1"/>
          </a:p>
        </p:txBody>
      </p:sp>
      <p:sp>
        <p:nvSpPr>
          <p:cNvPr id="35843" name="TextBox 3">
            <a:extLst>
              <a:ext uri="{FF2B5EF4-FFF2-40B4-BE49-F238E27FC236}">
                <a16:creationId xmlns:a16="http://schemas.microsoft.com/office/drawing/2014/main" id="{95696C2F-2CA9-1153-282D-8398BDB18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 </a:t>
            </a:r>
            <a:r>
              <a:rPr lang="en-US" altLang="en-US"/>
              <a:t>An </a:t>
            </a:r>
            <a:r>
              <a:rPr lang="en-US" altLang="en-US" i="1">
                <a:solidFill>
                  <a:srgbClr val="FF0000"/>
                </a:solidFill>
              </a:rPr>
              <a:t>adjacency list </a:t>
            </a:r>
            <a:r>
              <a:rPr lang="en-US" altLang="en-US" i="1"/>
              <a:t>can be used to represent a </a:t>
            </a:r>
            <a:r>
              <a:rPr lang="en-US" altLang="en-US" i="1">
                <a:solidFill>
                  <a:srgbClr val="FF0000"/>
                </a:solidFill>
              </a:rPr>
              <a:t>graph with </a:t>
            </a:r>
            <a:r>
              <a:rPr lang="en-US" altLang="en-US">
                <a:solidFill>
                  <a:srgbClr val="FF0000"/>
                </a:solidFill>
              </a:rPr>
              <a:t>no multiple edges </a:t>
            </a:r>
            <a:r>
              <a:rPr lang="en-US" altLang="en-US"/>
              <a:t>by specifying the vertices that are adjacent to each vertex of the graph.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Example:</a:t>
            </a:r>
          </a:p>
        </p:txBody>
      </p:sp>
      <p:pic>
        <p:nvPicPr>
          <p:cNvPr id="35844" name="Picture 2">
            <a:extLst>
              <a:ext uri="{FF2B5EF4-FFF2-40B4-BE49-F238E27FC236}">
                <a16:creationId xmlns:a16="http://schemas.microsoft.com/office/drawing/2014/main" id="{D4FEB0EB-2484-5ED8-E0A0-E29D2057C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191000"/>
            <a:ext cx="266700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1785DC-8A27-0733-F6FC-4888B73F51FF}"/>
              </a:ext>
            </a:extLst>
          </p:cNvPr>
          <p:cNvGraphicFramePr>
            <a:graphicFrameLocks noGrp="1"/>
          </p:cNvGraphicFramePr>
          <p:nvPr/>
        </p:nvGraphicFramePr>
        <p:xfrm>
          <a:off x="5029200" y="3886200"/>
          <a:ext cx="3810000" cy="2560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05">
                <a:tc gridSpan="2"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An adjacency list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 for a simple graph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vertex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Adjacent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 vertex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b, c, e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a, d, e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c, e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a, c, d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9A4ADA2-B97C-7A05-70B7-F9FA91E206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Representation: Adjacency List</a:t>
            </a:r>
            <a:endParaRPr lang="en-US" altLang="en-US" b="1"/>
          </a:p>
        </p:txBody>
      </p:sp>
      <p:sp>
        <p:nvSpPr>
          <p:cNvPr id="36867" name="TextBox 3">
            <a:extLst>
              <a:ext uri="{FF2B5EF4-FFF2-40B4-BE49-F238E27FC236}">
                <a16:creationId xmlns:a16="http://schemas.microsoft.com/office/drawing/2014/main" id="{A6CECCB6-1A27-D7FB-6F40-67494FC00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Definition: </a:t>
            </a:r>
            <a:r>
              <a:rPr lang="en-US" altLang="en-US"/>
              <a:t>An </a:t>
            </a:r>
            <a:r>
              <a:rPr lang="en-US" altLang="en-US" i="1">
                <a:solidFill>
                  <a:srgbClr val="FF0000"/>
                </a:solidFill>
              </a:rPr>
              <a:t>adjacency list </a:t>
            </a:r>
            <a:r>
              <a:rPr lang="en-US" altLang="en-US" i="1"/>
              <a:t>can be used to represent a </a:t>
            </a:r>
            <a:r>
              <a:rPr lang="en-US" altLang="en-US" i="1">
                <a:solidFill>
                  <a:srgbClr val="FF0000"/>
                </a:solidFill>
              </a:rPr>
              <a:t>graph with </a:t>
            </a:r>
            <a:r>
              <a:rPr lang="en-US" altLang="en-US">
                <a:solidFill>
                  <a:srgbClr val="FF0000"/>
                </a:solidFill>
              </a:rPr>
              <a:t>no multiple edges </a:t>
            </a:r>
            <a:r>
              <a:rPr lang="en-US" altLang="en-US"/>
              <a:t>by specifying the vertices that are adjacent to each vertex of the graph.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17FC53-6E17-F3CE-1E8E-554AB3BDC92C}"/>
              </a:ext>
            </a:extLst>
          </p:cNvPr>
          <p:cNvGraphicFramePr>
            <a:graphicFrameLocks noGrp="1"/>
          </p:cNvGraphicFramePr>
          <p:nvPr/>
        </p:nvGraphicFramePr>
        <p:xfrm>
          <a:off x="5029200" y="3886200"/>
          <a:ext cx="3810000" cy="2560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05">
                <a:tc gridSpan="2"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An adjacency list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 for a directed graph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vertex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Adjacent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 vertex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b, c, d, e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b, d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a, c, e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b, c, d</a:t>
                      </a:r>
                    </a:p>
                  </a:txBody>
                  <a:tcPr marT="45726" marB="45726"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6893" name="Picture 2">
            <a:extLst>
              <a:ext uri="{FF2B5EF4-FFF2-40B4-BE49-F238E27FC236}">
                <a16:creationId xmlns:a16="http://schemas.microsoft.com/office/drawing/2014/main" id="{5681462E-CA02-358F-BBD7-798A289A5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038600"/>
            <a:ext cx="30210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FD7F937A-F3D2-3CAC-F516-1D8DEB94DD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Adjacency Matrix</a:t>
            </a:r>
            <a:endParaRPr lang="en-US" altLang="en-US" b="1"/>
          </a:p>
        </p:txBody>
      </p:sp>
      <p:sp>
        <p:nvSpPr>
          <p:cNvPr id="4100" name="TextBox 3">
            <a:extLst>
              <a:ext uri="{FF2B5EF4-FFF2-40B4-BE49-F238E27FC236}">
                <a16:creationId xmlns:a16="http://schemas.microsoft.com/office/drawing/2014/main" id="{AE5796AF-5283-1586-7CC4-6B0B63A44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Definition: Suppose that G = (V, E) is a simple graph where |V| = n. Arbitrarily list the vertices of G as v</a:t>
            </a:r>
            <a:r>
              <a:rPr lang="en-US" altLang="en-US" baseline="-25000"/>
              <a:t>1</a:t>
            </a:r>
            <a:r>
              <a:rPr lang="en-US" altLang="en-US"/>
              <a:t>, v</a:t>
            </a:r>
            <a:r>
              <a:rPr lang="en-US" altLang="en-US" baseline="-25000"/>
              <a:t>2</a:t>
            </a:r>
            <a:r>
              <a:rPr lang="en-US" altLang="en-US"/>
              <a:t>, … , v</a:t>
            </a:r>
            <a:r>
              <a:rPr lang="en-US" altLang="en-US" baseline="-25000"/>
              <a:t>n</a:t>
            </a:r>
            <a:r>
              <a:rPr lang="en-US" altLang="en-US"/>
              <a:t>. The adjacency matrix A</a:t>
            </a:r>
            <a:r>
              <a:rPr lang="en-US" altLang="en-US" baseline="-25000"/>
              <a:t>G</a:t>
            </a:r>
            <a:r>
              <a:rPr lang="en-US" altLang="en-US"/>
              <a:t> of G, with respect to the listing of vertices, is the n × n zero-one matrix with </a:t>
            </a:r>
            <a:r>
              <a:rPr lang="en-US" altLang="en-US">
                <a:solidFill>
                  <a:srgbClr val="FF0000"/>
                </a:solidFill>
              </a:rPr>
              <a:t>1</a:t>
            </a:r>
            <a:r>
              <a:rPr lang="en-US" altLang="en-US"/>
              <a:t> as its </a:t>
            </a:r>
            <a:r>
              <a:rPr lang="en-US" altLang="en-US">
                <a:solidFill>
                  <a:srgbClr val="FF0000"/>
                </a:solidFill>
              </a:rPr>
              <a:t>(i, j)</a:t>
            </a:r>
            <a:r>
              <a:rPr lang="en-US" altLang="en-US"/>
              <a:t>th entry when </a:t>
            </a:r>
            <a:r>
              <a:rPr lang="en-US" altLang="en-US">
                <a:solidFill>
                  <a:srgbClr val="FF0000"/>
                </a:solidFill>
              </a:rPr>
              <a:t>v</a:t>
            </a:r>
            <a:r>
              <a:rPr lang="en-US" altLang="en-US" baseline="-25000">
                <a:solidFill>
                  <a:srgbClr val="FF0000"/>
                </a:solidFill>
              </a:rPr>
              <a:t>i</a:t>
            </a:r>
            <a:r>
              <a:rPr lang="en-US" altLang="en-US" baseline="-25000"/>
              <a:t> </a:t>
            </a:r>
            <a:r>
              <a:rPr lang="en-US" altLang="en-US"/>
              <a:t>and </a:t>
            </a:r>
            <a:r>
              <a:rPr lang="en-US" altLang="en-US">
                <a:solidFill>
                  <a:srgbClr val="FF0000"/>
                </a:solidFill>
              </a:rPr>
              <a:t>v</a:t>
            </a:r>
            <a:r>
              <a:rPr lang="en-US" altLang="en-US" baseline="-25000"/>
              <a:t>j</a:t>
            </a:r>
            <a:r>
              <a:rPr lang="en-US" altLang="en-US"/>
              <a:t> are </a:t>
            </a:r>
            <a:r>
              <a:rPr lang="en-US" altLang="en-US">
                <a:solidFill>
                  <a:srgbClr val="FF0000"/>
                </a:solidFill>
              </a:rPr>
              <a:t>adjacent</a:t>
            </a:r>
            <a:r>
              <a:rPr lang="en-US" altLang="en-US"/>
              <a:t>, and </a:t>
            </a:r>
            <a:r>
              <a:rPr lang="en-US" altLang="en-US">
                <a:solidFill>
                  <a:srgbClr val="FF0000"/>
                </a:solidFill>
              </a:rPr>
              <a:t>0</a:t>
            </a:r>
            <a:r>
              <a:rPr lang="en-US" altLang="en-US"/>
              <a:t> as its </a:t>
            </a:r>
            <a:r>
              <a:rPr lang="en-US" altLang="en-US">
                <a:solidFill>
                  <a:srgbClr val="FF0000"/>
                </a:solidFill>
              </a:rPr>
              <a:t>(i, j)</a:t>
            </a:r>
            <a:r>
              <a:rPr lang="en-US" altLang="en-US"/>
              <a:t>th entry when they are not adjacent.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Example:</a:t>
            </a:r>
          </a:p>
        </p:txBody>
      </p:sp>
      <p:pic>
        <p:nvPicPr>
          <p:cNvPr id="4101" name="Picture 2">
            <a:extLst>
              <a:ext uri="{FF2B5EF4-FFF2-40B4-BE49-F238E27FC236}">
                <a16:creationId xmlns:a16="http://schemas.microsoft.com/office/drawing/2014/main" id="{1839DC0C-EB8C-0476-704A-7E6C66D14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953000"/>
            <a:ext cx="17526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098" name="Object 3">
            <a:extLst>
              <a:ext uri="{FF2B5EF4-FFF2-40B4-BE49-F238E27FC236}">
                <a16:creationId xmlns:a16="http://schemas.microsoft.com/office/drawing/2014/main" id="{228E10AF-81D5-29A8-EA67-B79BCF69F9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4495800"/>
          <a:ext cx="2051050" cy="207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914400" progId="Equation.3">
                  <p:embed/>
                </p:oleObj>
              </mc:Choice>
              <mc:Fallback>
                <p:oleObj name="Equation" r:id="rId4" imgW="901440" imgH="914400" progId="Equation.3">
                  <p:embed/>
                  <p:pic>
                    <p:nvPicPr>
                      <p:cNvPr id="4098" name="Object 3">
                        <a:extLst>
                          <a:ext uri="{FF2B5EF4-FFF2-40B4-BE49-F238E27FC236}">
                            <a16:creationId xmlns:a16="http://schemas.microsoft.com/office/drawing/2014/main" id="{228E10AF-81D5-29A8-EA67-B79BCF69F9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495800"/>
                        <a:ext cx="2051050" cy="207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E2C7C18E-B3E1-9263-50A1-2EBD19488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Adjacency Matrix</a:t>
            </a:r>
            <a:endParaRPr lang="en-US" altLang="en-US" b="1"/>
          </a:p>
        </p:txBody>
      </p:sp>
      <p:sp>
        <p:nvSpPr>
          <p:cNvPr id="5124" name="TextBox 3">
            <a:extLst>
              <a:ext uri="{FF2B5EF4-FFF2-40B4-BE49-F238E27FC236}">
                <a16:creationId xmlns:a16="http://schemas.microsoft.com/office/drawing/2014/main" id="{4EB56ECB-E5BC-997E-DC78-6A4EAB435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Adjacency matrices can also be used </a:t>
            </a:r>
            <a:r>
              <a:rPr lang="en-US" altLang="en-US" sz="2000">
                <a:solidFill>
                  <a:srgbClr val="FF0000"/>
                </a:solidFill>
              </a:rPr>
              <a:t>to represent graphs with loops </a:t>
            </a:r>
            <a:r>
              <a:rPr lang="en-US" altLang="en-US" sz="2000"/>
              <a:t>and multiple edges.</a:t>
            </a:r>
          </a:p>
          <a:p>
            <a:r>
              <a:rPr lang="en-US" altLang="en-US" sz="2000"/>
              <a:t>• A loop at the vertex </a:t>
            </a:r>
            <a:r>
              <a:rPr lang="en-US" altLang="en-US" sz="2000" i="1"/>
              <a:t>vi is represented by a </a:t>
            </a:r>
            <a:r>
              <a:rPr lang="en-US" altLang="en-US" sz="2000" i="1">
                <a:solidFill>
                  <a:srgbClr val="FF0000"/>
                </a:solidFill>
              </a:rPr>
              <a:t>1 </a:t>
            </a:r>
            <a:r>
              <a:rPr lang="en-US" altLang="en-US" sz="2000" i="1"/>
              <a:t>at the </a:t>
            </a:r>
            <a:r>
              <a:rPr lang="en-US" altLang="en-US" sz="2000" i="1">
                <a:solidFill>
                  <a:srgbClr val="FF0000"/>
                </a:solidFill>
              </a:rPr>
              <a:t>(i, i)th </a:t>
            </a:r>
            <a:r>
              <a:rPr lang="en-US" altLang="en-US" sz="2000" i="1"/>
              <a:t>position </a:t>
            </a:r>
            <a:r>
              <a:rPr lang="en-US" altLang="en-US" sz="2000"/>
              <a:t>of the matrix.</a:t>
            </a:r>
          </a:p>
          <a:p>
            <a:r>
              <a:rPr lang="en-US" altLang="en-US" sz="2000"/>
              <a:t>• When </a:t>
            </a:r>
            <a:r>
              <a:rPr lang="en-US" altLang="en-US" sz="2000">
                <a:solidFill>
                  <a:srgbClr val="FF0000"/>
                </a:solidFill>
              </a:rPr>
              <a:t>multiple edges connect the same pair </a:t>
            </a:r>
            <a:r>
              <a:rPr lang="en-US" altLang="en-US" sz="2000"/>
              <a:t>of vertices </a:t>
            </a:r>
            <a:r>
              <a:rPr lang="en-US" altLang="en-US" sz="2000" i="1"/>
              <a:t>vi and vj, (or </a:t>
            </a:r>
            <a:r>
              <a:rPr lang="en-US" altLang="en-US" sz="2000"/>
              <a:t>if multiple loops are present at the same vertex), </a:t>
            </a:r>
            <a:r>
              <a:rPr lang="en-US" altLang="en-US" sz="2000">
                <a:solidFill>
                  <a:srgbClr val="FF0000"/>
                </a:solidFill>
              </a:rPr>
              <a:t>the (</a:t>
            </a:r>
            <a:r>
              <a:rPr lang="en-US" altLang="en-US" sz="2000" i="1">
                <a:solidFill>
                  <a:srgbClr val="FF0000"/>
                </a:solidFill>
              </a:rPr>
              <a:t>i, j)th entry </a:t>
            </a:r>
            <a:r>
              <a:rPr lang="en-US" altLang="en-US" sz="2000">
                <a:solidFill>
                  <a:srgbClr val="FF0000"/>
                </a:solidFill>
              </a:rPr>
              <a:t>equals the number of edges connecting</a:t>
            </a:r>
            <a:r>
              <a:rPr lang="en-US" altLang="en-US" sz="2000"/>
              <a:t> the pair of vertices.</a:t>
            </a:r>
          </a:p>
          <a:p>
            <a:endParaRPr lang="en-US" altLang="en-US" sz="2000"/>
          </a:p>
          <a:p>
            <a:r>
              <a:rPr lang="en-US" altLang="en-US" sz="2000">
                <a:solidFill>
                  <a:srgbClr val="FF0000"/>
                </a:solidFill>
              </a:rPr>
              <a:t>Example: </a:t>
            </a:r>
            <a:r>
              <a:rPr lang="en-US" altLang="en-US" sz="2000"/>
              <a:t>The adjacency matrix of the pseudograph shown here using the ordering of vertices </a:t>
            </a:r>
            <a:r>
              <a:rPr lang="en-US" altLang="en-US" sz="2000" i="1"/>
              <a:t>a, b, c, d.</a:t>
            </a:r>
            <a:endParaRPr lang="en-US" altLang="en-US" sz="2000">
              <a:solidFill>
                <a:srgbClr val="FF0000"/>
              </a:solidFill>
            </a:endParaRPr>
          </a:p>
        </p:txBody>
      </p:sp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5C02DB9C-45F6-4C55-0710-2A2C930392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0113" y="4648200"/>
          <a:ext cx="2079625" cy="207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914400" progId="Equation.3">
                  <p:embed/>
                </p:oleObj>
              </mc:Choice>
              <mc:Fallback>
                <p:oleObj name="Equation" r:id="rId3" imgW="914400" imgH="914400" progId="Equation.3">
                  <p:embed/>
                  <p:pic>
                    <p:nvPicPr>
                      <p:cNvPr id="5122" name="Object 2">
                        <a:extLst>
                          <a:ext uri="{FF2B5EF4-FFF2-40B4-BE49-F238E27FC236}">
                            <a16:creationId xmlns:a16="http://schemas.microsoft.com/office/drawing/2014/main" id="{5C02DB9C-45F6-4C55-0710-2A2C930392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0113" y="4648200"/>
                        <a:ext cx="2079625" cy="207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5" name="Picture 3">
            <a:extLst>
              <a:ext uri="{FF2B5EF4-FFF2-40B4-BE49-F238E27FC236}">
                <a16:creationId xmlns:a16="http://schemas.microsoft.com/office/drawing/2014/main" id="{3A5A1B71-DAE0-5F43-15CE-47932D43B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724400"/>
            <a:ext cx="2389188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6A40C81-6A97-462D-9BBF-B0E8A4AEF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 Isomorphism</a:t>
            </a:r>
            <a:endParaRPr lang="en-US" altLang="en-US" b="1"/>
          </a:p>
        </p:txBody>
      </p:sp>
      <p:sp>
        <p:nvSpPr>
          <p:cNvPr id="37891" name="TextBox 3">
            <a:extLst>
              <a:ext uri="{FF2B5EF4-FFF2-40B4-BE49-F238E27FC236}">
                <a16:creationId xmlns:a16="http://schemas.microsoft.com/office/drawing/2014/main" id="{82B154D7-DEC6-2207-6F5B-C8A12AB5A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Definition: </a:t>
            </a:r>
            <a:r>
              <a:rPr lang="en-US" altLang="en-US" sz="2000"/>
              <a:t>The simple graphs </a:t>
            </a:r>
            <a:r>
              <a:rPr lang="en-US" altLang="en-US" sz="2000" i="1"/>
              <a:t>G</a:t>
            </a:r>
            <a:r>
              <a:rPr lang="en-US" altLang="en-US" sz="2000" i="1" baseline="-25000"/>
              <a:t>1 </a:t>
            </a:r>
            <a:r>
              <a:rPr lang="en-US" altLang="en-US" sz="2000" i="1"/>
              <a:t>= (V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, E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) and G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 = (V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, E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) are</a:t>
            </a:r>
          </a:p>
          <a:p>
            <a:r>
              <a:rPr lang="en-US" altLang="en-US" sz="2000" i="1"/>
              <a:t>isomorphic if there is a </a:t>
            </a:r>
            <a:r>
              <a:rPr lang="en-US" altLang="en-US" sz="2000" i="1">
                <a:solidFill>
                  <a:srgbClr val="FF0000"/>
                </a:solidFill>
              </a:rPr>
              <a:t>one-to-one and onto function </a:t>
            </a:r>
            <a:r>
              <a:rPr lang="en-US" altLang="en-US" sz="2000" i="1"/>
              <a:t>f from V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 to</a:t>
            </a:r>
          </a:p>
          <a:p>
            <a:r>
              <a:rPr lang="en-US" altLang="en-US" sz="2000" i="1"/>
              <a:t>V</a:t>
            </a:r>
            <a:r>
              <a:rPr lang="en-US" altLang="en-US" sz="2000" i="1" baseline="-25000"/>
              <a:t>2 </a:t>
            </a:r>
            <a:r>
              <a:rPr lang="en-US" altLang="en-US" sz="2000" i="1"/>
              <a:t>with the property </a:t>
            </a:r>
            <a:r>
              <a:rPr lang="en-US" altLang="en-US" sz="2000" i="1">
                <a:solidFill>
                  <a:srgbClr val="FF0000"/>
                </a:solidFill>
              </a:rPr>
              <a:t>that a and b are adjacent </a:t>
            </a:r>
            <a:r>
              <a:rPr lang="en-US" altLang="en-US" sz="2000" i="1"/>
              <a:t>in G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 if and only if</a:t>
            </a:r>
          </a:p>
          <a:p>
            <a:r>
              <a:rPr lang="en-US" altLang="en-US" sz="2000" i="1"/>
              <a:t>f(a) and f(b) are adjacent in G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 , for all a and b in V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 . Such a</a:t>
            </a:r>
          </a:p>
          <a:p>
            <a:r>
              <a:rPr lang="en-US" altLang="en-US" sz="2000"/>
              <a:t>function </a:t>
            </a:r>
            <a:r>
              <a:rPr lang="en-US" altLang="en-US" sz="2000" i="1"/>
              <a:t>f is called an isomorphism. Two simple graphs that are not</a:t>
            </a:r>
          </a:p>
          <a:p>
            <a:r>
              <a:rPr lang="en-US" altLang="en-US" sz="2000"/>
              <a:t>isomorphic are called </a:t>
            </a:r>
            <a:r>
              <a:rPr lang="en-US" altLang="en-US" sz="2000" i="1"/>
              <a:t>nonisomorphic.</a:t>
            </a:r>
          </a:p>
          <a:p>
            <a:endParaRPr lang="en-US" altLang="en-US" sz="2000" i="1">
              <a:solidFill>
                <a:srgbClr val="FF0000"/>
              </a:solidFill>
            </a:endParaRPr>
          </a:p>
          <a:p>
            <a:r>
              <a:rPr lang="en-US" altLang="en-US" sz="2000"/>
              <a:t>one-to-one correspondence between vertices of the two graphs that preserves the adjacency relationship</a:t>
            </a:r>
            <a:endParaRPr lang="en-US" altLang="en-US" sz="2000">
              <a:solidFill>
                <a:srgbClr val="FF0000"/>
              </a:solidFill>
            </a:endParaRPr>
          </a:p>
        </p:txBody>
      </p:sp>
      <p:pic>
        <p:nvPicPr>
          <p:cNvPr id="37892" name="Picture 3">
            <a:extLst>
              <a:ext uri="{FF2B5EF4-FFF2-40B4-BE49-F238E27FC236}">
                <a16:creationId xmlns:a16="http://schemas.microsoft.com/office/drawing/2014/main" id="{19C26AB3-E176-2723-3AF7-64BA8B087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618038"/>
            <a:ext cx="1631950" cy="223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TextBox 4">
            <a:extLst>
              <a:ext uri="{FF2B5EF4-FFF2-40B4-BE49-F238E27FC236}">
                <a16:creationId xmlns:a16="http://schemas.microsoft.com/office/drawing/2014/main" id="{2234E009-1726-20D9-6EE6-C21D10961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876800"/>
            <a:ext cx="457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Are the two graph isomorphic?</a:t>
            </a:r>
          </a:p>
          <a:p>
            <a:endParaRPr lang="en-US" altLang="en-US" baseline="-25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10E992B-21B5-2679-8AC0-6B814E959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 Isomorphism</a:t>
            </a:r>
            <a:endParaRPr lang="en-US" altLang="en-US" b="1"/>
          </a:p>
        </p:txBody>
      </p:sp>
      <p:sp>
        <p:nvSpPr>
          <p:cNvPr id="38915" name="TextBox 3">
            <a:extLst>
              <a:ext uri="{FF2B5EF4-FFF2-40B4-BE49-F238E27FC236}">
                <a16:creationId xmlns:a16="http://schemas.microsoft.com/office/drawing/2014/main" id="{6D75B9C4-3E1C-91CC-93AF-8310FDDC3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2296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Definition: </a:t>
            </a:r>
            <a:r>
              <a:rPr lang="en-US" altLang="en-US" sz="2000"/>
              <a:t>The simple graphs </a:t>
            </a:r>
            <a:r>
              <a:rPr lang="en-US" altLang="en-US" sz="2000" i="1"/>
              <a:t>G</a:t>
            </a:r>
            <a:r>
              <a:rPr lang="en-US" altLang="en-US" sz="2000" i="1" baseline="-25000"/>
              <a:t>1 </a:t>
            </a:r>
            <a:r>
              <a:rPr lang="en-US" altLang="en-US" sz="2000" i="1"/>
              <a:t>= (V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, E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) and G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 = (V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, E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) are</a:t>
            </a:r>
          </a:p>
          <a:p>
            <a:r>
              <a:rPr lang="en-US" altLang="en-US" sz="2000" i="1"/>
              <a:t>isomorphic if there is a </a:t>
            </a:r>
            <a:r>
              <a:rPr lang="en-US" altLang="en-US" sz="2000" i="1">
                <a:solidFill>
                  <a:srgbClr val="FF0000"/>
                </a:solidFill>
              </a:rPr>
              <a:t>one-to-one and onto function </a:t>
            </a:r>
            <a:r>
              <a:rPr lang="en-US" altLang="en-US" sz="2000" i="1"/>
              <a:t>f from V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 to</a:t>
            </a:r>
          </a:p>
          <a:p>
            <a:r>
              <a:rPr lang="en-US" altLang="en-US" sz="2000" i="1"/>
              <a:t>V</a:t>
            </a:r>
            <a:r>
              <a:rPr lang="en-US" altLang="en-US" sz="2000" i="1" baseline="-25000"/>
              <a:t>2 </a:t>
            </a:r>
            <a:r>
              <a:rPr lang="en-US" altLang="en-US" sz="2000" i="1"/>
              <a:t>with the property </a:t>
            </a:r>
            <a:r>
              <a:rPr lang="en-US" altLang="en-US" sz="2000" i="1">
                <a:solidFill>
                  <a:srgbClr val="FF0000"/>
                </a:solidFill>
              </a:rPr>
              <a:t>that a and b are adjacent </a:t>
            </a:r>
            <a:r>
              <a:rPr lang="en-US" altLang="en-US" sz="2000" i="1"/>
              <a:t>in G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 if and only if</a:t>
            </a:r>
          </a:p>
          <a:p>
            <a:r>
              <a:rPr lang="en-US" altLang="en-US" sz="2000" i="1"/>
              <a:t>f(a) and f(b) are adjacent in G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 , for all a and b in V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 . Such a</a:t>
            </a:r>
          </a:p>
          <a:p>
            <a:r>
              <a:rPr lang="en-US" altLang="en-US" sz="2000"/>
              <a:t>function </a:t>
            </a:r>
            <a:r>
              <a:rPr lang="en-US" altLang="en-US" sz="2000" i="1"/>
              <a:t>f is called an isomorphism. Two simple graphs that are not</a:t>
            </a:r>
          </a:p>
          <a:p>
            <a:r>
              <a:rPr lang="en-US" altLang="en-US" sz="2000"/>
              <a:t>isomorphic are called </a:t>
            </a:r>
            <a:r>
              <a:rPr lang="en-US" altLang="en-US" sz="2000" i="1"/>
              <a:t>nonisomorphic.</a:t>
            </a:r>
            <a:endParaRPr lang="en-US" altLang="en-US" sz="2000">
              <a:solidFill>
                <a:srgbClr val="FF0000"/>
              </a:solidFill>
            </a:endParaRPr>
          </a:p>
        </p:txBody>
      </p:sp>
      <p:pic>
        <p:nvPicPr>
          <p:cNvPr id="38916" name="Picture 3">
            <a:extLst>
              <a:ext uri="{FF2B5EF4-FFF2-40B4-BE49-F238E27FC236}">
                <a16:creationId xmlns:a16="http://schemas.microsoft.com/office/drawing/2014/main" id="{8FF97F44-CB47-7B48-ED76-7FDEE8CEF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962400"/>
            <a:ext cx="1905000" cy="261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TextBox 7">
            <a:extLst>
              <a:ext uri="{FF2B5EF4-FFF2-40B4-BE49-F238E27FC236}">
                <a16:creationId xmlns:a16="http://schemas.microsoft.com/office/drawing/2014/main" id="{504C1625-93F1-E1FB-2A6D-6EA36C3C2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267200"/>
            <a:ext cx="45720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Are the two graph isomorphic?</a:t>
            </a:r>
          </a:p>
          <a:p>
            <a:r>
              <a:rPr lang="en-US" altLang="en-US"/>
              <a:t>u</a:t>
            </a:r>
            <a:r>
              <a:rPr lang="en-US" altLang="en-US" baseline="-25000"/>
              <a:t>1 </a:t>
            </a:r>
            <a:r>
              <a:rPr lang="en-US" altLang="en-US"/>
              <a:t>→ v</a:t>
            </a:r>
            <a:r>
              <a:rPr lang="en-US" altLang="en-US" baseline="-25000"/>
              <a:t>1</a:t>
            </a:r>
          </a:p>
          <a:p>
            <a:r>
              <a:rPr lang="en-US" altLang="en-US"/>
              <a:t>u</a:t>
            </a:r>
            <a:r>
              <a:rPr lang="en-US" altLang="en-US" baseline="-25000"/>
              <a:t>2</a:t>
            </a:r>
            <a:r>
              <a:rPr lang="en-US" altLang="en-US"/>
              <a:t> → v</a:t>
            </a:r>
            <a:r>
              <a:rPr lang="en-US" altLang="en-US" baseline="-25000"/>
              <a:t>4</a:t>
            </a:r>
          </a:p>
          <a:p>
            <a:r>
              <a:rPr lang="en-US" altLang="en-US"/>
              <a:t>u</a:t>
            </a:r>
            <a:r>
              <a:rPr lang="en-US" altLang="en-US" baseline="-25000"/>
              <a:t>3</a:t>
            </a:r>
            <a:r>
              <a:rPr lang="en-US" altLang="en-US"/>
              <a:t> → v</a:t>
            </a:r>
            <a:r>
              <a:rPr lang="en-US" altLang="en-US" baseline="-25000"/>
              <a:t>3</a:t>
            </a:r>
          </a:p>
          <a:p>
            <a:r>
              <a:rPr lang="en-US" altLang="en-US"/>
              <a:t>u</a:t>
            </a:r>
            <a:r>
              <a:rPr lang="en-US" altLang="en-US" baseline="-25000"/>
              <a:t>4</a:t>
            </a:r>
            <a:r>
              <a:rPr lang="en-US" altLang="en-US"/>
              <a:t> → v</a:t>
            </a:r>
            <a:r>
              <a:rPr lang="en-US" altLang="en-US" baseline="-25000"/>
              <a:t>2</a:t>
            </a:r>
          </a:p>
        </p:txBody>
      </p:sp>
      <p:sp>
        <p:nvSpPr>
          <p:cNvPr id="38918" name="TextBox 8">
            <a:extLst>
              <a:ext uri="{FF2B5EF4-FFF2-40B4-BE49-F238E27FC236}">
                <a16:creationId xmlns:a16="http://schemas.microsoft.com/office/drawing/2014/main" id="{6DB2ACE1-2924-0946-3132-9ECE81414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6396038"/>
            <a:ext cx="5562600" cy="461962"/>
          </a:xfrm>
          <a:prstGeom prst="rect">
            <a:avLst/>
          </a:prstGeom>
          <a:solidFill>
            <a:srgbClr val="01EA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i="1"/>
              <a:t>f</a:t>
            </a:r>
            <a:r>
              <a:rPr lang="pl-PL" altLang="en-US" sz="1200" i="1"/>
              <a:t>(u</a:t>
            </a:r>
            <a:r>
              <a:rPr lang="pl-PL" altLang="en-US" sz="1200" i="1" baseline="-25000"/>
              <a:t>1</a:t>
            </a:r>
            <a:r>
              <a:rPr lang="pl-PL" altLang="en-US" sz="1200" i="1"/>
              <a:t>) = v</a:t>
            </a:r>
            <a:r>
              <a:rPr lang="pl-PL" altLang="en-US" sz="1200" i="1" baseline="-25000"/>
              <a:t>1</a:t>
            </a:r>
            <a:r>
              <a:rPr lang="pl-PL" altLang="en-US" sz="1200" i="1"/>
              <a:t> and f (u</a:t>
            </a:r>
            <a:r>
              <a:rPr lang="pl-PL" altLang="en-US" sz="1200" i="1" baseline="-25000"/>
              <a:t>2</a:t>
            </a:r>
            <a:r>
              <a:rPr lang="pl-PL" altLang="en-US" sz="1200" i="1"/>
              <a:t>) = v</a:t>
            </a:r>
            <a:r>
              <a:rPr lang="pl-PL" altLang="en-US" sz="1200" i="1" baseline="-25000"/>
              <a:t>4</a:t>
            </a:r>
            <a:r>
              <a:rPr lang="pl-PL" altLang="en-US" sz="1200" i="1"/>
              <a:t>, f (u</a:t>
            </a:r>
            <a:r>
              <a:rPr lang="pl-PL" altLang="en-US" sz="1200" i="1" baseline="-25000"/>
              <a:t>1</a:t>
            </a:r>
            <a:r>
              <a:rPr lang="pl-PL" altLang="en-US" sz="1200" i="1"/>
              <a:t>) = v</a:t>
            </a:r>
            <a:r>
              <a:rPr lang="pl-PL" altLang="en-US" sz="1200" i="1" baseline="-25000"/>
              <a:t>1</a:t>
            </a:r>
            <a:r>
              <a:rPr lang="pl-PL" altLang="en-US" sz="1200" i="1"/>
              <a:t> and f (u</a:t>
            </a:r>
            <a:r>
              <a:rPr lang="pl-PL" altLang="en-US" sz="1200" i="1" baseline="-25000"/>
              <a:t>3</a:t>
            </a:r>
            <a:r>
              <a:rPr lang="pl-PL" altLang="en-US" sz="1200" i="1"/>
              <a:t>) = v</a:t>
            </a:r>
            <a:r>
              <a:rPr lang="pl-PL" altLang="en-US" sz="1200" i="1" baseline="-25000"/>
              <a:t>3</a:t>
            </a:r>
            <a:r>
              <a:rPr lang="pl-PL" altLang="en-US" sz="1200" i="1"/>
              <a:t>, f (u</a:t>
            </a:r>
            <a:r>
              <a:rPr lang="pl-PL" altLang="en-US" sz="1200" i="1" baseline="-25000"/>
              <a:t>2</a:t>
            </a:r>
            <a:r>
              <a:rPr lang="pl-PL" altLang="en-US" sz="1200" i="1"/>
              <a:t>) = v</a:t>
            </a:r>
            <a:r>
              <a:rPr lang="pl-PL" altLang="en-US" sz="1200" i="1" baseline="-25000"/>
              <a:t>4</a:t>
            </a:r>
            <a:r>
              <a:rPr lang="pl-PL" altLang="en-US" sz="1200" i="1"/>
              <a:t> and f (u</a:t>
            </a:r>
            <a:r>
              <a:rPr lang="pl-PL" altLang="en-US" sz="1200" i="1" baseline="-25000"/>
              <a:t>4</a:t>
            </a:r>
            <a:r>
              <a:rPr lang="pl-PL" altLang="en-US" sz="1200" i="1"/>
              <a:t>) = v</a:t>
            </a:r>
            <a:r>
              <a:rPr lang="pl-PL" altLang="en-US" sz="1200" i="1" baseline="-25000"/>
              <a:t>2</a:t>
            </a:r>
            <a:r>
              <a:rPr lang="pl-PL" altLang="en-US" sz="1200" i="1"/>
              <a:t>,</a:t>
            </a:r>
          </a:p>
          <a:p>
            <a:r>
              <a:rPr lang="en-US" altLang="en-US" sz="1200"/>
              <a:t>and </a:t>
            </a:r>
            <a:r>
              <a:rPr lang="en-US" altLang="en-US" sz="1200" i="1"/>
              <a:t>f (u</a:t>
            </a:r>
            <a:r>
              <a:rPr lang="en-US" altLang="en-US" sz="1200" i="1" baseline="-25000"/>
              <a:t>3</a:t>
            </a:r>
            <a:r>
              <a:rPr lang="en-US" altLang="en-US" sz="1200" i="1"/>
              <a:t>) = v</a:t>
            </a:r>
            <a:r>
              <a:rPr lang="en-US" altLang="en-US" sz="1200" i="1" baseline="-25000"/>
              <a:t>3</a:t>
            </a:r>
            <a:r>
              <a:rPr lang="en-US" altLang="en-US" sz="1200" i="1"/>
              <a:t> and f (u</a:t>
            </a:r>
            <a:r>
              <a:rPr lang="en-US" altLang="en-US" sz="1200" i="1" baseline="-25000"/>
              <a:t>4</a:t>
            </a:r>
            <a:r>
              <a:rPr lang="en-US" altLang="en-US" sz="1200" i="1"/>
              <a:t>) = v</a:t>
            </a:r>
            <a:r>
              <a:rPr lang="en-US" altLang="en-US" sz="1200" i="1" baseline="-25000"/>
              <a:t>2</a:t>
            </a:r>
            <a:endParaRPr lang="en-US" altLang="en-US" sz="1200" baseline="-25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800531A-D70E-0714-CA9F-9F0E20233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Tree</a:t>
            </a:r>
          </a:p>
        </p:txBody>
      </p:sp>
      <p:sp>
        <p:nvSpPr>
          <p:cNvPr id="39939" name="TextBox 3">
            <a:extLst>
              <a:ext uri="{FF2B5EF4-FFF2-40B4-BE49-F238E27FC236}">
                <a16:creationId xmlns:a16="http://schemas.microsoft.com/office/drawing/2014/main" id="{1D86C31B-F999-AA6A-94B5-70EA5D4CA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6106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Definition: </a:t>
            </a:r>
            <a:r>
              <a:rPr lang="en-US" altLang="en-US" sz="2000"/>
              <a:t>A </a:t>
            </a:r>
            <a:r>
              <a:rPr lang="en-US" altLang="en-US" sz="2000" i="1"/>
              <a:t>tree is a </a:t>
            </a:r>
            <a:r>
              <a:rPr lang="en-US" altLang="en-US" sz="2000" i="1">
                <a:solidFill>
                  <a:srgbClr val="FF0000"/>
                </a:solidFill>
              </a:rPr>
              <a:t>connected undirected graph with no </a:t>
            </a:r>
            <a:r>
              <a:rPr lang="en-US" altLang="en-US" sz="2000">
                <a:solidFill>
                  <a:srgbClr val="FF0000"/>
                </a:solidFill>
              </a:rPr>
              <a:t>simple circuits</a:t>
            </a:r>
            <a:r>
              <a:rPr lang="en-US" altLang="en-US" sz="2000" b="1"/>
              <a:t>.</a:t>
            </a:r>
          </a:p>
          <a:p>
            <a:endParaRPr lang="en-US" altLang="en-US" sz="2000" b="1">
              <a:solidFill>
                <a:srgbClr val="FF0000"/>
              </a:solidFill>
            </a:endParaRPr>
          </a:p>
          <a:p>
            <a:endParaRPr lang="en-US" altLang="en-US" sz="2000" b="1">
              <a:solidFill>
                <a:srgbClr val="FF0000"/>
              </a:solidFill>
            </a:endParaRPr>
          </a:p>
          <a:p>
            <a:endParaRPr lang="en-US" altLang="en-US" sz="2000" b="1">
              <a:solidFill>
                <a:srgbClr val="FF0000"/>
              </a:solidFill>
            </a:endParaRPr>
          </a:p>
          <a:p>
            <a:endParaRPr lang="en-US" altLang="en-US" sz="2000" b="1">
              <a:solidFill>
                <a:srgbClr val="FF0000"/>
              </a:solidFill>
            </a:endParaRPr>
          </a:p>
          <a:p>
            <a:endParaRPr lang="en-US" altLang="en-US" sz="2000" b="1">
              <a:solidFill>
                <a:srgbClr val="FF0000"/>
              </a:solidFill>
            </a:endParaRPr>
          </a:p>
          <a:p>
            <a:r>
              <a:rPr lang="en-US" altLang="en-US" sz="2000" b="1">
                <a:solidFill>
                  <a:srgbClr val="FF0000"/>
                </a:solidFill>
              </a:rPr>
              <a:t>Example:</a:t>
            </a:r>
            <a:endParaRPr lang="en-US" altLang="en-US" sz="2000">
              <a:solidFill>
                <a:srgbClr val="FF0000"/>
              </a:solidFill>
            </a:endParaRPr>
          </a:p>
        </p:txBody>
      </p:sp>
      <p:pic>
        <p:nvPicPr>
          <p:cNvPr id="39940" name="Picture 2">
            <a:extLst>
              <a:ext uri="{FF2B5EF4-FFF2-40B4-BE49-F238E27FC236}">
                <a16:creationId xmlns:a16="http://schemas.microsoft.com/office/drawing/2014/main" id="{A01FEDA4-590A-8EB1-432C-A88C9E7BB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657600"/>
            <a:ext cx="4941888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8FBFBA2-167B-212D-C65B-68DE9A82E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Tree</a:t>
            </a:r>
          </a:p>
        </p:txBody>
      </p:sp>
      <p:sp>
        <p:nvSpPr>
          <p:cNvPr id="40963" name="TextBox 3">
            <a:extLst>
              <a:ext uri="{FF2B5EF4-FFF2-40B4-BE49-F238E27FC236}">
                <a16:creationId xmlns:a16="http://schemas.microsoft.com/office/drawing/2014/main" id="{A9A41918-E271-60E9-F3E8-180ED2B8A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610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Definition:</a:t>
            </a:r>
            <a:r>
              <a:rPr lang="en-US" altLang="en-US" sz="2000"/>
              <a:t> A </a:t>
            </a:r>
            <a:r>
              <a:rPr lang="en-US" altLang="en-US" sz="2000">
                <a:solidFill>
                  <a:srgbClr val="FF0000"/>
                </a:solidFill>
              </a:rPr>
              <a:t>forest </a:t>
            </a:r>
            <a:r>
              <a:rPr lang="en-US" altLang="en-US" sz="2000"/>
              <a:t>is a graph that </a:t>
            </a:r>
            <a:r>
              <a:rPr lang="en-US" altLang="en-US" sz="2000">
                <a:solidFill>
                  <a:srgbClr val="FF0000"/>
                </a:solidFill>
              </a:rPr>
              <a:t>has no simple circuit</a:t>
            </a:r>
            <a:r>
              <a:rPr lang="en-US" altLang="en-US" sz="2000"/>
              <a:t>, but is </a:t>
            </a:r>
            <a:r>
              <a:rPr lang="en-US" altLang="en-US" sz="2000">
                <a:solidFill>
                  <a:srgbClr val="FF0000"/>
                </a:solidFill>
              </a:rPr>
              <a:t>not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connected</a:t>
            </a:r>
            <a:r>
              <a:rPr lang="en-US" altLang="en-US" sz="2000"/>
              <a:t>. </a:t>
            </a:r>
            <a:r>
              <a:rPr lang="en-US" altLang="en-US" sz="2000">
                <a:solidFill>
                  <a:srgbClr val="FF0000"/>
                </a:solidFill>
              </a:rPr>
              <a:t>Each</a:t>
            </a:r>
            <a:r>
              <a:rPr lang="en-US" altLang="en-US" sz="2000"/>
              <a:t> of the connected components in a forest is </a:t>
            </a:r>
            <a:r>
              <a:rPr lang="en-US" altLang="en-US" sz="2000">
                <a:solidFill>
                  <a:srgbClr val="FF0000"/>
                </a:solidFill>
              </a:rPr>
              <a:t>a tree</a:t>
            </a:r>
            <a:r>
              <a:rPr lang="en-US" altLang="en-US" sz="2000"/>
              <a:t>.</a:t>
            </a:r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>
                <a:solidFill>
                  <a:srgbClr val="FF0000"/>
                </a:solidFill>
              </a:rPr>
              <a:t>Example:</a:t>
            </a:r>
          </a:p>
        </p:txBody>
      </p:sp>
      <p:pic>
        <p:nvPicPr>
          <p:cNvPr id="40964" name="Picture 2">
            <a:extLst>
              <a:ext uri="{FF2B5EF4-FFF2-40B4-BE49-F238E27FC236}">
                <a16:creationId xmlns:a16="http://schemas.microsoft.com/office/drawing/2014/main" id="{F870EDE3-9D60-1C7D-90EC-37AF630D7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352800"/>
            <a:ext cx="522922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17378DA-8D33-60B4-7E9E-9E5BBE501D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Tree</a:t>
            </a:r>
          </a:p>
        </p:txBody>
      </p:sp>
      <p:sp>
        <p:nvSpPr>
          <p:cNvPr id="41987" name="TextBox 3">
            <a:extLst>
              <a:ext uri="{FF2B5EF4-FFF2-40B4-BE49-F238E27FC236}">
                <a16:creationId xmlns:a16="http://schemas.microsoft.com/office/drawing/2014/main" id="{8BC534AC-DA65-52CF-8782-899F725D6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61060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Theorem: </a:t>
            </a:r>
            <a:r>
              <a:rPr lang="en-US" altLang="en-US" sz="2000"/>
              <a:t>An undirected graph is a </a:t>
            </a:r>
            <a:r>
              <a:rPr lang="en-US" altLang="en-US" sz="2000">
                <a:solidFill>
                  <a:srgbClr val="FF0000"/>
                </a:solidFill>
              </a:rPr>
              <a:t>tree if and only if there is a</a:t>
            </a:r>
          </a:p>
          <a:p>
            <a:r>
              <a:rPr lang="en-US" altLang="en-US" sz="2000">
                <a:solidFill>
                  <a:srgbClr val="00B050"/>
                </a:solidFill>
              </a:rPr>
              <a:t>unique</a:t>
            </a:r>
            <a:r>
              <a:rPr lang="en-US" altLang="en-US" sz="2000">
                <a:solidFill>
                  <a:srgbClr val="FF0000"/>
                </a:solidFill>
              </a:rPr>
              <a:t> simple path between any two of its vertices</a:t>
            </a:r>
            <a:r>
              <a:rPr lang="en-US" altLang="en-US" sz="2000"/>
              <a:t>.</a:t>
            </a:r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>
                <a:solidFill>
                  <a:srgbClr val="FF0000"/>
                </a:solidFill>
              </a:rPr>
              <a:t>Example:</a:t>
            </a:r>
          </a:p>
        </p:txBody>
      </p:sp>
      <p:pic>
        <p:nvPicPr>
          <p:cNvPr id="41988" name="Picture 2">
            <a:extLst>
              <a:ext uri="{FF2B5EF4-FFF2-40B4-BE49-F238E27FC236}">
                <a16:creationId xmlns:a16="http://schemas.microsoft.com/office/drawing/2014/main" id="{3E066F87-E4F3-57B5-FAB7-582590CED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581400"/>
            <a:ext cx="414337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7472369-6532-EB2E-0925-9762E5672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Rooted Tree</a:t>
            </a:r>
          </a:p>
        </p:txBody>
      </p:sp>
      <p:sp>
        <p:nvSpPr>
          <p:cNvPr id="43011" name="TextBox 3">
            <a:extLst>
              <a:ext uri="{FF2B5EF4-FFF2-40B4-BE49-F238E27FC236}">
                <a16:creationId xmlns:a16="http://schemas.microsoft.com/office/drawing/2014/main" id="{8F42EADC-B9CD-3E04-C80F-A61FF8D48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6106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Definition:</a:t>
            </a:r>
            <a:r>
              <a:rPr lang="en-US" altLang="en-US" sz="2000"/>
              <a:t> A </a:t>
            </a:r>
            <a:r>
              <a:rPr lang="en-US" altLang="en-US" sz="2000" i="1"/>
              <a:t>rooted tree is a tree in which </a:t>
            </a:r>
            <a:r>
              <a:rPr lang="en-US" altLang="en-US" sz="2000" i="1">
                <a:solidFill>
                  <a:srgbClr val="FF0000"/>
                </a:solidFill>
              </a:rPr>
              <a:t>one vertex has been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designated as the </a:t>
            </a:r>
            <a:r>
              <a:rPr lang="en-US" altLang="en-US" sz="2000" i="1">
                <a:solidFill>
                  <a:srgbClr val="FF0000"/>
                </a:solidFill>
              </a:rPr>
              <a:t>root </a:t>
            </a:r>
            <a:r>
              <a:rPr lang="en-US" altLang="en-US" sz="2000" i="1"/>
              <a:t>and every edge is directed away from the</a:t>
            </a:r>
          </a:p>
          <a:p>
            <a:r>
              <a:rPr lang="en-US" altLang="en-US" sz="2000"/>
              <a:t>root.</a:t>
            </a:r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>
                <a:solidFill>
                  <a:srgbClr val="FF0000"/>
                </a:solidFill>
              </a:rPr>
              <a:t>Note: </a:t>
            </a:r>
            <a:r>
              <a:rPr lang="en-US" altLang="en-US" sz="2000"/>
              <a:t>An </a:t>
            </a:r>
            <a:r>
              <a:rPr lang="en-US" altLang="en-US" sz="2000" i="1"/>
              <a:t>unrooted tree can be converted into different rooted trees</a:t>
            </a:r>
          </a:p>
          <a:p>
            <a:r>
              <a:rPr lang="en-US" altLang="en-US" sz="2000"/>
              <a:t>when one of the vertices is chosen as the root.</a:t>
            </a:r>
            <a:endParaRPr lang="en-US" altLang="en-US" sz="2000">
              <a:solidFill>
                <a:srgbClr val="FF0000"/>
              </a:solidFill>
            </a:endParaRPr>
          </a:p>
        </p:txBody>
      </p:sp>
      <p:pic>
        <p:nvPicPr>
          <p:cNvPr id="43012" name="Picture 2">
            <a:extLst>
              <a:ext uri="{FF2B5EF4-FFF2-40B4-BE49-F238E27FC236}">
                <a16:creationId xmlns:a16="http://schemas.microsoft.com/office/drawing/2014/main" id="{80F7BF6B-398A-C301-8C7B-C11FE86C0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114800"/>
            <a:ext cx="548163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D58149A-5E04-5AAC-4A53-4DCAB92FB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Rooted Tree Terminology</a:t>
            </a:r>
          </a:p>
        </p:txBody>
      </p:sp>
      <p:sp>
        <p:nvSpPr>
          <p:cNvPr id="44035" name="TextBox 3">
            <a:extLst>
              <a:ext uri="{FF2B5EF4-FFF2-40B4-BE49-F238E27FC236}">
                <a16:creationId xmlns:a16="http://schemas.microsoft.com/office/drawing/2014/main" id="{23A9D835-55F2-A14C-ED2B-2ACE79A69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610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If </a:t>
            </a:r>
            <a:r>
              <a:rPr lang="en-US" altLang="en-US" sz="2000" i="1"/>
              <a:t>v is a vertex of a rooted tree other than the root, the parent of v is</a:t>
            </a:r>
          </a:p>
          <a:p>
            <a:r>
              <a:rPr lang="en-US" altLang="en-US" sz="2000"/>
              <a:t>the unique vertex </a:t>
            </a:r>
            <a:r>
              <a:rPr lang="en-US" altLang="en-US" sz="2000" i="1"/>
              <a:t>u such that there is a directed edge from u to v.</a:t>
            </a:r>
          </a:p>
          <a:p>
            <a:r>
              <a:rPr lang="en-US" altLang="en-US" sz="2000"/>
              <a:t>When </a:t>
            </a:r>
            <a:r>
              <a:rPr lang="en-US" altLang="en-US" sz="2000" i="1"/>
              <a:t>u is a parent of v, v is called a child of u. Vertices with the</a:t>
            </a:r>
          </a:p>
          <a:p>
            <a:r>
              <a:rPr lang="en-US" altLang="en-US" sz="2000"/>
              <a:t>same parent are called </a:t>
            </a:r>
            <a:r>
              <a:rPr lang="en-US" altLang="en-US" sz="2000" i="1"/>
              <a:t>siblings.</a:t>
            </a:r>
            <a:endParaRPr lang="en-US" altLang="en-US" sz="2000">
              <a:solidFill>
                <a:srgbClr val="FF0000"/>
              </a:solidFill>
            </a:endParaRPr>
          </a:p>
        </p:txBody>
      </p:sp>
      <p:pic>
        <p:nvPicPr>
          <p:cNvPr id="44036" name="Picture 3">
            <a:extLst>
              <a:ext uri="{FF2B5EF4-FFF2-40B4-BE49-F238E27FC236}">
                <a16:creationId xmlns:a16="http://schemas.microsoft.com/office/drawing/2014/main" id="{BAFE2D3A-62F1-5797-0857-B029B3BE2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00400"/>
            <a:ext cx="3505200" cy="308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TextBox 6">
            <a:extLst>
              <a:ext uri="{FF2B5EF4-FFF2-40B4-BE49-F238E27FC236}">
                <a16:creationId xmlns:a16="http://schemas.microsoft.com/office/drawing/2014/main" id="{00796CA3-A2E3-A780-0DBD-E9AB87C0B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733800"/>
            <a:ext cx="2667000" cy="1200150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Parent of g: a</a:t>
            </a:r>
          </a:p>
          <a:p>
            <a:r>
              <a:rPr lang="en-US" altLang="en-US"/>
              <a:t>Children of g: h,i,j</a:t>
            </a:r>
          </a:p>
          <a:p>
            <a:r>
              <a:rPr lang="en-US" altLang="en-US"/>
              <a:t>Sibling: b, f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1EBB98A-544E-1A7C-C079-0C570196E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Rooted Tree Terminology</a:t>
            </a:r>
          </a:p>
        </p:txBody>
      </p:sp>
      <p:sp>
        <p:nvSpPr>
          <p:cNvPr id="45059" name="TextBox 3">
            <a:extLst>
              <a:ext uri="{FF2B5EF4-FFF2-40B4-BE49-F238E27FC236}">
                <a16:creationId xmlns:a16="http://schemas.microsoft.com/office/drawing/2014/main" id="{C6500258-60E6-F986-7B98-E691458AF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610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The </a:t>
            </a:r>
            <a:r>
              <a:rPr lang="en-US" altLang="en-US" sz="2000" i="1">
                <a:solidFill>
                  <a:srgbClr val="FF0000"/>
                </a:solidFill>
              </a:rPr>
              <a:t>ancestors</a:t>
            </a:r>
            <a:r>
              <a:rPr lang="en-US" altLang="en-US" sz="2000" i="1"/>
              <a:t> of a vertex are the vertices on the path from the root</a:t>
            </a:r>
          </a:p>
          <a:p>
            <a:r>
              <a:rPr lang="en-US" altLang="en-US" sz="2000"/>
              <a:t>to this vertex, excluding the vertex itself and including the root.</a:t>
            </a:r>
          </a:p>
          <a:p>
            <a:r>
              <a:rPr lang="en-US" altLang="en-US" sz="2000"/>
              <a:t>The </a:t>
            </a:r>
            <a:r>
              <a:rPr lang="en-US" altLang="en-US" sz="2000" i="1">
                <a:solidFill>
                  <a:srgbClr val="FF0000"/>
                </a:solidFill>
              </a:rPr>
              <a:t>descendants</a:t>
            </a:r>
            <a:r>
              <a:rPr lang="en-US" altLang="en-US" sz="2000" i="1"/>
              <a:t> of a vertex v are those vertices that have v as an</a:t>
            </a:r>
          </a:p>
          <a:p>
            <a:r>
              <a:rPr lang="en-US" altLang="en-US" sz="2000"/>
              <a:t>ancestor.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45060" name="TextBox 6">
            <a:extLst>
              <a:ext uri="{FF2B5EF4-FFF2-40B4-BE49-F238E27FC236}">
                <a16:creationId xmlns:a16="http://schemas.microsoft.com/office/drawing/2014/main" id="{95188B27-D31E-65C4-0AF2-3ECD9E16D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733800"/>
            <a:ext cx="2667000" cy="830263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Ancestor j: g, a  descendant  j: l, m</a:t>
            </a:r>
          </a:p>
        </p:txBody>
      </p:sp>
      <p:pic>
        <p:nvPicPr>
          <p:cNvPr id="45061" name="Picture 2">
            <a:extLst>
              <a:ext uri="{FF2B5EF4-FFF2-40B4-BE49-F238E27FC236}">
                <a16:creationId xmlns:a16="http://schemas.microsoft.com/office/drawing/2014/main" id="{834E1B1C-4503-CAFF-FA01-3CB2EBA5C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895600"/>
            <a:ext cx="3733800" cy="320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FCB4122-2B81-C73B-93BC-7204AECC6C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Rooted Tree Terminology</a:t>
            </a:r>
          </a:p>
        </p:txBody>
      </p:sp>
      <p:sp>
        <p:nvSpPr>
          <p:cNvPr id="46083" name="TextBox 3">
            <a:extLst>
              <a:ext uri="{FF2B5EF4-FFF2-40B4-BE49-F238E27FC236}">
                <a16:creationId xmlns:a16="http://schemas.microsoft.com/office/drawing/2014/main" id="{1BE69A6C-C905-16D6-A4F4-5B39E9A76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610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A vertex of a rooted tree </a:t>
            </a:r>
            <a:r>
              <a:rPr lang="en-US" altLang="en-US" sz="2000">
                <a:solidFill>
                  <a:srgbClr val="FF0000"/>
                </a:solidFill>
              </a:rPr>
              <a:t>with no children is called a </a:t>
            </a:r>
            <a:r>
              <a:rPr lang="en-US" altLang="en-US" sz="2000" i="1">
                <a:solidFill>
                  <a:srgbClr val="FF0000"/>
                </a:solidFill>
              </a:rPr>
              <a:t>leaf</a:t>
            </a:r>
            <a:r>
              <a:rPr lang="en-US" altLang="en-US" sz="2000" i="1"/>
              <a:t>. Vertices</a:t>
            </a:r>
          </a:p>
          <a:p>
            <a:r>
              <a:rPr lang="en-US" altLang="en-US" sz="2000"/>
              <a:t>that have children are called </a:t>
            </a:r>
            <a:r>
              <a:rPr lang="en-US" altLang="en-US" sz="2000" i="1"/>
              <a:t>internal vertices.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46084" name="TextBox 6">
            <a:extLst>
              <a:ext uri="{FF2B5EF4-FFF2-40B4-BE49-F238E27FC236}">
                <a16:creationId xmlns:a16="http://schemas.microsoft.com/office/drawing/2014/main" id="{8733149F-6C9B-3262-7FAF-6E5A57841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733800"/>
            <a:ext cx="4953000" cy="830263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Leafs: </a:t>
            </a:r>
            <a:r>
              <a:rPr lang="en-US" altLang="en-US" i="1">
                <a:solidFill>
                  <a:srgbClr val="FF0000"/>
                </a:solidFill>
              </a:rPr>
              <a:t>d, e, k, l, m</a:t>
            </a:r>
          </a:p>
          <a:p>
            <a:r>
              <a:rPr lang="en-US" altLang="en-US"/>
              <a:t>Examples of internal nodes: </a:t>
            </a:r>
            <a:r>
              <a:rPr lang="en-US" altLang="en-US" i="1">
                <a:solidFill>
                  <a:srgbClr val="FF0000"/>
                </a:solidFill>
              </a:rPr>
              <a:t>b, g, h</a:t>
            </a:r>
            <a:endParaRPr lang="en-US" altLang="en-US">
              <a:solidFill>
                <a:srgbClr val="FF0000"/>
              </a:solidFill>
            </a:endParaRPr>
          </a:p>
        </p:txBody>
      </p:sp>
      <p:pic>
        <p:nvPicPr>
          <p:cNvPr id="46085" name="Picture 2">
            <a:extLst>
              <a:ext uri="{FF2B5EF4-FFF2-40B4-BE49-F238E27FC236}">
                <a16:creationId xmlns:a16="http://schemas.microsoft.com/office/drawing/2014/main" id="{B0C7615E-45DE-6ECD-8E9B-55D9BBD19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14600"/>
            <a:ext cx="357346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9C2AA06-C4E5-EEED-16FC-3C39E5FCB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Rooted Tree Terminology</a:t>
            </a:r>
          </a:p>
        </p:txBody>
      </p:sp>
      <p:sp>
        <p:nvSpPr>
          <p:cNvPr id="47107" name="TextBox 3">
            <a:extLst>
              <a:ext uri="{FF2B5EF4-FFF2-40B4-BE49-F238E27FC236}">
                <a16:creationId xmlns:a16="http://schemas.microsoft.com/office/drawing/2014/main" id="{358C9986-C4F7-9E26-E0F1-7D89809CB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610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/>
              <a:t>If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 i="1"/>
              <a:t> is a vertex in a tree, </a:t>
            </a:r>
            <a:r>
              <a:rPr lang="en-US" altLang="en-US" sz="2000" i="1">
                <a:solidFill>
                  <a:srgbClr val="FF0000"/>
                </a:solidFill>
              </a:rPr>
              <a:t>the subtree </a:t>
            </a:r>
            <a:r>
              <a:rPr lang="en-US" altLang="en-US" sz="2000" i="1"/>
              <a:t>with </a:t>
            </a:r>
            <a:r>
              <a:rPr lang="en-US" altLang="en-US" sz="2000" i="1">
                <a:solidFill>
                  <a:srgbClr val="FF0000"/>
                </a:solidFill>
              </a:rPr>
              <a:t>a </a:t>
            </a:r>
            <a:r>
              <a:rPr lang="en-US" altLang="en-US" sz="2000" i="1"/>
              <a:t>as its root is the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subgraph</a:t>
            </a:r>
            <a:r>
              <a:rPr lang="en-US" altLang="en-US" sz="2000"/>
              <a:t> of the tree consisting of </a:t>
            </a:r>
            <a:r>
              <a:rPr lang="en-US" altLang="en-US" sz="2000" i="1">
                <a:solidFill>
                  <a:srgbClr val="FF0000"/>
                </a:solidFill>
              </a:rPr>
              <a:t>a and its descendants and all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edges incident to these descendants.</a:t>
            </a:r>
          </a:p>
        </p:txBody>
      </p:sp>
      <p:pic>
        <p:nvPicPr>
          <p:cNvPr id="47108" name="Picture 2">
            <a:extLst>
              <a:ext uri="{FF2B5EF4-FFF2-40B4-BE49-F238E27FC236}">
                <a16:creationId xmlns:a16="http://schemas.microsoft.com/office/drawing/2014/main" id="{05B4B541-2B6D-FDEA-BA27-E0C2B447D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743200"/>
            <a:ext cx="357346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30B4B0-12D5-1691-2086-DFB80D5AB210}"/>
              </a:ext>
            </a:extLst>
          </p:cNvPr>
          <p:cNvSpPr/>
          <p:nvPr/>
        </p:nvSpPr>
        <p:spPr>
          <a:xfrm>
            <a:off x="4343400" y="3657600"/>
            <a:ext cx="1905000" cy="2286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D92E55D-03CF-B526-707A-C29FDE650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M-ary Tree</a:t>
            </a:r>
          </a:p>
        </p:txBody>
      </p:sp>
      <p:sp>
        <p:nvSpPr>
          <p:cNvPr id="48131" name="TextBox 3">
            <a:extLst>
              <a:ext uri="{FF2B5EF4-FFF2-40B4-BE49-F238E27FC236}">
                <a16:creationId xmlns:a16="http://schemas.microsoft.com/office/drawing/2014/main" id="{BE637FAC-ADA2-DD9B-6604-EF5C7AA13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610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Definition: </a:t>
            </a:r>
            <a:r>
              <a:rPr lang="en-US" altLang="en-US" sz="2000"/>
              <a:t>A rooted tree is called an </a:t>
            </a:r>
            <a:r>
              <a:rPr lang="en-US" altLang="en-US" sz="2000" i="1">
                <a:solidFill>
                  <a:srgbClr val="FF0000"/>
                </a:solidFill>
              </a:rPr>
              <a:t>m-ary tree if every internal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vertex has no more than </a:t>
            </a:r>
            <a:r>
              <a:rPr lang="en-US" altLang="en-US" sz="2000" i="1">
                <a:solidFill>
                  <a:srgbClr val="FF0000"/>
                </a:solidFill>
              </a:rPr>
              <a:t>m children</a:t>
            </a:r>
            <a:r>
              <a:rPr lang="en-US" altLang="en-US" sz="2000" i="1"/>
              <a:t>. The tree is called a full m-ary</a:t>
            </a:r>
          </a:p>
          <a:p>
            <a:r>
              <a:rPr lang="en-US" altLang="en-US" sz="2000" i="1"/>
              <a:t>tree if every internal vertex has exactly m children. </a:t>
            </a:r>
            <a:r>
              <a:rPr lang="en-US" altLang="en-US" sz="2000" i="1">
                <a:solidFill>
                  <a:srgbClr val="FF0000"/>
                </a:solidFill>
              </a:rPr>
              <a:t>An m-ary tree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with </a:t>
            </a:r>
            <a:r>
              <a:rPr lang="en-US" altLang="en-US" sz="2000" i="1">
                <a:solidFill>
                  <a:srgbClr val="FF0000"/>
                </a:solidFill>
              </a:rPr>
              <a:t>m = 2 is called a binary tree.</a:t>
            </a:r>
            <a:endParaRPr lang="en-US" altLang="en-US" sz="2000">
              <a:solidFill>
                <a:srgbClr val="FF0000"/>
              </a:solidFill>
            </a:endParaRPr>
          </a:p>
        </p:txBody>
      </p:sp>
      <p:pic>
        <p:nvPicPr>
          <p:cNvPr id="48132" name="Picture 2">
            <a:extLst>
              <a:ext uri="{FF2B5EF4-FFF2-40B4-BE49-F238E27FC236}">
                <a16:creationId xmlns:a16="http://schemas.microsoft.com/office/drawing/2014/main" id="{94B6907A-7E01-4E51-4392-4A3494352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733800"/>
            <a:ext cx="8534400" cy="227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AA94C96-37E1-D10F-49F1-7ABD73084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Binary Tree</a:t>
            </a:r>
          </a:p>
        </p:txBody>
      </p:sp>
      <p:sp>
        <p:nvSpPr>
          <p:cNvPr id="49155" name="TextBox 3">
            <a:extLst>
              <a:ext uri="{FF2B5EF4-FFF2-40B4-BE49-F238E27FC236}">
                <a16:creationId xmlns:a16="http://schemas.microsoft.com/office/drawing/2014/main" id="{0B1FFD1C-C233-B9CE-0FDF-447DEC2AF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6106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A </a:t>
            </a:r>
            <a:r>
              <a:rPr lang="en-US" altLang="en-US" sz="2000" i="1">
                <a:solidFill>
                  <a:srgbClr val="FF0000"/>
                </a:solidFill>
              </a:rPr>
              <a:t>binary tree </a:t>
            </a:r>
            <a:r>
              <a:rPr lang="en-US" altLang="en-US" sz="2000" i="1"/>
              <a:t>is an ordered rooted where </a:t>
            </a:r>
            <a:r>
              <a:rPr lang="en-US" altLang="en-US" sz="2000" i="1">
                <a:solidFill>
                  <a:srgbClr val="FF0000"/>
                </a:solidFill>
              </a:rPr>
              <a:t>each internal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vertex has at most two children.</a:t>
            </a:r>
            <a:r>
              <a:rPr lang="en-US" altLang="en-US" sz="2000"/>
              <a:t> If an internal vertex of a binary</a:t>
            </a:r>
          </a:p>
          <a:p>
            <a:r>
              <a:rPr lang="en-US" altLang="en-US" sz="2000"/>
              <a:t>tree has two children, the first is called the </a:t>
            </a:r>
            <a:r>
              <a:rPr lang="en-US" altLang="en-US" sz="2000" i="1">
                <a:solidFill>
                  <a:srgbClr val="FF0000"/>
                </a:solidFill>
              </a:rPr>
              <a:t>left child </a:t>
            </a:r>
            <a:r>
              <a:rPr lang="en-US" altLang="en-US" sz="2000" i="1"/>
              <a:t>and the second</a:t>
            </a:r>
          </a:p>
          <a:p>
            <a:r>
              <a:rPr lang="en-US" altLang="en-US" sz="2000"/>
              <a:t>the </a:t>
            </a:r>
            <a:r>
              <a:rPr lang="en-US" altLang="en-US" sz="2000" i="1">
                <a:solidFill>
                  <a:srgbClr val="FF0000"/>
                </a:solidFill>
              </a:rPr>
              <a:t>right child</a:t>
            </a:r>
            <a:r>
              <a:rPr lang="en-US" altLang="en-US" sz="2000" i="1"/>
              <a:t>. The tree rooted at the left child of a vertex is called</a:t>
            </a:r>
          </a:p>
          <a:p>
            <a:r>
              <a:rPr lang="en-US" altLang="en-US" sz="2000"/>
              <a:t>the </a:t>
            </a:r>
            <a:r>
              <a:rPr lang="en-US" altLang="en-US" sz="2000" i="1">
                <a:solidFill>
                  <a:srgbClr val="FF0000"/>
                </a:solidFill>
              </a:rPr>
              <a:t>left subtree </a:t>
            </a:r>
            <a:r>
              <a:rPr lang="en-US" altLang="en-US" sz="2000" i="1"/>
              <a:t>of this vertex, and the tree rooted at the right child</a:t>
            </a:r>
          </a:p>
          <a:p>
            <a:r>
              <a:rPr lang="en-US" altLang="en-US" sz="2000"/>
              <a:t>of a vertex is called the </a:t>
            </a:r>
            <a:r>
              <a:rPr lang="en-US" altLang="en-US" sz="2000" i="1">
                <a:solidFill>
                  <a:srgbClr val="FF0000"/>
                </a:solidFill>
              </a:rPr>
              <a:t>right subtree </a:t>
            </a:r>
            <a:r>
              <a:rPr lang="en-US" altLang="en-US" sz="2000" i="1"/>
              <a:t>of this vertex.</a:t>
            </a:r>
            <a:endParaRPr lang="en-US" altLang="en-US" sz="2000">
              <a:solidFill>
                <a:srgbClr val="FF0000"/>
              </a:solidFill>
            </a:endParaRPr>
          </a:p>
        </p:txBody>
      </p:sp>
      <p:pic>
        <p:nvPicPr>
          <p:cNvPr id="49156" name="Picture 2">
            <a:extLst>
              <a:ext uri="{FF2B5EF4-FFF2-40B4-BE49-F238E27FC236}">
                <a16:creationId xmlns:a16="http://schemas.microsoft.com/office/drawing/2014/main" id="{AADC23BE-7746-989A-3AF5-DF3F18974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10000"/>
            <a:ext cx="6135688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0DD8C142-CBBD-10F3-7064-F9A947757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62200"/>
            <a:ext cx="9144000" cy="9906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25107</TotalTime>
  <Words>3299</Words>
  <Application>Microsoft Office PowerPoint</Application>
  <PresentationFormat>On-screen Show (4:3)</PresentationFormat>
  <Paragraphs>425</Paragraphs>
  <Slides>47</Slides>
  <Notes>45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NewsPrint</vt:lpstr>
      <vt:lpstr>Graph </vt:lpstr>
      <vt:lpstr>Graph </vt:lpstr>
      <vt:lpstr>Graph </vt:lpstr>
      <vt:lpstr>Terminology</vt:lpstr>
      <vt:lpstr>Directed graph</vt:lpstr>
      <vt:lpstr>Directed graph</vt:lpstr>
      <vt:lpstr>Directed graph</vt:lpstr>
      <vt:lpstr>Undirected graph</vt:lpstr>
      <vt:lpstr>Undirected graph</vt:lpstr>
      <vt:lpstr>Undirected graph</vt:lpstr>
      <vt:lpstr>Undirected graph</vt:lpstr>
      <vt:lpstr>Undirected graph</vt:lpstr>
      <vt:lpstr>Directed graph</vt:lpstr>
      <vt:lpstr>Directed graph</vt:lpstr>
      <vt:lpstr>Directed graph</vt:lpstr>
      <vt:lpstr>Directed graph</vt:lpstr>
      <vt:lpstr>Directed graph</vt:lpstr>
      <vt:lpstr>Directed graph</vt:lpstr>
      <vt:lpstr>Complete graph</vt:lpstr>
      <vt:lpstr>A Cycle</vt:lpstr>
      <vt:lpstr>N-dimensional hypercube</vt:lpstr>
      <vt:lpstr>Bipartite Graph </vt:lpstr>
      <vt:lpstr>Bipartite Graph </vt:lpstr>
      <vt:lpstr>Bipartite Graph </vt:lpstr>
      <vt:lpstr>Bipartite Graph </vt:lpstr>
      <vt:lpstr>Bipartite Graph </vt:lpstr>
      <vt:lpstr>Complete Bipartite Graph </vt:lpstr>
      <vt:lpstr>Subgraph</vt:lpstr>
      <vt:lpstr>Subgraph</vt:lpstr>
      <vt:lpstr>Union of Graph</vt:lpstr>
      <vt:lpstr>Representation: Adjacency List</vt:lpstr>
      <vt:lpstr>Representation: Adjacency List</vt:lpstr>
      <vt:lpstr>Adjacency Matrix</vt:lpstr>
      <vt:lpstr>Adjacency Matrix</vt:lpstr>
      <vt:lpstr>Graph Isomorphism</vt:lpstr>
      <vt:lpstr>Graph Isomorphism</vt:lpstr>
      <vt:lpstr>Tree</vt:lpstr>
      <vt:lpstr>Tree</vt:lpstr>
      <vt:lpstr>Tree</vt:lpstr>
      <vt:lpstr>Rooted Tree</vt:lpstr>
      <vt:lpstr>Rooted Tree Terminology</vt:lpstr>
      <vt:lpstr>Rooted Tree Terminology</vt:lpstr>
      <vt:lpstr>Rooted Tree Terminology</vt:lpstr>
      <vt:lpstr>Rooted Tree Terminology</vt:lpstr>
      <vt:lpstr>M-ary Tree</vt:lpstr>
      <vt:lpstr>Binary Tree</vt:lpstr>
      <vt:lpstr>Thank You</vt:lpstr>
    </vt:vector>
  </TitlesOfParts>
  <Company>RS Pressman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Set to accompany Web Engineering: A Practitioner Approach</dc:title>
  <dc:creator>Roger Pressman</dc:creator>
  <cp:lastModifiedBy>Sagor Ahmed Saron</cp:lastModifiedBy>
  <cp:revision>556</cp:revision>
  <dcterms:created xsi:type="dcterms:W3CDTF">2011-04-14T19:19:04Z</dcterms:created>
  <dcterms:modified xsi:type="dcterms:W3CDTF">2023-11-19T17:30:53Z</dcterms:modified>
</cp:coreProperties>
</file>